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TLM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A31A"/>
              </a:solidFill>
              <a:ln w="6350" cap="flat">
                <a:solidFill>
                  <a:srgbClr val="F1F7E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9D08E"/>
              </a:solidFill>
              <a:ln w="6350" cap="flat">
                <a:solidFill>
                  <a:srgbClr val="F1F7E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Approaching EOL</c:v>
                </c:pt>
                <c:pt idx="1">
                  <c:v>Current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</c:v>
                </c:pt>
                <c:pt idx="1">
                  <c:v>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TLM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A31A"/>
              </a:solidFill>
              <a:ln w="6350" cap="flat">
                <a:solidFill>
                  <a:srgbClr val="F1F7E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9D08E"/>
              </a:solidFill>
              <a:ln w="6350" cap="flat">
                <a:solidFill>
                  <a:srgbClr val="F1F7E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Approaching EOL</c:v>
                </c:pt>
                <c:pt idx="1">
                  <c:v>Current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</c:v>
                </c:pt>
                <c:pt idx="1">
                  <c:v>19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TLM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A31A"/>
              </a:solidFill>
              <a:ln w="6350" cap="flat">
                <a:solidFill>
                  <a:srgbClr val="F1F7E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9D08E"/>
              </a:solidFill>
              <a:ln w="6350" cap="flat">
                <a:solidFill>
                  <a:srgbClr val="F1F7E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Approaching EOL</c:v>
                </c:pt>
                <c:pt idx="1">
                  <c:v>Current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</c:v>
                </c:pt>
                <c:pt idx="1">
                  <c:v>27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TLM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A31A"/>
              </a:solidFill>
              <a:ln w="6350" cap="flat">
                <a:solidFill>
                  <a:srgbClr val="F1F7E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9D08E"/>
              </a:solidFill>
              <a:ln w="6350" cap="flat">
                <a:solidFill>
                  <a:srgbClr val="F1F7E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Approaching EOL</c:v>
                </c:pt>
                <c:pt idx="1">
                  <c:v>Current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0.0001</c:v>
                </c:pt>
                <c:pt idx="1">
                  <c:v>18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TLM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A31A"/>
              </a:solidFill>
              <a:ln w="6350" cap="flat">
                <a:solidFill>
                  <a:srgbClr val="F1F7E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9D08E"/>
              </a:solidFill>
              <a:ln w="6350" cap="flat">
                <a:solidFill>
                  <a:srgbClr val="F1F7E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Approaching EOL</c:v>
                </c:pt>
                <c:pt idx="1">
                  <c:v>Current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</c:v>
                </c:pt>
                <c:pt idx="1">
                  <c:v>25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TLM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A31A"/>
              </a:solidFill>
              <a:ln w="6350" cap="flat">
                <a:solidFill>
                  <a:srgbClr val="DCEDD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9D08E"/>
              </a:solidFill>
              <a:ln w="6350" cap="flat">
                <a:solidFill>
                  <a:srgbClr val="DCEDD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Approaching EOL</c:v>
                </c:pt>
                <c:pt idx="1">
                  <c:v>Current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32</c:v>
                </c:pt>
                <c:pt idx="1">
                  <c:v>96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across a row to compare managers; read down a column for one manager's portfolio. The last column is the whole portfolio. Internal vs external is a new field: add an Audience column to the App Inventory (Internal / External) to populate it. EOL ring shows the share of each portfolio approaching end of life on 1 Dec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10" Type="http://schemas.openxmlformats.org/officeDocument/2006/relationships/chart" Target="/ppt/charts/chart2.xml"/><Relationship Id="rId13" Type="http://schemas.openxmlformats.org/officeDocument/2006/relationships/chart" Target="/ppt/charts/chart3.xml"/><Relationship Id="rId16" Type="http://schemas.openxmlformats.org/officeDocument/2006/relationships/chart" Target="/ppt/charts/chart4.xml"/><Relationship Id="rId19" Type="http://schemas.openxmlformats.org/officeDocument/2006/relationships/chart" Target="/ppt/charts/chart5.xml"/><Relationship Id="rId22" Type="http://schemas.openxmlformats.org/officeDocument/2006/relationships/chart" Target="/ppt/charts/chart6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1" Type="http://schemas.openxmlformats.org/officeDocument/2006/relationships/image" Target="../media/image-1-9.png"/><Relationship Id="rId12" Type="http://schemas.openxmlformats.org/officeDocument/2006/relationships/image" Target="../media/image-1-10.png"/><Relationship Id="rId14" Type="http://schemas.openxmlformats.org/officeDocument/2006/relationships/image" Target="../media/image-1-11.png"/><Relationship Id="rId15" Type="http://schemas.openxmlformats.org/officeDocument/2006/relationships/image" Target="../media/image-1-12.png"/><Relationship Id="rId17" Type="http://schemas.openxmlformats.org/officeDocument/2006/relationships/image" Target="../media/image-1-13.png"/><Relationship Id="rId18" Type="http://schemas.openxmlformats.org/officeDocument/2006/relationships/image" Target="../media/image-1-14.png"/><Relationship Id="rId20" Type="http://schemas.openxmlformats.org/officeDocument/2006/relationships/image" Target="../media/image-1-15.png"/><Relationship Id="rId21" Type="http://schemas.openxmlformats.org/officeDocument/2006/relationships/image" Target="../media/image-1-16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and Saikiran run 57% of the apps and 21 of the 32 EOL apps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portfolio by development manager — audience, app type, ServiceNow stage and technology lifecycle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965960" y="1280160"/>
            <a:ext cx="1521409" cy="5065776"/>
          </a:xfrm>
          <a:prstGeom prst="roundRect">
            <a:avLst>
              <a:gd name="adj" fmla="val 4808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97097" y="1280160"/>
            <a:ext cx="1521409" cy="5065776"/>
          </a:xfrm>
          <a:prstGeom prst="roundRect">
            <a:avLst>
              <a:gd name="adj" fmla="val 4808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28234" y="1280160"/>
            <a:ext cx="1521409" cy="5065776"/>
          </a:xfrm>
          <a:prstGeom prst="roundRect">
            <a:avLst>
              <a:gd name="adj" fmla="val 4808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9372" y="1280160"/>
            <a:ext cx="1521409" cy="5065776"/>
          </a:xfrm>
          <a:prstGeom prst="roundRect">
            <a:avLst>
              <a:gd name="adj" fmla="val 4808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90509" y="1280160"/>
            <a:ext cx="1521409" cy="5065776"/>
          </a:xfrm>
          <a:prstGeom prst="roundRect">
            <a:avLst>
              <a:gd name="adj" fmla="val 4808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21646" y="1280160"/>
            <a:ext cx="1521409" cy="5065776"/>
          </a:xfrm>
          <a:prstGeom prst="roundRect">
            <a:avLst>
              <a:gd name="adj" fmla="val 4808"/>
            </a:avLst>
          </a:prstGeom>
          <a:solidFill>
            <a:srgbClr val="DCEDD3"/>
          </a:solidFill>
          <a:ln w="12700">
            <a:solidFill>
              <a:srgbClr val="DCE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5688" y="2221992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6825" y="2221992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37962" y="2221992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69100" y="2221992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00237" y="2221992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1374" y="2221992"/>
            <a:ext cx="1301953" cy="9144"/>
          </a:xfrm>
          <a:prstGeom prst="rect">
            <a:avLst/>
          </a:prstGeom>
          <a:solidFill>
            <a:srgbClr val="C3DDB6"/>
          </a:solidFill>
          <a:ln w="12700">
            <a:solidFill>
              <a:srgbClr val="C3DD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5688" y="3017520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6825" y="3017520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37962" y="3017520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69100" y="3017520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00237" y="3017520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31374" y="3017520"/>
            <a:ext cx="1301953" cy="9144"/>
          </a:xfrm>
          <a:prstGeom prst="rect">
            <a:avLst/>
          </a:prstGeom>
          <a:solidFill>
            <a:srgbClr val="C3DDB6"/>
          </a:solidFill>
          <a:ln w="12700">
            <a:solidFill>
              <a:srgbClr val="C3DD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75688" y="4782312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6825" y="4782312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37962" y="4782312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69100" y="4782312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00237" y="4782312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31374" y="4782312"/>
            <a:ext cx="1301953" cy="9144"/>
          </a:xfrm>
          <a:prstGeom prst="rect">
            <a:avLst/>
          </a:prstGeom>
          <a:solidFill>
            <a:srgbClr val="C3DDB6"/>
          </a:solidFill>
          <a:ln w="12700">
            <a:solidFill>
              <a:srgbClr val="C3DD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75688" y="5586984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6825" y="5586984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37962" y="5586984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69100" y="5586984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00237" y="5586984"/>
            <a:ext cx="1301953" cy="9144"/>
          </a:xfrm>
          <a:prstGeom prst="rect">
            <a:avLst/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31374" y="5586984"/>
            <a:ext cx="1301953" cy="9144"/>
          </a:xfrm>
          <a:prstGeom prst="rect">
            <a:avLst/>
          </a:prstGeom>
          <a:solidFill>
            <a:srgbClr val="C3DDB6"/>
          </a:solidFill>
          <a:ln w="12700">
            <a:solidFill>
              <a:srgbClr val="C3DD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2304288"/>
            <a:ext cx="329184" cy="329184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386584"/>
            <a:ext cx="164592" cy="164592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960120" y="22768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26700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vs external users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48640" y="3099816"/>
            <a:ext cx="329184" cy="329184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182112"/>
            <a:ext cx="164592" cy="164592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960120" y="307238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type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548640" y="346557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apps by type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548640" y="4864608"/>
            <a:ext cx="329184" cy="329184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946904"/>
            <a:ext cx="164592" cy="164592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960120" y="4837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stage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548640" y="5276088"/>
            <a:ext cx="100584" cy="100584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85800" y="5239512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1234440" y="5276088"/>
            <a:ext cx="100584" cy="100584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1371600" y="5239512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Ready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548640" y="5458968"/>
            <a:ext cx="100584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685800" y="5422392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 / Dev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1234440" y="5458968"/>
            <a:ext cx="100584" cy="100584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1371600" y="5422392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548640" y="5669280"/>
            <a:ext cx="329184" cy="329184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5751576"/>
            <a:ext cx="164592" cy="164592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960120" y="56418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status</a:t>
            </a:r>
            <a:endParaRPr lang="en-US" sz="1200" dirty="0"/>
          </a:p>
        </p:txBody>
      </p:sp>
      <p:sp>
        <p:nvSpPr>
          <p:cNvPr id="56" name="Text 50"/>
          <p:cNvSpPr txBox="1"/>
          <p:nvPr/>
        </p:nvSpPr>
        <p:spPr>
          <a:xfrm>
            <a:off x="548640" y="6035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vs approaching end of life</a:t>
            </a:r>
            <a:endParaRPr lang="en-US" sz="950" dirty="0"/>
          </a:p>
        </p:txBody>
      </p:sp>
      <p:sp>
        <p:nvSpPr>
          <p:cNvPr id="57" name="Text 51"/>
          <p:cNvSpPr txBox="1"/>
          <p:nvPr/>
        </p:nvSpPr>
        <p:spPr>
          <a:xfrm>
            <a:off x="2093976" y="1344168"/>
            <a:ext cx="12653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Velusamy</a:t>
            </a:r>
            <a:endParaRPr lang="en-US" sz="1150" dirty="0"/>
          </a:p>
        </p:txBody>
      </p:sp>
      <p:sp>
        <p:nvSpPr>
          <p:cNvPr id="58" name="Text 52"/>
          <p:cNvSpPr txBox="1"/>
          <p:nvPr/>
        </p:nvSpPr>
        <p:spPr>
          <a:xfrm>
            <a:off x="2093976" y="1709928"/>
            <a:ext cx="12653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apps</a:t>
            </a:r>
            <a:endParaRPr lang="en-US" sz="240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3976" y="2313432"/>
            <a:ext cx="182880" cy="182880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2350008" y="2258568"/>
            <a:ext cx="1009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internal</a:t>
            </a:r>
            <a:endParaRPr lang="en-US" sz="1400" dirty="0"/>
          </a:p>
        </p:txBody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3976" y="2587752"/>
            <a:ext cx="182880" cy="182880"/>
          </a:xfrm>
          <a:prstGeom prst="rect">
            <a:avLst/>
          </a:prstGeom>
        </p:spPr>
      </p:pic>
      <p:sp>
        <p:nvSpPr>
          <p:cNvPr id="62" name="Text 54"/>
          <p:cNvSpPr txBox="1"/>
          <p:nvPr/>
        </p:nvSpPr>
        <p:spPr>
          <a:xfrm>
            <a:off x="2350008" y="2532888"/>
            <a:ext cx="1009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external</a:t>
            </a:r>
            <a:endParaRPr lang="en-US" sz="1400" dirty="0"/>
          </a:p>
        </p:txBody>
      </p:sp>
      <p:sp>
        <p:nvSpPr>
          <p:cNvPr id="63" name="Shape 55"/>
          <p:cNvSpPr/>
          <p:nvPr/>
        </p:nvSpPr>
        <p:spPr>
          <a:xfrm>
            <a:off x="2093976" y="2898648"/>
            <a:ext cx="527241" cy="73152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2621217" y="2898648"/>
            <a:ext cx="738137" cy="73152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2093976" y="30998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66" name="Shape 58"/>
          <p:cNvSpPr/>
          <p:nvPr/>
        </p:nvSpPr>
        <p:spPr>
          <a:xfrm>
            <a:off x="2752344" y="3154680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2752344" y="3154680"/>
            <a:ext cx="27432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68" name="Text 60"/>
          <p:cNvSpPr txBox="1"/>
          <p:nvPr/>
        </p:nvSpPr>
        <p:spPr>
          <a:xfrm>
            <a:off x="3121609" y="30998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1"/>
          <p:cNvSpPr txBox="1"/>
          <p:nvPr/>
        </p:nvSpPr>
        <p:spPr>
          <a:xfrm>
            <a:off x="2093976" y="33375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70" name="Shape 62"/>
          <p:cNvSpPr/>
          <p:nvPr/>
        </p:nvSpPr>
        <p:spPr>
          <a:xfrm>
            <a:off x="2752344" y="3392424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>
            <a:off x="2752344" y="3392424"/>
            <a:ext cx="27432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72" name="Text 64"/>
          <p:cNvSpPr txBox="1"/>
          <p:nvPr/>
        </p:nvSpPr>
        <p:spPr>
          <a:xfrm>
            <a:off x="3121609" y="33375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3" name="Text 65"/>
          <p:cNvSpPr txBox="1"/>
          <p:nvPr/>
        </p:nvSpPr>
        <p:spPr>
          <a:xfrm>
            <a:off x="2093976" y="35753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74" name="Shape 66"/>
          <p:cNvSpPr/>
          <p:nvPr/>
        </p:nvSpPr>
        <p:spPr>
          <a:xfrm>
            <a:off x="2752344" y="3630168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67"/>
          <p:cNvSpPr txBox="1"/>
          <p:nvPr/>
        </p:nvSpPr>
        <p:spPr>
          <a:xfrm>
            <a:off x="3121609" y="357530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6" name="Text 68"/>
          <p:cNvSpPr txBox="1"/>
          <p:nvPr/>
        </p:nvSpPr>
        <p:spPr>
          <a:xfrm>
            <a:off x="2093976" y="38130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Angular</a:t>
            </a:r>
            <a:endParaRPr lang="en-US" sz="900" dirty="0"/>
          </a:p>
        </p:txBody>
      </p:sp>
      <p:sp>
        <p:nvSpPr>
          <p:cNvPr id="77" name="Shape 69"/>
          <p:cNvSpPr/>
          <p:nvPr/>
        </p:nvSpPr>
        <p:spPr>
          <a:xfrm>
            <a:off x="2752344" y="3867912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2752344" y="3867912"/>
            <a:ext cx="88717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79" name="Text 71"/>
          <p:cNvSpPr txBox="1"/>
          <p:nvPr/>
        </p:nvSpPr>
        <p:spPr>
          <a:xfrm>
            <a:off x="3121609" y="38130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80" name="Text 72"/>
          <p:cNvSpPr txBox="1"/>
          <p:nvPr/>
        </p:nvSpPr>
        <p:spPr>
          <a:xfrm>
            <a:off x="2093976" y="40507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81" name="Shape 73"/>
          <p:cNvSpPr/>
          <p:nvPr/>
        </p:nvSpPr>
        <p:spPr>
          <a:xfrm>
            <a:off x="2752344" y="4105656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74"/>
          <p:cNvSpPr/>
          <p:nvPr/>
        </p:nvSpPr>
        <p:spPr>
          <a:xfrm>
            <a:off x="2752344" y="4105656"/>
            <a:ext cx="66538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83" name="Text 75"/>
          <p:cNvSpPr txBox="1"/>
          <p:nvPr/>
        </p:nvSpPr>
        <p:spPr>
          <a:xfrm>
            <a:off x="3121609" y="405079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4" name="Text 76"/>
          <p:cNvSpPr txBox="1"/>
          <p:nvPr/>
        </p:nvSpPr>
        <p:spPr>
          <a:xfrm>
            <a:off x="2093976" y="4288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900" dirty="0"/>
          </a:p>
        </p:txBody>
      </p:sp>
      <p:sp>
        <p:nvSpPr>
          <p:cNvPr id="85" name="Shape 77"/>
          <p:cNvSpPr/>
          <p:nvPr/>
        </p:nvSpPr>
        <p:spPr>
          <a:xfrm>
            <a:off x="2752344" y="4343400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78"/>
          <p:cNvSpPr/>
          <p:nvPr/>
        </p:nvSpPr>
        <p:spPr>
          <a:xfrm>
            <a:off x="2752344" y="4343400"/>
            <a:ext cx="27432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87" name="Text 79"/>
          <p:cNvSpPr txBox="1"/>
          <p:nvPr/>
        </p:nvSpPr>
        <p:spPr>
          <a:xfrm>
            <a:off x="3121609" y="428853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8" name="Text 80"/>
          <p:cNvSpPr txBox="1"/>
          <p:nvPr/>
        </p:nvSpPr>
        <p:spPr>
          <a:xfrm>
            <a:off x="2093976" y="4526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</a:t>
            </a:r>
            <a:endParaRPr lang="en-US" sz="900" dirty="0"/>
          </a:p>
        </p:txBody>
      </p:sp>
      <p:sp>
        <p:nvSpPr>
          <p:cNvPr id="89" name="Shape 81"/>
          <p:cNvSpPr/>
          <p:nvPr/>
        </p:nvSpPr>
        <p:spPr>
          <a:xfrm>
            <a:off x="2752344" y="4581144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2"/>
          <p:cNvSpPr/>
          <p:nvPr/>
        </p:nvSpPr>
        <p:spPr>
          <a:xfrm>
            <a:off x="2752344" y="4581144"/>
            <a:ext cx="44359" cy="100584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1" name="Text 83"/>
          <p:cNvSpPr txBox="1"/>
          <p:nvPr/>
        </p:nvSpPr>
        <p:spPr>
          <a:xfrm>
            <a:off x="3121609" y="452628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92" name="Shape 84"/>
          <p:cNvSpPr/>
          <p:nvPr/>
        </p:nvSpPr>
        <p:spPr>
          <a:xfrm>
            <a:off x="2093976" y="4864608"/>
            <a:ext cx="632689" cy="201168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93" name="Shape 85"/>
          <p:cNvSpPr/>
          <p:nvPr/>
        </p:nvSpPr>
        <p:spPr>
          <a:xfrm>
            <a:off x="2726665" y="4864608"/>
            <a:ext cx="210896" cy="201168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94" name="Shape 86"/>
          <p:cNvSpPr/>
          <p:nvPr/>
        </p:nvSpPr>
        <p:spPr>
          <a:xfrm>
            <a:off x="2937561" y="4864608"/>
            <a:ext cx="421792" cy="201168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95" name="Shape 87"/>
          <p:cNvSpPr/>
          <p:nvPr/>
        </p:nvSpPr>
        <p:spPr>
          <a:xfrm>
            <a:off x="2093976" y="5212080"/>
            <a:ext cx="91440" cy="91440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96" name="Text 88"/>
          <p:cNvSpPr txBox="1"/>
          <p:nvPr/>
        </p:nvSpPr>
        <p:spPr>
          <a:xfrm>
            <a:off x="2212848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97" name="Shape 89"/>
          <p:cNvSpPr/>
          <p:nvPr/>
        </p:nvSpPr>
        <p:spPr>
          <a:xfrm>
            <a:off x="2410320" y="5212080"/>
            <a:ext cx="91440" cy="91440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98" name="Text 90"/>
          <p:cNvSpPr txBox="1"/>
          <p:nvPr/>
        </p:nvSpPr>
        <p:spPr>
          <a:xfrm>
            <a:off x="2529192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9" name="Shape 91"/>
          <p:cNvSpPr/>
          <p:nvPr/>
        </p:nvSpPr>
        <p:spPr>
          <a:xfrm>
            <a:off x="2726665" y="5212080"/>
            <a:ext cx="91440" cy="91440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00" name="Text 92"/>
          <p:cNvSpPr txBox="1"/>
          <p:nvPr/>
        </p:nvSpPr>
        <p:spPr>
          <a:xfrm>
            <a:off x="2845537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1" name="Shape 93"/>
          <p:cNvSpPr/>
          <p:nvPr/>
        </p:nvSpPr>
        <p:spPr>
          <a:xfrm>
            <a:off x="3043009" y="5212080"/>
            <a:ext cx="91440" cy="91440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102" name="Text 94"/>
          <p:cNvSpPr txBox="1"/>
          <p:nvPr/>
        </p:nvSpPr>
        <p:spPr>
          <a:xfrm>
            <a:off x="3161881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graphicFrame>
        <p:nvGraphicFramePr>
          <p:cNvPr id="103" name="Chart 0" descr=""/>
          <p:cNvGraphicFramePr/>
          <p:nvPr/>
        </p:nvGraphicFramePr>
        <p:xfrm>
          <a:off x="2057400" y="5641848"/>
          <a:ext cx="658368" cy="658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04" name="Text 95"/>
          <p:cNvSpPr txBox="1"/>
          <p:nvPr/>
        </p:nvSpPr>
        <p:spPr>
          <a:xfrm>
            <a:off x="2788920" y="5660136"/>
            <a:ext cx="60700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EOL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</a:t>
            </a:r>
            <a:endParaRPr lang="en-US" sz="1400" dirty="0"/>
          </a:p>
        </p:txBody>
      </p:sp>
      <p:sp>
        <p:nvSpPr>
          <p:cNvPr id="105" name="Text 96"/>
          <p:cNvSpPr txBox="1"/>
          <p:nvPr/>
        </p:nvSpPr>
        <p:spPr>
          <a:xfrm>
            <a:off x="3725113" y="1344168"/>
            <a:ext cx="12653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Pratap Anchuri</a:t>
            </a:r>
            <a:endParaRPr lang="en-US" sz="1150" dirty="0"/>
          </a:p>
        </p:txBody>
      </p:sp>
      <p:sp>
        <p:nvSpPr>
          <p:cNvPr id="106" name="Text 97"/>
          <p:cNvSpPr txBox="1"/>
          <p:nvPr/>
        </p:nvSpPr>
        <p:spPr>
          <a:xfrm>
            <a:off x="3725113" y="1709928"/>
            <a:ext cx="12653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apps</a:t>
            </a:r>
            <a:endParaRPr lang="en-US" sz="2400" dirty="0"/>
          </a:p>
        </p:txBody>
      </p:sp>
      <p:pic>
        <p:nvPicPr>
          <p:cNvPr id="10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5113" y="2313432"/>
            <a:ext cx="182880" cy="182880"/>
          </a:xfrm>
          <a:prstGeom prst="rect">
            <a:avLst/>
          </a:prstGeom>
        </p:spPr>
      </p:pic>
      <p:sp>
        <p:nvSpPr>
          <p:cNvPr id="108" name="Text 98"/>
          <p:cNvSpPr txBox="1"/>
          <p:nvPr/>
        </p:nvSpPr>
        <p:spPr>
          <a:xfrm>
            <a:off x="3981145" y="2258568"/>
            <a:ext cx="1009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internal</a:t>
            </a:r>
            <a:endParaRPr lang="en-US" sz="1400" dirty="0"/>
          </a:p>
        </p:txBody>
      </p:sp>
      <p:pic>
        <p:nvPicPr>
          <p:cNvPr id="10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5113" y="2587752"/>
            <a:ext cx="182880" cy="182880"/>
          </a:xfrm>
          <a:prstGeom prst="rect">
            <a:avLst/>
          </a:prstGeom>
        </p:spPr>
      </p:pic>
      <p:sp>
        <p:nvSpPr>
          <p:cNvPr id="110" name="Text 99"/>
          <p:cNvSpPr txBox="1"/>
          <p:nvPr/>
        </p:nvSpPr>
        <p:spPr>
          <a:xfrm>
            <a:off x="3981145" y="2532888"/>
            <a:ext cx="1009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external</a:t>
            </a:r>
            <a:endParaRPr lang="en-US" sz="1400" dirty="0"/>
          </a:p>
        </p:txBody>
      </p:sp>
      <p:sp>
        <p:nvSpPr>
          <p:cNvPr id="111" name="Shape 100"/>
          <p:cNvSpPr/>
          <p:nvPr/>
        </p:nvSpPr>
        <p:spPr>
          <a:xfrm>
            <a:off x="3725113" y="2898648"/>
            <a:ext cx="961687" cy="73152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112" name="Shape 101"/>
          <p:cNvSpPr/>
          <p:nvPr/>
        </p:nvSpPr>
        <p:spPr>
          <a:xfrm>
            <a:off x="4686800" y="2898648"/>
            <a:ext cx="303691" cy="73152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113" name="Text 102"/>
          <p:cNvSpPr txBox="1"/>
          <p:nvPr/>
        </p:nvSpPr>
        <p:spPr>
          <a:xfrm>
            <a:off x="3725113" y="30998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114" name="Shape 103"/>
          <p:cNvSpPr/>
          <p:nvPr/>
        </p:nvSpPr>
        <p:spPr>
          <a:xfrm>
            <a:off x="4383481" y="3154680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04"/>
          <p:cNvSpPr/>
          <p:nvPr/>
        </p:nvSpPr>
        <p:spPr>
          <a:xfrm>
            <a:off x="4383481" y="3154680"/>
            <a:ext cx="88717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16" name="Text 105"/>
          <p:cNvSpPr txBox="1"/>
          <p:nvPr/>
        </p:nvSpPr>
        <p:spPr>
          <a:xfrm>
            <a:off x="4752746" y="30998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17" name="Text 106"/>
          <p:cNvSpPr txBox="1"/>
          <p:nvPr/>
        </p:nvSpPr>
        <p:spPr>
          <a:xfrm>
            <a:off x="3725113" y="33375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118" name="Shape 107"/>
          <p:cNvSpPr/>
          <p:nvPr/>
        </p:nvSpPr>
        <p:spPr>
          <a:xfrm>
            <a:off x="4383481" y="3392424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108"/>
          <p:cNvSpPr/>
          <p:nvPr/>
        </p:nvSpPr>
        <p:spPr>
          <a:xfrm>
            <a:off x="4383481" y="3392424"/>
            <a:ext cx="88717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20" name="Text 109"/>
          <p:cNvSpPr txBox="1"/>
          <p:nvPr/>
        </p:nvSpPr>
        <p:spPr>
          <a:xfrm>
            <a:off x="4752746" y="33375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21" name="Text 110"/>
          <p:cNvSpPr txBox="1"/>
          <p:nvPr/>
        </p:nvSpPr>
        <p:spPr>
          <a:xfrm>
            <a:off x="3725113" y="35753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122" name="Shape 111"/>
          <p:cNvSpPr/>
          <p:nvPr/>
        </p:nvSpPr>
        <p:spPr>
          <a:xfrm>
            <a:off x="4383481" y="3630168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Shape 112"/>
          <p:cNvSpPr/>
          <p:nvPr/>
        </p:nvSpPr>
        <p:spPr>
          <a:xfrm>
            <a:off x="4383481" y="3630168"/>
            <a:ext cx="177434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24" name="Text 113"/>
          <p:cNvSpPr txBox="1"/>
          <p:nvPr/>
        </p:nvSpPr>
        <p:spPr>
          <a:xfrm>
            <a:off x="4752746" y="357530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25" name="Text 114"/>
          <p:cNvSpPr txBox="1"/>
          <p:nvPr/>
        </p:nvSpPr>
        <p:spPr>
          <a:xfrm>
            <a:off x="3725113" y="38130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Angular</a:t>
            </a:r>
            <a:endParaRPr lang="en-US" sz="900" dirty="0"/>
          </a:p>
        </p:txBody>
      </p:sp>
      <p:sp>
        <p:nvSpPr>
          <p:cNvPr id="126" name="Shape 115"/>
          <p:cNvSpPr/>
          <p:nvPr/>
        </p:nvSpPr>
        <p:spPr>
          <a:xfrm>
            <a:off x="4383481" y="3867912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7" name="Shape 116"/>
          <p:cNvSpPr/>
          <p:nvPr/>
        </p:nvSpPr>
        <p:spPr>
          <a:xfrm>
            <a:off x="4383481" y="3867912"/>
            <a:ext cx="66538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28" name="Text 117"/>
          <p:cNvSpPr txBox="1"/>
          <p:nvPr/>
        </p:nvSpPr>
        <p:spPr>
          <a:xfrm>
            <a:off x="4752746" y="38130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29" name="Text 118"/>
          <p:cNvSpPr txBox="1"/>
          <p:nvPr/>
        </p:nvSpPr>
        <p:spPr>
          <a:xfrm>
            <a:off x="3725113" y="40507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130" name="Shape 119"/>
          <p:cNvSpPr/>
          <p:nvPr/>
        </p:nvSpPr>
        <p:spPr>
          <a:xfrm>
            <a:off x="4383481" y="4105656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1" name="Text 120"/>
          <p:cNvSpPr txBox="1"/>
          <p:nvPr/>
        </p:nvSpPr>
        <p:spPr>
          <a:xfrm>
            <a:off x="4752746" y="405079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32" name="Text 121"/>
          <p:cNvSpPr txBox="1"/>
          <p:nvPr/>
        </p:nvSpPr>
        <p:spPr>
          <a:xfrm>
            <a:off x="3725113" y="4288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900" dirty="0"/>
          </a:p>
        </p:txBody>
      </p:sp>
      <p:sp>
        <p:nvSpPr>
          <p:cNvPr id="133" name="Shape 122"/>
          <p:cNvSpPr/>
          <p:nvPr/>
        </p:nvSpPr>
        <p:spPr>
          <a:xfrm>
            <a:off x="4383481" y="4343400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4" name="Text 123"/>
          <p:cNvSpPr txBox="1"/>
          <p:nvPr/>
        </p:nvSpPr>
        <p:spPr>
          <a:xfrm>
            <a:off x="4752746" y="428853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35" name="Text 124"/>
          <p:cNvSpPr txBox="1"/>
          <p:nvPr/>
        </p:nvSpPr>
        <p:spPr>
          <a:xfrm>
            <a:off x="3725113" y="4526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</a:t>
            </a:r>
            <a:endParaRPr lang="en-US" sz="900" dirty="0"/>
          </a:p>
        </p:txBody>
      </p:sp>
      <p:sp>
        <p:nvSpPr>
          <p:cNvPr id="136" name="Shape 125"/>
          <p:cNvSpPr/>
          <p:nvPr/>
        </p:nvSpPr>
        <p:spPr>
          <a:xfrm>
            <a:off x="4383481" y="4581144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7" name="Shape 126"/>
          <p:cNvSpPr/>
          <p:nvPr/>
        </p:nvSpPr>
        <p:spPr>
          <a:xfrm>
            <a:off x="4383481" y="4581144"/>
            <a:ext cx="133076" cy="100584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38" name="Text 127"/>
          <p:cNvSpPr txBox="1"/>
          <p:nvPr/>
        </p:nvSpPr>
        <p:spPr>
          <a:xfrm>
            <a:off x="4752746" y="452628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39" name="Shape 128"/>
          <p:cNvSpPr/>
          <p:nvPr/>
        </p:nvSpPr>
        <p:spPr>
          <a:xfrm>
            <a:off x="3725113" y="4864608"/>
            <a:ext cx="607381" cy="201168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140" name="Shape 129"/>
          <p:cNvSpPr/>
          <p:nvPr/>
        </p:nvSpPr>
        <p:spPr>
          <a:xfrm>
            <a:off x="4332494" y="4864608"/>
            <a:ext cx="151845" cy="201168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41" name="Shape 130"/>
          <p:cNvSpPr/>
          <p:nvPr/>
        </p:nvSpPr>
        <p:spPr>
          <a:xfrm>
            <a:off x="4484340" y="4864608"/>
            <a:ext cx="506151" cy="201168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142" name="Shape 131"/>
          <p:cNvSpPr/>
          <p:nvPr/>
        </p:nvSpPr>
        <p:spPr>
          <a:xfrm>
            <a:off x="3725113" y="5212080"/>
            <a:ext cx="91440" cy="91440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143" name="Text 132"/>
          <p:cNvSpPr txBox="1"/>
          <p:nvPr/>
        </p:nvSpPr>
        <p:spPr>
          <a:xfrm>
            <a:off x="3843985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44" name="Shape 133"/>
          <p:cNvSpPr/>
          <p:nvPr/>
        </p:nvSpPr>
        <p:spPr>
          <a:xfrm>
            <a:off x="4041458" y="5212080"/>
            <a:ext cx="91440" cy="91440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145" name="Text 134"/>
          <p:cNvSpPr txBox="1"/>
          <p:nvPr/>
        </p:nvSpPr>
        <p:spPr>
          <a:xfrm>
            <a:off x="4160330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6" name="Shape 135"/>
          <p:cNvSpPr/>
          <p:nvPr/>
        </p:nvSpPr>
        <p:spPr>
          <a:xfrm>
            <a:off x="4357802" y="5212080"/>
            <a:ext cx="91440" cy="91440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47" name="Text 136"/>
          <p:cNvSpPr txBox="1"/>
          <p:nvPr/>
        </p:nvSpPr>
        <p:spPr>
          <a:xfrm>
            <a:off x="4476674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8" name="Shape 137"/>
          <p:cNvSpPr/>
          <p:nvPr/>
        </p:nvSpPr>
        <p:spPr>
          <a:xfrm>
            <a:off x="4674146" y="5212080"/>
            <a:ext cx="91440" cy="91440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149" name="Text 138"/>
          <p:cNvSpPr txBox="1"/>
          <p:nvPr/>
        </p:nvSpPr>
        <p:spPr>
          <a:xfrm>
            <a:off x="4793018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graphicFrame>
        <p:nvGraphicFramePr>
          <p:cNvPr id="150" name="Chart 1" descr=""/>
          <p:cNvGraphicFramePr/>
          <p:nvPr/>
        </p:nvGraphicFramePr>
        <p:xfrm>
          <a:off x="3688537" y="5641848"/>
          <a:ext cx="658368" cy="658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151" name="Text 139"/>
          <p:cNvSpPr txBox="1"/>
          <p:nvPr/>
        </p:nvSpPr>
        <p:spPr>
          <a:xfrm>
            <a:off x="4420057" y="5660136"/>
            <a:ext cx="60700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EOL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</a:t>
            </a:r>
            <a:endParaRPr lang="en-US" sz="1400" dirty="0"/>
          </a:p>
        </p:txBody>
      </p:sp>
      <p:sp>
        <p:nvSpPr>
          <p:cNvPr id="152" name="Text 140"/>
          <p:cNvSpPr txBox="1"/>
          <p:nvPr/>
        </p:nvSpPr>
        <p:spPr>
          <a:xfrm>
            <a:off x="5356250" y="1344168"/>
            <a:ext cx="12653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Siddiqi</a:t>
            </a:r>
            <a:endParaRPr lang="en-US" sz="1150" dirty="0"/>
          </a:p>
        </p:txBody>
      </p:sp>
      <p:sp>
        <p:nvSpPr>
          <p:cNvPr id="153" name="Text 141"/>
          <p:cNvSpPr txBox="1"/>
          <p:nvPr/>
        </p:nvSpPr>
        <p:spPr>
          <a:xfrm>
            <a:off x="5356250" y="1709928"/>
            <a:ext cx="12653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apps</a:t>
            </a:r>
            <a:endParaRPr lang="en-US" sz="2400" dirty="0"/>
          </a:p>
        </p:txBody>
      </p:sp>
      <p:pic>
        <p:nvPicPr>
          <p:cNvPr id="154" name="Image 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6250" y="2313432"/>
            <a:ext cx="182880" cy="182880"/>
          </a:xfrm>
          <a:prstGeom prst="rect">
            <a:avLst/>
          </a:prstGeom>
        </p:spPr>
      </p:pic>
      <p:sp>
        <p:nvSpPr>
          <p:cNvPr id="155" name="Text 142"/>
          <p:cNvSpPr txBox="1"/>
          <p:nvPr/>
        </p:nvSpPr>
        <p:spPr>
          <a:xfrm>
            <a:off x="5612282" y="2258568"/>
            <a:ext cx="1009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internal</a:t>
            </a:r>
            <a:endParaRPr lang="en-US" sz="1400" dirty="0"/>
          </a:p>
        </p:txBody>
      </p:sp>
      <p:pic>
        <p:nvPicPr>
          <p:cNvPr id="156" name="Image 9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6250" y="2587752"/>
            <a:ext cx="182880" cy="182880"/>
          </a:xfrm>
          <a:prstGeom prst="rect">
            <a:avLst/>
          </a:prstGeom>
        </p:spPr>
      </p:pic>
      <p:sp>
        <p:nvSpPr>
          <p:cNvPr id="157" name="Text 143"/>
          <p:cNvSpPr txBox="1"/>
          <p:nvPr/>
        </p:nvSpPr>
        <p:spPr>
          <a:xfrm>
            <a:off x="5612282" y="2532888"/>
            <a:ext cx="1009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external</a:t>
            </a:r>
            <a:endParaRPr lang="en-US" sz="1400" dirty="0"/>
          </a:p>
        </p:txBody>
      </p:sp>
      <p:sp>
        <p:nvSpPr>
          <p:cNvPr id="158" name="Shape 144"/>
          <p:cNvSpPr/>
          <p:nvPr/>
        </p:nvSpPr>
        <p:spPr>
          <a:xfrm>
            <a:off x="5356250" y="2898648"/>
            <a:ext cx="1054481" cy="73152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159" name="Shape 145"/>
          <p:cNvSpPr/>
          <p:nvPr/>
        </p:nvSpPr>
        <p:spPr>
          <a:xfrm>
            <a:off x="6410731" y="2898648"/>
            <a:ext cx="210896" cy="73152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160" name="Text 146"/>
          <p:cNvSpPr txBox="1"/>
          <p:nvPr/>
        </p:nvSpPr>
        <p:spPr>
          <a:xfrm>
            <a:off x="5356250" y="30998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161" name="Shape 147"/>
          <p:cNvSpPr/>
          <p:nvPr/>
        </p:nvSpPr>
        <p:spPr>
          <a:xfrm>
            <a:off x="6014618" y="3154680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2" name="Shape 148"/>
          <p:cNvSpPr/>
          <p:nvPr/>
        </p:nvSpPr>
        <p:spPr>
          <a:xfrm>
            <a:off x="6014618" y="3154680"/>
            <a:ext cx="177434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63" name="Text 149"/>
          <p:cNvSpPr txBox="1"/>
          <p:nvPr/>
        </p:nvSpPr>
        <p:spPr>
          <a:xfrm>
            <a:off x="6383884" y="30998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64" name="Text 150"/>
          <p:cNvSpPr txBox="1"/>
          <p:nvPr/>
        </p:nvSpPr>
        <p:spPr>
          <a:xfrm>
            <a:off x="5356250" y="33375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165" name="Shape 151"/>
          <p:cNvSpPr/>
          <p:nvPr/>
        </p:nvSpPr>
        <p:spPr>
          <a:xfrm>
            <a:off x="6014618" y="3392424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6" name="Shape 152"/>
          <p:cNvSpPr/>
          <p:nvPr/>
        </p:nvSpPr>
        <p:spPr>
          <a:xfrm>
            <a:off x="6014618" y="3392424"/>
            <a:ext cx="88717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67" name="Text 153"/>
          <p:cNvSpPr txBox="1"/>
          <p:nvPr/>
        </p:nvSpPr>
        <p:spPr>
          <a:xfrm>
            <a:off x="6383884" y="33375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68" name="Text 154"/>
          <p:cNvSpPr txBox="1"/>
          <p:nvPr/>
        </p:nvSpPr>
        <p:spPr>
          <a:xfrm>
            <a:off x="5356250" y="35753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169" name="Shape 155"/>
          <p:cNvSpPr/>
          <p:nvPr/>
        </p:nvSpPr>
        <p:spPr>
          <a:xfrm>
            <a:off x="6014618" y="3630168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0" name="Shape 156"/>
          <p:cNvSpPr/>
          <p:nvPr/>
        </p:nvSpPr>
        <p:spPr>
          <a:xfrm>
            <a:off x="6014618" y="3630168"/>
            <a:ext cx="221793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71" name="Text 157"/>
          <p:cNvSpPr txBox="1"/>
          <p:nvPr/>
        </p:nvSpPr>
        <p:spPr>
          <a:xfrm>
            <a:off x="6383884" y="357530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72" name="Text 158"/>
          <p:cNvSpPr txBox="1"/>
          <p:nvPr/>
        </p:nvSpPr>
        <p:spPr>
          <a:xfrm>
            <a:off x="5356250" y="38130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Angular</a:t>
            </a:r>
            <a:endParaRPr lang="en-US" sz="900" dirty="0"/>
          </a:p>
        </p:txBody>
      </p:sp>
      <p:sp>
        <p:nvSpPr>
          <p:cNvPr id="173" name="Shape 159"/>
          <p:cNvSpPr/>
          <p:nvPr/>
        </p:nvSpPr>
        <p:spPr>
          <a:xfrm>
            <a:off x="6014618" y="3867912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4" name="Text 160"/>
          <p:cNvSpPr txBox="1"/>
          <p:nvPr/>
        </p:nvSpPr>
        <p:spPr>
          <a:xfrm>
            <a:off x="6383884" y="38130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75" name="Text 161"/>
          <p:cNvSpPr txBox="1"/>
          <p:nvPr/>
        </p:nvSpPr>
        <p:spPr>
          <a:xfrm>
            <a:off x="5356250" y="40507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176" name="Shape 162"/>
          <p:cNvSpPr/>
          <p:nvPr/>
        </p:nvSpPr>
        <p:spPr>
          <a:xfrm>
            <a:off x="6014618" y="4105656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7" name="Shape 163"/>
          <p:cNvSpPr/>
          <p:nvPr/>
        </p:nvSpPr>
        <p:spPr>
          <a:xfrm>
            <a:off x="6014618" y="4105656"/>
            <a:ext cx="27432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78" name="Text 164"/>
          <p:cNvSpPr txBox="1"/>
          <p:nvPr/>
        </p:nvSpPr>
        <p:spPr>
          <a:xfrm>
            <a:off x="6383884" y="405079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79" name="Text 165"/>
          <p:cNvSpPr txBox="1"/>
          <p:nvPr/>
        </p:nvSpPr>
        <p:spPr>
          <a:xfrm>
            <a:off x="5356250" y="4288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900" dirty="0"/>
          </a:p>
        </p:txBody>
      </p:sp>
      <p:sp>
        <p:nvSpPr>
          <p:cNvPr id="180" name="Shape 166"/>
          <p:cNvSpPr/>
          <p:nvPr/>
        </p:nvSpPr>
        <p:spPr>
          <a:xfrm>
            <a:off x="6014618" y="4343400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1" name="Text 167"/>
          <p:cNvSpPr txBox="1"/>
          <p:nvPr/>
        </p:nvSpPr>
        <p:spPr>
          <a:xfrm>
            <a:off x="6383884" y="428853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82" name="Text 168"/>
          <p:cNvSpPr txBox="1"/>
          <p:nvPr/>
        </p:nvSpPr>
        <p:spPr>
          <a:xfrm>
            <a:off x="5356250" y="4526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</a:t>
            </a:r>
            <a:endParaRPr lang="en-US" sz="900" dirty="0"/>
          </a:p>
        </p:txBody>
      </p:sp>
      <p:sp>
        <p:nvSpPr>
          <p:cNvPr id="183" name="Shape 169"/>
          <p:cNvSpPr/>
          <p:nvPr/>
        </p:nvSpPr>
        <p:spPr>
          <a:xfrm>
            <a:off x="6014618" y="4581144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4" name="Shape 170"/>
          <p:cNvSpPr/>
          <p:nvPr/>
        </p:nvSpPr>
        <p:spPr>
          <a:xfrm>
            <a:off x="6014618" y="4581144"/>
            <a:ext cx="288331" cy="100584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85" name="Text 171"/>
          <p:cNvSpPr txBox="1"/>
          <p:nvPr/>
        </p:nvSpPr>
        <p:spPr>
          <a:xfrm>
            <a:off x="6383884" y="452628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86" name="Shape 172"/>
          <p:cNvSpPr/>
          <p:nvPr/>
        </p:nvSpPr>
        <p:spPr>
          <a:xfrm>
            <a:off x="5356250" y="4864608"/>
            <a:ext cx="562390" cy="201168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187" name="Shape 173"/>
          <p:cNvSpPr/>
          <p:nvPr/>
        </p:nvSpPr>
        <p:spPr>
          <a:xfrm>
            <a:off x="5918640" y="4864608"/>
            <a:ext cx="35149" cy="201168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188" name="Shape 174"/>
          <p:cNvSpPr/>
          <p:nvPr/>
        </p:nvSpPr>
        <p:spPr>
          <a:xfrm>
            <a:off x="5953790" y="4864608"/>
            <a:ext cx="316344" cy="201168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89" name="Shape 175"/>
          <p:cNvSpPr/>
          <p:nvPr/>
        </p:nvSpPr>
        <p:spPr>
          <a:xfrm>
            <a:off x="6270134" y="4864608"/>
            <a:ext cx="351494" cy="201168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190" name="Shape 176"/>
          <p:cNvSpPr/>
          <p:nvPr/>
        </p:nvSpPr>
        <p:spPr>
          <a:xfrm>
            <a:off x="5356250" y="5212080"/>
            <a:ext cx="91440" cy="91440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191" name="Text 177"/>
          <p:cNvSpPr txBox="1"/>
          <p:nvPr/>
        </p:nvSpPr>
        <p:spPr>
          <a:xfrm>
            <a:off x="5475122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192" name="Shape 178"/>
          <p:cNvSpPr/>
          <p:nvPr/>
        </p:nvSpPr>
        <p:spPr>
          <a:xfrm>
            <a:off x="5672595" y="5212080"/>
            <a:ext cx="91440" cy="91440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193" name="Text 179"/>
          <p:cNvSpPr txBox="1"/>
          <p:nvPr/>
        </p:nvSpPr>
        <p:spPr>
          <a:xfrm>
            <a:off x="5791467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4" name="Shape 180"/>
          <p:cNvSpPr/>
          <p:nvPr/>
        </p:nvSpPr>
        <p:spPr>
          <a:xfrm>
            <a:off x="5988939" y="5212080"/>
            <a:ext cx="91440" cy="91440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95" name="Text 181"/>
          <p:cNvSpPr txBox="1"/>
          <p:nvPr/>
        </p:nvSpPr>
        <p:spPr>
          <a:xfrm>
            <a:off x="6107811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96" name="Shape 182"/>
          <p:cNvSpPr/>
          <p:nvPr/>
        </p:nvSpPr>
        <p:spPr>
          <a:xfrm>
            <a:off x="6305283" y="5212080"/>
            <a:ext cx="91440" cy="91440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197" name="Text 183"/>
          <p:cNvSpPr txBox="1"/>
          <p:nvPr/>
        </p:nvSpPr>
        <p:spPr>
          <a:xfrm>
            <a:off x="6424155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graphicFrame>
        <p:nvGraphicFramePr>
          <p:cNvPr id="198" name="Chart 2" descr=""/>
          <p:cNvGraphicFramePr/>
          <p:nvPr/>
        </p:nvGraphicFramePr>
        <p:xfrm>
          <a:off x="5319674" y="5641848"/>
          <a:ext cx="658368" cy="658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199" name="Text 184"/>
          <p:cNvSpPr txBox="1"/>
          <p:nvPr/>
        </p:nvSpPr>
        <p:spPr>
          <a:xfrm>
            <a:off x="6051194" y="5660136"/>
            <a:ext cx="60700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EOL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</a:t>
            </a:r>
            <a:endParaRPr lang="en-US" sz="1400" dirty="0"/>
          </a:p>
        </p:txBody>
      </p:sp>
      <p:sp>
        <p:nvSpPr>
          <p:cNvPr id="200" name="Text 185"/>
          <p:cNvSpPr txBox="1"/>
          <p:nvPr/>
        </p:nvSpPr>
        <p:spPr>
          <a:xfrm>
            <a:off x="6987388" y="1344168"/>
            <a:ext cx="12653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Pushkala Venkataraman</a:t>
            </a:r>
            <a:endParaRPr lang="en-US" sz="1150" dirty="0"/>
          </a:p>
        </p:txBody>
      </p:sp>
      <p:sp>
        <p:nvSpPr>
          <p:cNvPr id="201" name="Text 186"/>
          <p:cNvSpPr txBox="1"/>
          <p:nvPr/>
        </p:nvSpPr>
        <p:spPr>
          <a:xfrm>
            <a:off x="6987388" y="1709928"/>
            <a:ext cx="12653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apps</a:t>
            </a:r>
            <a:endParaRPr lang="en-US" sz="2400" dirty="0"/>
          </a:p>
        </p:txBody>
      </p:sp>
      <p:pic>
        <p:nvPicPr>
          <p:cNvPr id="202" name="Image 1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7388" y="2313432"/>
            <a:ext cx="182880" cy="182880"/>
          </a:xfrm>
          <a:prstGeom prst="rect">
            <a:avLst/>
          </a:prstGeom>
        </p:spPr>
      </p:pic>
      <p:sp>
        <p:nvSpPr>
          <p:cNvPr id="203" name="Text 187"/>
          <p:cNvSpPr txBox="1"/>
          <p:nvPr/>
        </p:nvSpPr>
        <p:spPr>
          <a:xfrm>
            <a:off x="7243420" y="2258568"/>
            <a:ext cx="1009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internal</a:t>
            </a:r>
            <a:endParaRPr lang="en-US" sz="1400" dirty="0"/>
          </a:p>
        </p:txBody>
      </p:sp>
      <p:pic>
        <p:nvPicPr>
          <p:cNvPr id="204" name="Image 11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87388" y="2587752"/>
            <a:ext cx="182880" cy="182880"/>
          </a:xfrm>
          <a:prstGeom prst="rect">
            <a:avLst/>
          </a:prstGeom>
        </p:spPr>
      </p:pic>
      <p:sp>
        <p:nvSpPr>
          <p:cNvPr id="205" name="Text 188"/>
          <p:cNvSpPr txBox="1"/>
          <p:nvPr/>
        </p:nvSpPr>
        <p:spPr>
          <a:xfrm>
            <a:off x="7243420" y="2532888"/>
            <a:ext cx="1009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external</a:t>
            </a:r>
            <a:endParaRPr lang="en-US" sz="1400" dirty="0"/>
          </a:p>
        </p:txBody>
      </p:sp>
      <p:sp>
        <p:nvSpPr>
          <p:cNvPr id="206" name="Shape 189"/>
          <p:cNvSpPr/>
          <p:nvPr/>
        </p:nvSpPr>
        <p:spPr>
          <a:xfrm>
            <a:off x="6987388" y="2898648"/>
            <a:ext cx="1054481" cy="73152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207" name="Shape 190"/>
          <p:cNvSpPr/>
          <p:nvPr/>
        </p:nvSpPr>
        <p:spPr>
          <a:xfrm>
            <a:off x="8041869" y="2898648"/>
            <a:ext cx="210896" cy="73152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208" name="Text 191"/>
          <p:cNvSpPr txBox="1"/>
          <p:nvPr/>
        </p:nvSpPr>
        <p:spPr>
          <a:xfrm>
            <a:off x="6987388" y="30998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209" name="Shape 192"/>
          <p:cNvSpPr/>
          <p:nvPr/>
        </p:nvSpPr>
        <p:spPr>
          <a:xfrm>
            <a:off x="7645756" y="3154680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0" name="Shape 193"/>
          <p:cNvSpPr/>
          <p:nvPr/>
        </p:nvSpPr>
        <p:spPr>
          <a:xfrm>
            <a:off x="7645756" y="3154680"/>
            <a:ext cx="44359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211" name="Text 194"/>
          <p:cNvSpPr txBox="1"/>
          <p:nvPr/>
        </p:nvSpPr>
        <p:spPr>
          <a:xfrm>
            <a:off x="8015021" y="30998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12" name="Text 195"/>
          <p:cNvSpPr txBox="1"/>
          <p:nvPr/>
        </p:nvSpPr>
        <p:spPr>
          <a:xfrm>
            <a:off x="6987388" y="33375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213" name="Shape 196"/>
          <p:cNvSpPr/>
          <p:nvPr/>
        </p:nvSpPr>
        <p:spPr>
          <a:xfrm>
            <a:off x="7645756" y="3392424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4" name="Shape 197"/>
          <p:cNvSpPr/>
          <p:nvPr/>
        </p:nvSpPr>
        <p:spPr>
          <a:xfrm>
            <a:off x="7645756" y="3392424"/>
            <a:ext cx="27432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215" name="Text 198"/>
          <p:cNvSpPr txBox="1"/>
          <p:nvPr/>
        </p:nvSpPr>
        <p:spPr>
          <a:xfrm>
            <a:off x="8015021" y="33375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16" name="Text 199"/>
          <p:cNvSpPr txBox="1"/>
          <p:nvPr/>
        </p:nvSpPr>
        <p:spPr>
          <a:xfrm>
            <a:off x="6987388" y="35753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217" name="Shape 200"/>
          <p:cNvSpPr/>
          <p:nvPr/>
        </p:nvSpPr>
        <p:spPr>
          <a:xfrm>
            <a:off x="7645756" y="3630168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8" name="Text 201"/>
          <p:cNvSpPr txBox="1"/>
          <p:nvPr/>
        </p:nvSpPr>
        <p:spPr>
          <a:xfrm>
            <a:off x="8015021" y="357530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19" name="Text 202"/>
          <p:cNvSpPr txBox="1"/>
          <p:nvPr/>
        </p:nvSpPr>
        <p:spPr>
          <a:xfrm>
            <a:off x="6987388" y="38130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Angular</a:t>
            </a:r>
            <a:endParaRPr lang="en-US" sz="900" dirty="0"/>
          </a:p>
        </p:txBody>
      </p:sp>
      <p:sp>
        <p:nvSpPr>
          <p:cNvPr id="220" name="Shape 203"/>
          <p:cNvSpPr/>
          <p:nvPr/>
        </p:nvSpPr>
        <p:spPr>
          <a:xfrm>
            <a:off x="7645756" y="3867912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1" name="Text 204"/>
          <p:cNvSpPr txBox="1"/>
          <p:nvPr/>
        </p:nvSpPr>
        <p:spPr>
          <a:xfrm>
            <a:off x="8015021" y="38130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22" name="Text 205"/>
          <p:cNvSpPr txBox="1"/>
          <p:nvPr/>
        </p:nvSpPr>
        <p:spPr>
          <a:xfrm>
            <a:off x="6987388" y="40507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223" name="Shape 206"/>
          <p:cNvSpPr/>
          <p:nvPr/>
        </p:nvSpPr>
        <p:spPr>
          <a:xfrm>
            <a:off x="7645756" y="4105656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4" name="Text 207"/>
          <p:cNvSpPr txBox="1"/>
          <p:nvPr/>
        </p:nvSpPr>
        <p:spPr>
          <a:xfrm>
            <a:off x="8015021" y="405079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25" name="Text 208"/>
          <p:cNvSpPr txBox="1"/>
          <p:nvPr/>
        </p:nvSpPr>
        <p:spPr>
          <a:xfrm>
            <a:off x="6987388" y="4288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900" dirty="0"/>
          </a:p>
        </p:txBody>
      </p:sp>
      <p:sp>
        <p:nvSpPr>
          <p:cNvPr id="226" name="Shape 209"/>
          <p:cNvSpPr/>
          <p:nvPr/>
        </p:nvSpPr>
        <p:spPr>
          <a:xfrm>
            <a:off x="7645756" y="4343400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7" name="Text 210"/>
          <p:cNvSpPr txBox="1"/>
          <p:nvPr/>
        </p:nvSpPr>
        <p:spPr>
          <a:xfrm>
            <a:off x="8015021" y="428853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28" name="Text 211"/>
          <p:cNvSpPr txBox="1"/>
          <p:nvPr/>
        </p:nvSpPr>
        <p:spPr>
          <a:xfrm>
            <a:off x="6987388" y="4526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</a:t>
            </a:r>
            <a:endParaRPr lang="en-US" sz="900" dirty="0"/>
          </a:p>
        </p:txBody>
      </p:sp>
      <p:sp>
        <p:nvSpPr>
          <p:cNvPr id="229" name="Shape 212"/>
          <p:cNvSpPr/>
          <p:nvPr/>
        </p:nvSpPr>
        <p:spPr>
          <a:xfrm>
            <a:off x="7645756" y="4581144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0" name="Shape 213"/>
          <p:cNvSpPr/>
          <p:nvPr/>
        </p:nvSpPr>
        <p:spPr>
          <a:xfrm>
            <a:off x="7645756" y="4581144"/>
            <a:ext cx="332689" cy="100584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231" name="Text 214"/>
          <p:cNvSpPr txBox="1"/>
          <p:nvPr/>
        </p:nvSpPr>
        <p:spPr>
          <a:xfrm>
            <a:off x="8015021" y="452628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232" name="Shape 215"/>
          <p:cNvSpPr/>
          <p:nvPr/>
        </p:nvSpPr>
        <p:spPr>
          <a:xfrm>
            <a:off x="6987388" y="4864608"/>
            <a:ext cx="140597" cy="201168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233" name="Shape 216"/>
          <p:cNvSpPr/>
          <p:nvPr/>
        </p:nvSpPr>
        <p:spPr>
          <a:xfrm>
            <a:off x="7127985" y="4864608"/>
            <a:ext cx="70299" cy="201168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234" name="Shape 217"/>
          <p:cNvSpPr/>
          <p:nvPr/>
        </p:nvSpPr>
        <p:spPr>
          <a:xfrm>
            <a:off x="7198284" y="4864608"/>
            <a:ext cx="1054481" cy="201168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235" name="Shape 218"/>
          <p:cNvSpPr/>
          <p:nvPr/>
        </p:nvSpPr>
        <p:spPr>
          <a:xfrm>
            <a:off x="6987388" y="5212080"/>
            <a:ext cx="91440" cy="91440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236" name="Text 219"/>
          <p:cNvSpPr txBox="1"/>
          <p:nvPr/>
        </p:nvSpPr>
        <p:spPr>
          <a:xfrm>
            <a:off x="7106260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7" name="Shape 220"/>
          <p:cNvSpPr/>
          <p:nvPr/>
        </p:nvSpPr>
        <p:spPr>
          <a:xfrm>
            <a:off x="7303732" y="5212080"/>
            <a:ext cx="91440" cy="91440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238" name="Text 221"/>
          <p:cNvSpPr txBox="1"/>
          <p:nvPr/>
        </p:nvSpPr>
        <p:spPr>
          <a:xfrm>
            <a:off x="7422604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39" name="Shape 222"/>
          <p:cNvSpPr/>
          <p:nvPr/>
        </p:nvSpPr>
        <p:spPr>
          <a:xfrm>
            <a:off x="7620076" y="5212080"/>
            <a:ext cx="91440" cy="91440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240" name="Text 223"/>
          <p:cNvSpPr txBox="1"/>
          <p:nvPr/>
        </p:nvSpPr>
        <p:spPr>
          <a:xfrm>
            <a:off x="7738948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1" name="Shape 224"/>
          <p:cNvSpPr/>
          <p:nvPr/>
        </p:nvSpPr>
        <p:spPr>
          <a:xfrm>
            <a:off x="7936421" y="5212080"/>
            <a:ext cx="91440" cy="91440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242" name="Text 225"/>
          <p:cNvSpPr txBox="1"/>
          <p:nvPr/>
        </p:nvSpPr>
        <p:spPr>
          <a:xfrm>
            <a:off x="8055293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graphicFrame>
        <p:nvGraphicFramePr>
          <p:cNvPr id="243" name="Chart 3" descr=""/>
          <p:cNvGraphicFramePr/>
          <p:nvPr/>
        </p:nvGraphicFramePr>
        <p:xfrm>
          <a:off x="6950812" y="5641848"/>
          <a:ext cx="658368" cy="658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6"/>
          </a:graphicData>
        </a:graphic>
      </p:graphicFrame>
      <p:sp>
        <p:nvSpPr>
          <p:cNvPr id="244" name="Text 226"/>
          <p:cNvSpPr txBox="1"/>
          <p:nvPr/>
        </p:nvSpPr>
        <p:spPr>
          <a:xfrm>
            <a:off x="7682332" y="5660136"/>
            <a:ext cx="60700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EOL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</a:t>
            </a:r>
            <a:endParaRPr lang="en-US" sz="1400" dirty="0"/>
          </a:p>
        </p:txBody>
      </p:sp>
      <p:sp>
        <p:nvSpPr>
          <p:cNvPr id="245" name="Text 227"/>
          <p:cNvSpPr txBox="1"/>
          <p:nvPr/>
        </p:nvSpPr>
        <p:spPr>
          <a:xfrm>
            <a:off x="8618525" y="1344168"/>
            <a:ext cx="12653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Saikiran Nadella</a:t>
            </a:r>
            <a:endParaRPr lang="en-US" sz="1150" dirty="0"/>
          </a:p>
        </p:txBody>
      </p:sp>
      <p:sp>
        <p:nvSpPr>
          <p:cNvPr id="246" name="Text 228"/>
          <p:cNvSpPr txBox="1"/>
          <p:nvPr/>
        </p:nvSpPr>
        <p:spPr>
          <a:xfrm>
            <a:off x="8618525" y="1709928"/>
            <a:ext cx="12653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apps</a:t>
            </a:r>
            <a:endParaRPr lang="en-US" sz="2400" dirty="0"/>
          </a:p>
        </p:txBody>
      </p:sp>
      <p:pic>
        <p:nvPicPr>
          <p:cNvPr id="247" name="Image 12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18525" y="2313432"/>
            <a:ext cx="182880" cy="182880"/>
          </a:xfrm>
          <a:prstGeom prst="rect">
            <a:avLst/>
          </a:prstGeom>
        </p:spPr>
      </p:pic>
      <p:sp>
        <p:nvSpPr>
          <p:cNvPr id="248" name="Text 229"/>
          <p:cNvSpPr txBox="1"/>
          <p:nvPr/>
        </p:nvSpPr>
        <p:spPr>
          <a:xfrm>
            <a:off x="8874557" y="2258568"/>
            <a:ext cx="1009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internal</a:t>
            </a:r>
            <a:endParaRPr lang="en-US" sz="1400" dirty="0"/>
          </a:p>
        </p:txBody>
      </p:sp>
      <p:pic>
        <p:nvPicPr>
          <p:cNvPr id="249" name="Image 13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18525" y="2587752"/>
            <a:ext cx="182880" cy="182880"/>
          </a:xfrm>
          <a:prstGeom prst="rect">
            <a:avLst/>
          </a:prstGeom>
        </p:spPr>
      </p:pic>
      <p:sp>
        <p:nvSpPr>
          <p:cNvPr id="250" name="Text 230"/>
          <p:cNvSpPr txBox="1"/>
          <p:nvPr/>
        </p:nvSpPr>
        <p:spPr>
          <a:xfrm>
            <a:off x="8874557" y="2532888"/>
            <a:ext cx="1009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external</a:t>
            </a:r>
            <a:endParaRPr lang="en-US" sz="1400" dirty="0"/>
          </a:p>
        </p:txBody>
      </p:sp>
      <p:sp>
        <p:nvSpPr>
          <p:cNvPr id="251" name="Shape 231"/>
          <p:cNvSpPr/>
          <p:nvPr/>
        </p:nvSpPr>
        <p:spPr>
          <a:xfrm>
            <a:off x="8618525" y="2898648"/>
            <a:ext cx="820785" cy="73152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252" name="Shape 232"/>
          <p:cNvSpPr/>
          <p:nvPr/>
        </p:nvSpPr>
        <p:spPr>
          <a:xfrm>
            <a:off x="9439310" y="2898648"/>
            <a:ext cx="444592" cy="73152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253" name="Text 233"/>
          <p:cNvSpPr txBox="1"/>
          <p:nvPr/>
        </p:nvSpPr>
        <p:spPr>
          <a:xfrm>
            <a:off x="8618525" y="30998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254" name="Shape 234"/>
          <p:cNvSpPr/>
          <p:nvPr/>
        </p:nvSpPr>
        <p:spPr>
          <a:xfrm>
            <a:off x="9276893" y="3154680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5" name="Shape 235"/>
          <p:cNvSpPr/>
          <p:nvPr/>
        </p:nvSpPr>
        <p:spPr>
          <a:xfrm>
            <a:off x="9276893" y="3154680"/>
            <a:ext cx="266151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256" name="Text 236"/>
          <p:cNvSpPr txBox="1"/>
          <p:nvPr/>
        </p:nvSpPr>
        <p:spPr>
          <a:xfrm>
            <a:off x="9646158" y="30998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257" name="Text 237"/>
          <p:cNvSpPr txBox="1"/>
          <p:nvPr/>
        </p:nvSpPr>
        <p:spPr>
          <a:xfrm>
            <a:off x="8618525" y="33375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258" name="Shape 238"/>
          <p:cNvSpPr/>
          <p:nvPr/>
        </p:nvSpPr>
        <p:spPr>
          <a:xfrm>
            <a:off x="9276893" y="3392424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9" name="Shape 239"/>
          <p:cNvSpPr/>
          <p:nvPr/>
        </p:nvSpPr>
        <p:spPr>
          <a:xfrm>
            <a:off x="9276893" y="3392424"/>
            <a:ext cx="66538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260" name="Text 240"/>
          <p:cNvSpPr txBox="1"/>
          <p:nvPr/>
        </p:nvSpPr>
        <p:spPr>
          <a:xfrm>
            <a:off x="9646158" y="33375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61" name="Text 241"/>
          <p:cNvSpPr txBox="1"/>
          <p:nvPr/>
        </p:nvSpPr>
        <p:spPr>
          <a:xfrm>
            <a:off x="8618525" y="35753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262" name="Shape 242"/>
          <p:cNvSpPr/>
          <p:nvPr/>
        </p:nvSpPr>
        <p:spPr>
          <a:xfrm>
            <a:off x="9276893" y="3630168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3" name="Text 243"/>
          <p:cNvSpPr txBox="1"/>
          <p:nvPr/>
        </p:nvSpPr>
        <p:spPr>
          <a:xfrm>
            <a:off x="9646158" y="357530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64" name="Text 244"/>
          <p:cNvSpPr txBox="1"/>
          <p:nvPr/>
        </p:nvSpPr>
        <p:spPr>
          <a:xfrm>
            <a:off x="8618525" y="38130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Angular</a:t>
            </a:r>
            <a:endParaRPr lang="en-US" sz="900" dirty="0"/>
          </a:p>
        </p:txBody>
      </p:sp>
      <p:sp>
        <p:nvSpPr>
          <p:cNvPr id="265" name="Shape 245"/>
          <p:cNvSpPr/>
          <p:nvPr/>
        </p:nvSpPr>
        <p:spPr>
          <a:xfrm>
            <a:off x="9276893" y="3867912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6" name="Shape 246"/>
          <p:cNvSpPr/>
          <p:nvPr/>
        </p:nvSpPr>
        <p:spPr>
          <a:xfrm>
            <a:off x="9276893" y="3867912"/>
            <a:ext cx="44359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267" name="Text 247"/>
          <p:cNvSpPr txBox="1"/>
          <p:nvPr/>
        </p:nvSpPr>
        <p:spPr>
          <a:xfrm>
            <a:off x="9646158" y="38130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68" name="Text 248"/>
          <p:cNvSpPr txBox="1"/>
          <p:nvPr/>
        </p:nvSpPr>
        <p:spPr>
          <a:xfrm>
            <a:off x="8618525" y="40507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269" name="Shape 249"/>
          <p:cNvSpPr/>
          <p:nvPr/>
        </p:nvSpPr>
        <p:spPr>
          <a:xfrm>
            <a:off x="9276893" y="4105656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0" name="Shape 250"/>
          <p:cNvSpPr/>
          <p:nvPr/>
        </p:nvSpPr>
        <p:spPr>
          <a:xfrm>
            <a:off x="9276893" y="4105656"/>
            <a:ext cx="133076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271" name="Text 251"/>
          <p:cNvSpPr txBox="1"/>
          <p:nvPr/>
        </p:nvSpPr>
        <p:spPr>
          <a:xfrm>
            <a:off x="9646158" y="405079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72" name="Text 252"/>
          <p:cNvSpPr txBox="1"/>
          <p:nvPr/>
        </p:nvSpPr>
        <p:spPr>
          <a:xfrm>
            <a:off x="8618525" y="4288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900" dirty="0"/>
          </a:p>
        </p:txBody>
      </p:sp>
      <p:sp>
        <p:nvSpPr>
          <p:cNvPr id="273" name="Shape 253"/>
          <p:cNvSpPr/>
          <p:nvPr/>
        </p:nvSpPr>
        <p:spPr>
          <a:xfrm>
            <a:off x="9276893" y="4343400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4" name="Shape 254"/>
          <p:cNvSpPr/>
          <p:nvPr/>
        </p:nvSpPr>
        <p:spPr>
          <a:xfrm>
            <a:off x="9276893" y="4343400"/>
            <a:ext cx="27432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275" name="Text 255"/>
          <p:cNvSpPr txBox="1"/>
          <p:nvPr/>
        </p:nvSpPr>
        <p:spPr>
          <a:xfrm>
            <a:off x="9646158" y="428853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76" name="Text 256"/>
          <p:cNvSpPr txBox="1"/>
          <p:nvPr/>
        </p:nvSpPr>
        <p:spPr>
          <a:xfrm>
            <a:off x="8618525" y="4526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</a:t>
            </a:r>
            <a:endParaRPr lang="en-US" sz="900" dirty="0"/>
          </a:p>
        </p:txBody>
      </p:sp>
      <p:sp>
        <p:nvSpPr>
          <p:cNvPr id="277" name="Shape 257"/>
          <p:cNvSpPr/>
          <p:nvPr/>
        </p:nvSpPr>
        <p:spPr>
          <a:xfrm>
            <a:off x="9276893" y="4581144"/>
            <a:ext cx="332689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8" name="Shape 258"/>
          <p:cNvSpPr/>
          <p:nvPr/>
        </p:nvSpPr>
        <p:spPr>
          <a:xfrm>
            <a:off x="9276893" y="4581144"/>
            <a:ext cx="288331" cy="100584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279" name="Text 259"/>
          <p:cNvSpPr txBox="1"/>
          <p:nvPr/>
        </p:nvSpPr>
        <p:spPr>
          <a:xfrm>
            <a:off x="9646158" y="452628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280" name="Shape 260"/>
          <p:cNvSpPr/>
          <p:nvPr/>
        </p:nvSpPr>
        <p:spPr>
          <a:xfrm>
            <a:off x="8618525" y="4864608"/>
            <a:ext cx="683988" cy="201168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281" name="Shape 261"/>
          <p:cNvSpPr/>
          <p:nvPr/>
        </p:nvSpPr>
        <p:spPr>
          <a:xfrm>
            <a:off x="9302512" y="4864608"/>
            <a:ext cx="170997" cy="201168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282" name="Shape 262"/>
          <p:cNvSpPr/>
          <p:nvPr/>
        </p:nvSpPr>
        <p:spPr>
          <a:xfrm>
            <a:off x="9473509" y="4864608"/>
            <a:ext cx="410393" cy="201168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283" name="Shape 263"/>
          <p:cNvSpPr/>
          <p:nvPr/>
        </p:nvSpPr>
        <p:spPr>
          <a:xfrm>
            <a:off x="8618525" y="5212080"/>
            <a:ext cx="91440" cy="91440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284" name="Text 264"/>
          <p:cNvSpPr txBox="1"/>
          <p:nvPr/>
        </p:nvSpPr>
        <p:spPr>
          <a:xfrm>
            <a:off x="8737397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85" name="Shape 265"/>
          <p:cNvSpPr/>
          <p:nvPr/>
        </p:nvSpPr>
        <p:spPr>
          <a:xfrm>
            <a:off x="8934869" y="5212080"/>
            <a:ext cx="91440" cy="91440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286" name="Text 266"/>
          <p:cNvSpPr txBox="1"/>
          <p:nvPr/>
        </p:nvSpPr>
        <p:spPr>
          <a:xfrm>
            <a:off x="9053741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87" name="Shape 267"/>
          <p:cNvSpPr/>
          <p:nvPr/>
        </p:nvSpPr>
        <p:spPr>
          <a:xfrm>
            <a:off x="9251213" y="5212080"/>
            <a:ext cx="91440" cy="91440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288" name="Text 268"/>
          <p:cNvSpPr txBox="1"/>
          <p:nvPr/>
        </p:nvSpPr>
        <p:spPr>
          <a:xfrm>
            <a:off x="9370085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9" name="Shape 269"/>
          <p:cNvSpPr/>
          <p:nvPr/>
        </p:nvSpPr>
        <p:spPr>
          <a:xfrm>
            <a:off x="9567558" y="5212080"/>
            <a:ext cx="91440" cy="91440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290" name="Text 270"/>
          <p:cNvSpPr txBox="1"/>
          <p:nvPr/>
        </p:nvSpPr>
        <p:spPr>
          <a:xfrm>
            <a:off x="9686430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graphicFrame>
        <p:nvGraphicFramePr>
          <p:cNvPr id="291" name="Chart 4" descr=""/>
          <p:cNvGraphicFramePr/>
          <p:nvPr/>
        </p:nvGraphicFramePr>
        <p:xfrm>
          <a:off x="8581949" y="5641848"/>
          <a:ext cx="658368" cy="658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9"/>
          </a:graphicData>
        </a:graphic>
      </p:graphicFrame>
      <p:sp>
        <p:nvSpPr>
          <p:cNvPr id="292" name="Text 271"/>
          <p:cNvSpPr txBox="1"/>
          <p:nvPr/>
        </p:nvSpPr>
        <p:spPr>
          <a:xfrm>
            <a:off x="9313469" y="5660136"/>
            <a:ext cx="60700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EOL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</a:t>
            </a:r>
            <a:endParaRPr lang="en-US" sz="1400" dirty="0"/>
          </a:p>
        </p:txBody>
      </p:sp>
      <p:sp>
        <p:nvSpPr>
          <p:cNvPr id="293" name="Text 272"/>
          <p:cNvSpPr txBox="1"/>
          <p:nvPr/>
        </p:nvSpPr>
        <p:spPr>
          <a:xfrm>
            <a:off x="10249662" y="1344168"/>
            <a:ext cx="12653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applications</a:t>
            </a:r>
            <a:endParaRPr lang="en-US" sz="1150" dirty="0"/>
          </a:p>
        </p:txBody>
      </p:sp>
      <p:sp>
        <p:nvSpPr>
          <p:cNvPr id="294" name="Text 273"/>
          <p:cNvSpPr txBox="1"/>
          <p:nvPr/>
        </p:nvSpPr>
        <p:spPr>
          <a:xfrm>
            <a:off x="10249662" y="1709928"/>
            <a:ext cx="12653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apps</a:t>
            </a:r>
            <a:endParaRPr lang="en-US" sz="2400" dirty="0"/>
          </a:p>
        </p:txBody>
      </p:sp>
      <p:pic>
        <p:nvPicPr>
          <p:cNvPr id="295" name="Image 14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49662" y="2313432"/>
            <a:ext cx="182880" cy="182880"/>
          </a:xfrm>
          <a:prstGeom prst="rect">
            <a:avLst/>
          </a:prstGeom>
        </p:spPr>
      </p:pic>
      <p:sp>
        <p:nvSpPr>
          <p:cNvPr id="296" name="Text 274"/>
          <p:cNvSpPr txBox="1"/>
          <p:nvPr/>
        </p:nvSpPr>
        <p:spPr>
          <a:xfrm>
            <a:off x="10505694" y="2258568"/>
            <a:ext cx="1009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internal</a:t>
            </a:r>
            <a:endParaRPr lang="en-US" sz="1400" dirty="0"/>
          </a:p>
        </p:txBody>
      </p:sp>
      <p:pic>
        <p:nvPicPr>
          <p:cNvPr id="297" name="Image 15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49662" y="2587752"/>
            <a:ext cx="182880" cy="182880"/>
          </a:xfrm>
          <a:prstGeom prst="rect">
            <a:avLst/>
          </a:prstGeom>
        </p:spPr>
      </p:pic>
      <p:sp>
        <p:nvSpPr>
          <p:cNvPr id="298" name="Text 275"/>
          <p:cNvSpPr txBox="1"/>
          <p:nvPr/>
        </p:nvSpPr>
        <p:spPr>
          <a:xfrm>
            <a:off x="10505694" y="2532888"/>
            <a:ext cx="1009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external</a:t>
            </a:r>
            <a:endParaRPr lang="en-US" sz="1400" dirty="0"/>
          </a:p>
        </p:txBody>
      </p:sp>
      <p:sp>
        <p:nvSpPr>
          <p:cNvPr id="299" name="Shape 276"/>
          <p:cNvSpPr/>
          <p:nvPr/>
        </p:nvSpPr>
        <p:spPr>
          <a:xfrm>
            <a:off x="10249662" y="2898648"/>
            <a:ext cx="919376" cy="73152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300" name="Shape 277"/>
          <p:cNvSpPr/>
          <p:nvPr/>
        </p:nvSpPr>
        <p:spPr>
          <a:xfrm>
            <a:off x="11169038" y="2898648"/>
            <a:ext cx="346002" cy="73152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301" name="Text 278"/>
          <p:cNvSpPr txBox="1"/>
          <p:nvPr/>
        </p:nvSpPr>
        <p:spPr>
          <a:xfrm>
            <a:off x="10249662" y="30998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302" name="Shape 279"/>
          <p:cNvSpPr/>
          <p:nvPr/>
        </p:nvSpPr>
        <p:spPr>
          <a:xfrm>
            <a:off x="10908030" y="3154680"/>
            <a:ext cx="332689" cy="100584"/>
          </a:xfrm>
          <a:prstGeom prst="rect">
            <a:avLst/>
          </a:prstGeom>
          <a:solidFill>
            <a:srgbClr val="EAF3E4"/>
          </a:solidFill>
          <a:ln w="12700">
            <a:solidFill>
              <a:srgbClr val="EAF3E4"/>
            </a:solidFill>
            <a:prstDash val="solid"/>
          </a:ln>
        </p:spPr>
      </p:sp>
      <p:sp>
        <p:nvSpPr>
          <p:cNvPr id="303" name="Shape 280"/>
          <p:cNvSpPr/>
          <p:nvPr/>
        </p:nvSpPr>
        <p:spPr>
          <a:xfrm>
            <a:off x="10908030" y="3154680"/>
            <a:ext cx="183319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304" name="Text 281"/>
          <p:cNvSpPr txBox="1"/>
          <p:nvPr/>
        </p:nvSpPr>
        <p:spPr>
          <a:xfrm>
            <a:off x="11277295" y="30998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305" name="Text 282"/>
          <p:cNvSpPr txBox="1"/>
          <p:nvPr/>
        </p:nvSpPr>
        <p:spPr>
          <a:xfrm>
            <a:off x="10249662" y="33375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306" name="Shape 283"/>
          <p:cNvSpPr/>
          <p:nvPr/>
        </p:nvSpPr>
        <p:spPr>
          <a:xfrm>
            <a:off x="10908030" y="3392424"/>
            <a:ext cx="332689" cy="100584"/>
          </a:xfrm>
          <a:prstGeom prst="rect">
            <a:avLst/>
          </a:prstGeom>
          <a:solidFill>
            <a:srgbClr val="EAF3E4"/>
          </a:solidFill>
          <a:ln w="12700">
            <a:solidFill>
              <a:srgbClr val="EAF3E4"/>
            </a:solidFill>
            <a:prstDash val="solid"/>
          </a:ln>
        </p:spPr>
      </p:sp>
      <p:sp>
        <p:nvSpPr>
          <p:cNvPr id="307" name="Shape 284"/>
          <p:cNvSpPr/>
          <p:nvPr/>
        </p:nvSpPr>
        <p:spPr>
          <a:xfrm>
            <a:off x="10908030" y="3392424"/>
            <a:ext cx="88264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308" name="Text 285"/>
          <p:cNvSpPr txBox="1"/>
          <p:nvPr/>
        </p:nvSpPr>
        <p:spPr>
          <a:xfrm>
            <a:off x="11277295" y="33375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309" name="Text 286"/>
          <p:cNvSpPr txBox="1"/>
          <p:nvPr/>
        </p:nvSpPr>
        <p:spPr>
          <a:xfrm>
            <a:off x="10249662" y="35753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310" name="Shape 287"/>
          <p:cNvSpPr/>
          <p:nvPr/>
        </p:nvSpPr>
        <p:spPr>
          <a:xfrm>
            <a:off x="10908030" y="3630168"/>
            <a:ext cx="332689" cy="100584"/>
          </a:xfrm>
          <a:prstGeom prst="rect">
            <a:avLst/>
          </a:prstGeom>
          <a:solidFill>
            <a:srgbClr val="EAF3E4"/>
          </a:solidFill>
          <a:ln w="12700">
            <a:solidFill>
              <a:srgbClr val="EAF3E4"/>
            </a:solidFill>
            <a:prstDash val="solid"/>
          </a:ln>
        </p:spPr>
      </p:sp>
      <p:sp>
        <p:nvSpPr>
          <p:cNvPr id="311" name="Shape 288"/>
          <p:cNvSpPr/>
          <p:nvPr/>
        </p:nvSpPr>
        <p:spPr>
          <a:xfrm>
            <a:off x="10908030" y="3630168"/>
            <a:ext cx="122212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312" name="Text 289"/>
          <p:cNvSpPr txBox="1"/>
          <p:nvPr/>
        </p:nvSpPr>
        <p:spPr>
          <a:xfrm>
            <a:off x="11277295" y="357530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313" name="Text 290"/>
          <p:cNvSpPr txBox="1"/>
          <p:nvPr/>
        </p:nvSpPr>
        <p:spPr>
          <a:xfrm>
            <a:off x="10249662" y="38130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Angular</a:t>
            </a:r>
            <a:endParaRPr lang="en-US" sz="900" dirty="0"/>
          </a:p>
        </p:txBody>
      </p:sp>
      <p:sp>
        <p:nvSpPr>
          <p:cNvPr id="314" name="Shape 291"/>
          <p:cNvSpPr/>
          <p:nvPr/>
        </p:nvSpPr>
        <p:spPr>
          <a:xfrm>
            <a:off x="10908030" y="3867912"/>
            <a:ext cx="332689" cy="100584"/>
          </a:xfrm>
          <a:prstGeom prst="rect">
            <a:avLst/>
          </a:prstGeom>
          <a:solidFill>
            <a:srgbClr val="EAF3E4"/>
          </a:solidFill>
          <a:ln w="12700">
            <a:solidFill>
              <a:srgbClr val="EAF3E4"/>
            </a:solidFill>
            <a:prstDash val="solid"/>
          </a:ln>
        </p:spPr>
      </p:sp>
      <p:sp>
        <p:nvSpPr>
          <p:cNvPr id="315" name="Shape 292"/>
          <p:cNvSpPr/>
          <p:nvPr/>
        </p:nvSpPr>
        <p:spPr>
          <a:xfrm>
            <a:off x="10908030" y="3867912"/>
            <a:ext cx="61106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316" name="Text 293"/>
          <p:cNvSpPr txBox="1"/>
          <p:nvPr/>
        </p:nvSpPr>
        <p:spPr>
          <a:xfrm>
            <a:off x="11277295" y="38130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317" name="Text 294"/>
          <p:cNvSpPr txBox="1"/>
          <p:nvPr/>
        </p:nvSpPr>
        <p:spPr>
          <a:xfrm>
            <a:off x="10249662" y="40507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318" name="Shape 295"/>
          <p:cNvSpPr/>
          <p:nvPr/>
        </p:nvSpPr>
        <p:spPr>
          <a:xfrm>
            <a:off x="10908030" y="4105656"/>
            <a:ext cx="332689" cy="100584"/>
          </a:xfrm>
          <a:prstGeom prst="rect">
            <a:avLst/>
          </a:prstGeom>
          <a:solidFill>
            <a:srgbClr val="EAF3E4"/>
          </a:solidFill>
          <a:ln w="12700">
            <a:solidFill>
              <a:srgbClr val="EAF3E4"/>
            </a:solidFill>
            <a:prstDash val="solid"/>
          </a:ln>
        </p:spPr>
      </p:sp>
      <p:sp>
        <p:nvSpPr>
          <p:cNvPr id="319" name="Shape 296"/>
          <p:cNvSpPr/>
          <p:nvPr/>
        </p:nvSpPr>
        <p:spPr>
          <a:xfrm>
            <a:off x="10908030" y="4105656"/>
            <a:ext cx="67896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320" name="Text 297"/>
          <p:cNvSpPr txBox="1"/>
          <p:nvPr/>
        </p:nvSpPr>
        <p:spPr>
          <a:xfrm>
            <a:off x="11277295" y="405079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21" name="Text 298"/>
          <p:cNvSpPr txBox="1"/>
          <p:nvPr/>
        </p:nvSpPr>
        <p:spPr>
          <a:xfrm>
            <a:off x="10249662" y="4288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900" dirty="0"/>
          </a:p>
        </p:txBody>
      </p:sp>
      <p:sp>
        <p:nvSpPr>
          <p:cNvPr id="322" name="Shape 299"/>
          <p:cNvSpPr/>
          <p:nvPr/>
        </p:nvSpPr>
        <p:spPr>
          <a:xfrm>
            <a:off x="10908030" y="4343400"/>
            <a:ext cx="332689" cy="100584"/>
          </a:xfrm>
          <a:prstGeom prst="rect">
            <a:avLst/>
          </a:prstGeom>
          <a:solidFill>
            <a:srgbClr val="EAF3E4"/>
          </a:solidFill>
          <a:ln w="12700">
            <a:solidFill>
              <a:srgbClr val="EAF3E4"/>
            </a:solidFill>
            <a:prstDash val="solid"/>
          </a:ln>
        </p:spPr>
      </p:sp>
      <p:sp>
        <p:nvSpPr>
          <p:cNvPr id="323" name="Shape 300"/>
          <p:cNvSpPr/>
          <p:nvPr/>
        </p:nvSpPr>
        <p:spPr>
          <a:xfrm>
            <a:off x="10908030" y="4343400"/>
            <a:ext cx="27432" cy="100584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324" name="Text 301"/>
          <p:cNvSpPr txBox="1"/>
          <p:nvPr/>
        </p:nvSpPr>
        <p:spPr>
          <a:xfrm>
            <a:off x="11277295" y="428853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25" name="Text 302"/>
          <p:cNvSpPr txBox="1"/>
          <p:nvPr/>
        </p:nvSpPr>
        <p:spPr>
          <a:xfrm>
            <a:off x="10249662" y="4526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</a:t>
            </a:r>
            <a:endParaRPr lang="en-US" sz="900" dirty="0"/>
          </a:p>
        </p:txBody>
      </p:sp>
      <p:sp>
        <p:nvSpPr>
          <p:cNvPr id="326" name="Shape 303"/>
          <p:cNvSpPr/>
          <p:nvPr/>
        </p:nvSpPr>
        <p:spPr>
          <a:xfrm>
            <a:off x="10908030" y="4581144"/>
            <a:ext cx="332689" cy="100584"/>
          </a:xfrm>
          <a:prstGeom prst="rect">
            <a:avLst/>
          </a:prstGeom>
          <a:solidFill>
            <a:srgbClr val="EAF3E4"/>
          </a:solidFill>
          <a:ln w="12700">
            <a:solidFill>
              <a:srgbClr val="EAF3E4"/>
            </a:solidFill>
            <a:prstDash val="solid"/>
          </a:ln>
        </p:spPr>
      </p:sp>
      <p:sp>
        <p:nvSpPr>
          <p:cNvPr id="327" name="Shape 304"/>
          <p:cNvSpPr/>
          <p:nvPr/>
        </p:nvSpPr>
        <p:spPr>
          <a:xfrm>
            <a:off x="10908030" y="4581144"/>
            <a:ext cx="332689" cy="100584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328" name="Text 305"/>
          <p:cNvSpPr txBox="1"/>
          <p:nvPr/>
        </p:nvSpPr>
        <p:spPr>
          <a:xfrm>
            <a:off x="11277295" y="452628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50" dirty="0"/>
          </a:p>
        </p:txBody>
      </p:sp>
      <p:sp>
        <p:nvSpPr>
          <p:cNvPr id="329" name="Shape 306"/>
          <p:cNvSpPr/>
          <p:nvPr/>
        </p:nvSpPr>
        <p:spPr>
          <a:xfrm>
            <a:off x="10249662" y="4864608"/>
            <a:ext cx="553603" cy="201168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330" name="Shape 307"/>
          <p:cNvSpPr/>
          <p:nvPr/>
        </p:nvSpPr>
        <p:spPr>
          <a:xfrm>
            <a:off x="10803265" y="4864608"/>
            <a:ext cx="9886" cy="201168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331" name="Shape 308"/>
          <p:cNvSpPr/>
          <p:nvPr/>
        </p:nvSpPr>
        <p:spPr>
          <a:xfrm>
            <a:off x="10813150" y="4864608"/>
            <a:ext cx="197715" cy="201168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332" name="Shape 309"/>
          <p:cNvSpPr/>
          <p:nvPr/>
        </p:nvSpPr>
        <p:spPr>
          <a:xfrm>
            <a:off x="11010865" y="4864608"/>
            <a:ext cx="504174" cy="201168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333" name="Shape 310"/>
          <p:cNvSpPr/>
          <p:nvPr/>
        </p:nvSpPr>
        <p:spPr>
          <a:xfrm>
            <a:off x="10249662" y="5212080"/>
            <a:ext cx="91440" cy="91440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334" name="Text 311"/>
          <p:cNvSpPr txBox="1"/>
          <p:nvPr/>
        </p:nvSpPr>
        <p:spPr>
          <a:xfrm>
            <a:off x="10368534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200" dirty="0"/>
          </a:p>
        </p:txBody>
      </p:sp>
      <p:sp>
        <p:nvSpPr>
          <p:cNvPr id="335" name="Shape 312"/>
          <p:cNvSpPr/>
          <p:nvPr/>
        </p:nvSpPr>
        <p:spPr>
          <a:xfrm>
            <a:off x="10566006" y="5212080"/>
            <a:ext cx="91440" cy="91440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336" name="Text 313"/>
          <p:cNvSpPr txBox="1"/>
          <p:nvPr/>
        </p:nvSpPr>
        <p:spPr>
          <a:xfrm>
            <a:off x="10684878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7" name="Shape 314"/>
          <p:cNvSpPr/>
          <p:nvPr/>
        </p:nvSpPr>
        <p:spPr>
          <a:xfrm>
            <a:off x="10882351" y="5212080"/>
            <a:ext cx="91440" cy="91440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338" name="Text 315"/>
          <p:cNvSpPr txBox="1"/>
          <p:nvPr/>
        </p:nvSpPr>
        <p:spPr>
          <a:xfrm>
            <a:off x="11001223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339" name="Shape 316"/>
          <p:cNvSpPr/>
          <p:nvPr/>
        </p:nvSpPr>
        <p:spPr>
          <a:xfrm>
            <a:off x="11198695" y="5212080"/>
            <a:ext cx="91440" cy="91440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340" name="Text 317"/>
          <p:cNvSpPr txBox="1"/>
          <p:nvPr/>
        </p:nvSpPr>
        <p:spPr>
          <a:xfrm>
            <a:off x="11317567" y="5138928"/>
            <a:ext cx="19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200" dirty="0"/>
          </a:p>
        </p:txBody>
      </p:sp>
      <p:graphicFrame>
        <p:nvGraphicFramePr>
          <p:cNvPr id="341" name="Chart 5" descr=""/>
          <p:cNvGraphicFramePr/>
          <p:nvPr/>
        </p:nvGraphicFramePr>
        <p:xfrm>
          <a:off x="10213086" y="5641848"/>
          <a:ext cx="658368" cy="658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2"/>
          </a:graphicData>
        </a:graphic>
      </p:graphicFrame>
      <p:sp>
        <p:nvSpPr>
          <p:cNvPr id="342" name="Text 318"/>
          <p:cNvSpPr txBox="1"/>
          <p:nvPr/>
        </p:nvSpPr>
        <p:spPr>
          <a:xfrm>
            <a:off x="10944606" y="5660136"/>
            <a:ext cx="60700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EOL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pPr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</a:t>
            </a:r>
            <a:endParaRPr lang="en-US" sz="1400" dirty="0"/>
          </a:p>
        </p:txBody>
      </p:sp>
      <p:sp>
        <p:nvSpPr>
          <p:cNvPr id="343" name="Text 319"/>
          <p:cNvSpPr txBox="1"/>
          <p:nvPr/>
        </p:nvSpPr>
        <p:spPr>
          <a:xfrm>
            <a:off x="4754880" y="6473952"/>
            <a:ext cx="6885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App Inventory + ServiceNow, Sep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by Manager</dc:title>
  <dc:subject>PptxGenJS Presentation</dc:subject>
  <dc:creator>PptxGenJS</dc:creator>
  <cp:lastModifiedBy>PptxGenJS</cp:lastModifiedBy>
  <cp:revision>1</cp:revision>
  <dcterms:created xsi:type="dcterms:W3CDTF">2026-09-29T22:59:26Z</dcterms:created>
  <dcterms:modified xsi:type="dcterms:W3CDTF">2026-09-29T22:59:26Z</dcterms:modified>
</cp:coreProperties>
</file>