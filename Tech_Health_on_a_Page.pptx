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Lifecycle</c:v>
                </c:pt>
              </c:strCache>
            </c:strRef>
          </c:tx>
          <c:spPr>
            <a:solidFill>
              <a:schemeClr val="accent1"/>
            </a:solidFill>
            <a:ln w="9525" cap="flat">
              <a:solidFill>
                <a:srgbClr val="F9F9F9"/>
              </a:solidFill>
              <a:prstDash val="solid"/>
              <a:round/>
            </a:ln>
            <a:effectLst/>
          </c:spPr>
          <c:dPt>
            <c:idx val="0"/>
            <c:bubble3D val="0"/>
            <c:spPr>
              <a:solidFill>
                <a:srgbClr val="368727"/>
              </a:solidFill>
              <a:ln w="9525" cap="flat">
                <a:solidFill>
                  <a:srgbClr val="F1F7EE"/>
                </a:solidFill>
                <a:prstDash val="solid"/>
                <a:round/>
              </a:ln>
              <a:effectLst/>
            </c:spPr>
          </c:dPt>
          <c:dPt>
            <c:idx val="1"/>
            <c:bubble3D val="0"/>
            <c:spPr>
              <a:solidFill>
                <a:srgbClr val="E4E8E2"/>
              </a:solidFill>
              <a:ln w="9525" cap="flat">
                <a:solidFill>
                  <a:srgbClr val="F1F7EE"/>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yes</c:v>
                </c:pt>
                <c:pt idx="1">
                  <c:v>no</c:v>
                </c:pt>
              </c:strCache>
            </c:strRef>
          </c:cat>
          <c:val>
            <c:numRef>
              <c:f>Sheet1!$B$2:$B$3</c:f>
              <c:numCache>
                <c:ptCount val="2"/>
                <c:pt idx="0">
                  <c:v>75</c:v>
                </c:pt>
                <c:pt idx="1">
                  <c:v>25</c:v>
                </c:pt>
              </c:numCache>
            </c:numRef>
          </c:val>
        </c:ser>
        <c:firstSliceAng val="0"/>
        <c:holeSize val="70"/>
      </c:doughnutChart>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Visibility</c:v>
                </c:pt>
              </c:strCache>
            </c:strRef>
          </c:tx>
          <c:spPr>
            <a:solidFill>
              <a:schemeClr val="accent1"/>
            </a:solidFill>
            <a:ln w="9525" cap="flat">
              <a:solidFill>
                <a:srgbClr val="F9F9F9"/>
              </a:solidFill>
              <a:prstDash val="solid"/>
              <a:round/>
            </a:ln>
            <a:effectLst/>
          </c:spPr>
          <c:dPt>
            <c:idx val="0"/>
            <c:bubble3D val="0"/>
            <c:spPr>
              <a:solidFill>
                <a:srgbClr val="E0A31A"/>
              </a:solidFill>
              <a:ln w="9525" cap="flat">
                <a:solidFill>
                  <a:srgbClr val="F1F7EE"/>
                </a:solidFill>
                <a:prstDash val="solid"/>
                <a:round/>
              </a:ln>
              <a:effectLst/>
            </c:spPr>
          </c:dPt>
          <c:dPt>
            <c:idx val="1"/>
            <c:bubble3D val="0"/>
            <c:spPr>
              <a:solidFill>
                <a:srgbClr val="E4E8E2"/>
              </a:solidFill>
              <a:ln w="9525" cap="flat">
                <a:solidFill>
                  <a:srgbClr val="F1F7EE"/>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yes</c:v>
                </c:pt>
                <c:pt idx="1">
                  <c:v>no</c:v>
                </c:pt>
              </c:strCache>
            </c:strRef>
          </c:cat>
          <c:val>
            <c:numRef>
              <c:f>Sheet1!$B$2:$B$3</c:f>
              <c:numCache>
                <c:ptCount val="2"/>
                <c:pt idx="0">
                  <c:v>41</c:v>
                </c:pt>
                <c:pt idx="1">
                  <c:v>59</c:v>
                </c:pt>
              </c:numCache>
            </c:numRef>
          </c:val>
        </c:ser>
        <c:firstSliceAng val="0"/>
        <c:holeSize val="70"/>
      </c:doughnutChart>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Automation</c:v>
                </c:pt>
              </c:strCache>
            </c:strRef>
          </c:tx>
          <c:spPr>
            <a:solidFill>
              <a:schemeClr val="accent1"/>
            </a:solidFill>
            <a:ln w="9525" cap="flat">
              <a:solidFill>
                <a:srgbClr val="F9F9F9"/>
              </a:solidFill>
              <a:prstDash val="solid"/>
              <a:round/>
            </a:ln>
            <a:effectLst/>
          </c:spPr>
          <c:dPt>
            <c:idx val="0"/>
            <c:bubble3D val="0"/>
            <c:spPr>
              <a:solidFill>
                <a:srgbClr val="C0392B"/>
              </a:solidFill>
              <a:ln w="9525" cap="flat">
                <a:solidFill>
                  <a:srgbClr val="F1F7EE"/>
                </a:solidFill>
                <a:prstDash val="solid"/>
                <a:round/>
              </a:ln>
              <a:effectLst/>
            </c:spPr>
          </c:dPt>
          <c:dPt>
            <c:idx val="1"/>
            <c:bubble3D val="0"/>
            <c:spPr>
              <a:solidFill>
                <a:srgbClr val="E4E8E2"/>
              </a:solidFill>
              <a:ln w="9525" cap="flat">
                <a:solidFill>
                  <a:srgbClr val="F1F7EE"/>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yes</c:v>
                </c:pt>
                <c:pt idx="1">
                  <c:v>no</c:v>
                </c:pt>
              </c:strCache>
            </c:strRef>
          </c:cat>
          <c:val>
            <c:numRef>
              <c:f>Sheet1!$B$2:$B$3</c:f>
              <c:numCache>
                <c:ptCount val="2"/>
                <c:pt idx="0">
                  <c:v>3</c:v>
                </c:pt>
                <c:pt idx="1">
                  <c:v>97</c:v>
                </c:pt>
              </c:numCache>
            </c:numRef>
          </c:val>
        </c:ser>
        <c:firstSliceAng val="0"/>
        <c:holeSize val="70"/>
      </c:doughnutChart>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Data quality</c:v>
                </c:pt>
              </c:strCache>
            </c:strRef>
          </c:tx>
          <c:spPr>
            <a:solidFill>
              <a:schemeClr val="accent1"/>
            </a:solidFill>
            <a:ln w="9525" cap="flat">
              <a:solidFill>
                <a:srgbClr val="F9F9F9"/>
              </a:solidFill>
              <a:prstDash val="solid"/>
              <a:round/>
            </a:ln>
            <a:effectLst/>
          </c:spPr>
          <c:dPt>
            <c:idx val="0"/>
            <c:bubble3D val="0"/>
            <c:spPr>
              <a:solidFill>
                <a:srgbClr val="E0A31A"/>
              </a:solidFill>
              <a:ln w="9525" cap="flat">
                <a:solidFill>
                  <a:srgbClr val="F1F7EE"/>
                </a:solidFill>
                <a:prstDash val="solid"/>
                <a:round/>
              </a:ln>
              <a:effectLst/>
            </c:spPr>
          </c:dPt>
          <c:dPt>
            <c:idx val="1"/>
            <c:bubble3D val="0"/>
            <c:spPr>
              <a:solidFill>
                <a:srgbClr val="E4E8E2"/>
              </a:solidFill>
              <a:ln w="9525" cap="flat">
                <a:solidFill>
                  <a:srgbClr val="F1F7EE"/>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yes</c:v>
                </c:pt>
                <c:pt idx="1">
                  <c:v>no</c:v>
                </c:pt>
              </c:strCache>
            </c:strRef>
          </c:cat>
          <c:val>
            <c:numRef>
              <c:f>Sheet1!$B$2:$B$3</c:f>
              <c:numCache>
                <c:ptCount val="2"/>
                <c:pt idx="0">
                  <c:v>62</c:v>
                </c:pt>
                <c:pt idx="1">
                  <c:v>38</c:v>
                </c:pt>
              </c:numCache>
            </c:numRef>
          </c:val>
        </c:ser>
        <c:firstSliceAng val="0"/>
        <c:holeSize val="70"/>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square per application. Rows are sorted by stage, so dark squares at the top are production apps. Amber dots mark the 32 apps whose technology reaches end of life on 1 Dec 2026. Blank squares have no app type recorded. Pushkala's portfolio is almost entirely unclassified Concept work; Saikiran and Asim hold most production apps and most of the EOL exposure.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portfolio-wide health rings. Bottom: each manager rated on the same five dimensions, normalised by portfolio size. Overall = Act if three or more red dots. Most reds come from Sonar onboarding, automation reporting and missing app types — fix the data and the picture sharpens. Thresholds: Lifecycle &lt;10% green, &gt;30% red; findings/app &lt;2 green, &gt;8 red; Sonar and data quality ≥80%/90% green; E2E ≥60%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the four actions leadership is asked to endorse, dated backwards from the 1 Dec EOL wave. Bottom: where the exposure sits by manager. No MEND critical findings are open. Owners and dates are placeholders.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chart" Target="/ppt/charts/chart1.xml"/><Relationship Id="rId5" Type="http://schemas.openxmlformats.org/officeDocument/2006/relationships/chart" Target="/ppt/charts/chart2.xml"/><Relationship Id="rId7" Type="http://schemas.openxmlformats.org/officeDocument/2006/relationships/chart" Target="/ppt/charts/chart3.xml"/><Relationship Id="rId9" Type="http://schemas.openxmlformats.org/officeDocument/2006/relationships/chart" Target="/ppt/charts/chart4.xml"/><Relationship Id="rId1"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6" Type="http://schemas.openxmlformats.org/officeDocument/2006/relationships/image" Target="../media/image-2-4.png"/><Relationship Id="rId8" Type="http://schemas.openxmlformats.org/officeDocument/2006/relationships/image" Target="../media/image-2-5.png"/><Relationship Id="rId10" Type="http://schemas.openxmlformats.org/officeDocument/2006/relationships/slideLayout" Target="../slideLayouts/slideLayout1.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548640"/>
          </a:xfrm>
          <a:prstGeom prst="rect">
            <a:avLst/>
          </a:prstGeom>
          <a:noFill/>
          <a:ln/>
        </p:spPr>
        <p:txBody>
          <a:bodyPr wrap="square" lIns="0" tIns="0" rIns="0" bIns="0" rtlCol="0" anchor="ctr"/>
          <a:lstStyle/>
          <a:p>
            <a:pPr indent="0" marL="0">
              <a:buNone/>
            </a:pPr>
            <a:r>
              <a:rPr lang="en-US" sz="2800" b="1" dirty="0">
                <a:solidFill>
                  <a:srgbClr val="12402A"/>
                </a:solidFill>
                <a:latin typeface="Calibri" pitchFamily="34" charset="0"/>
                <a:ea typeface="Calibri" pitchFamily="34" charset="-122"/>
                <a:cs typeface="Calibri" pitchFamily="34" charset="-120"/>
              </a:rPr>
              <a:t>128 applications on one page</a:t>
            </a:r>
            <a:endParaRPr lang="en-US" sz="2800" dirty="0"/>
          </a:p>
        </p:txBody>
      </p:sp>
      <p:sp>
        <p:nvSpPr>
          <p:cNvPr id="3" name="Text 1"/>
          <p:cNvSpPr txBox="1"/>
          <p:nvPr/>
        </p:nvSpPr>
        <p:spPr>
          <a:xfrm>
            <a:off x="548640" y="868680"/>
            <a:ext cx="11094415" cy="320040"/>
          </a:xfrm>
          <a:prstGeom prst="rect">
            <a:avLst/>
          </a:prstGeom>
          <a:noFill/>
          <a:ln/>
        </p:spPr>
        <p:txBody>
          <a:bodyPr wrap="square" lIns="0" tIns="0" rIns="0" bIns="0" rtlCol="0" anchor="ctr"/>
          <a:lstStyle/>
          <a:p>
            <a:pPr indent="0" marL="0">
              <a:buNone/>
            </a:pPr>
            <a:r>
              <a:rPr lang="en-US" sz="1300" dirty="0">
                <a:solidFill>
                  <a:srgbClr val="5B6670"/>
                </a:solidFill>
                <a:latin typeface="Calibri" pitchFamily="34" charset="0"/>
                <a:ea typeface="Calibri" pitchFamily="34" charset="-122"/>
                <a:cs typeface="Calibri" pitchFamily="34" charset="-120"/>
              </a:rPr>
              <a:t>Every square is one app — colour shows its stage, the letter its type, the amber dot an approaching end-of-life date</a:t>
            </a:r>
            <a:endParaRPr lang="en-US" sz="1300" dirty="0"/>
          </a:p>
        </p:txBody>
      </p:sp>
      <p:sp>
        <p:nvSpPr>
          <p:cNvPr id="4" name="Text 2"/>
          <p:cNvSpPr txBox="1"/>
          <p:nvPr/>
        </p:nvSpPr>
        <p:spPr>
          <a:xfrm>
            <a:off x="7040880" y="6473952"/>
            <a:ext cx="4599432" cy="22860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SAMPLE DATA — illustrative  ·  App Inventory, Sep 2026  ·  1</a:t>
            </a:r>
            <a:endParaRPr lang="en-US" sz="900" dirty="0"/>
          </a:p>
        </p:txBody>
      </p:sp>
      <p:sp>
        <p:nvSpPr>
          <p:cNvPr id="5" name="Text 3"/>
          <p:cNvSpPr txBox="1"/>
          <p:nvPr/>
        </p:nvSpPr>
        <p:spPr>
          <a:xfrm>
            <a:off x="548640" y="1325880"/>
            <a:ext cx="1849069" cy="502920"/>
          </a:xfrm>
          <a:prstGeom prst="rect">
            <a:avLst/>
          </a:prstGeom>
          <a:noFill/>
          <a:ln/>
        </p:spPr>
        <p:txBody>
          <a:bodyPr wrap="square" lIns="0" tIns="0" rIns="0" bIns="0" rtlCol="0" anchor="ctr"/>
          <a:lstStyle/>
          <a:p>
            <a:pPr indent="0" marL="0">
              <a:buNone/>
            </a:pPr>
            <a:r>
              <a:rPr lang="en-US" sz="3000" b="1" dirty="0">
                <a:solidFill>
                  <a:srgbClr val="12402A"/>
                </a:solidFill>
                <a:latin typeface="Calibri" pitchFamily="34" charset="0"/>
                <a:ea typeface="Calibri" pitchFamily="34" charset="-122"/>
                <a:cs typeface="Calibri" pitchFamily="34" charset="-120"/>
              </a:rPr>
              <a:t>128</a:t>
            </a:r>
            <a:endParaRPr lang="en-US" sz="3000" dirty="0"/>
          </a:p>
        </p:txBody>
      </p:sp>
      <p:sp>
        <p:nvSpPr>
          <p:cNvPr id="6" name="Text 4"/>
          <p:cNvSpPr txBox="1"/>
          <p:nvPr/>
        </p:nvSpPr>
        <p:spPr>
          <a:xfrm>
            <a:off x="548640" y="1828800"/>
            <a:ext cx="1849069" cy="274320"/>
          </a:xfrm>
          <a:prstGeom prst="rect">
            <a:avLst/>
          </a:prstGeom>
          <a:noFill/>
          <a:ln/>
        </p:spPr>
        <p:txBody>
          <a:bodyPr wrap="square" lIns="0" tIns="0" rIns="0" bIns="0" rtlCol="0" anchor="ctr"/>
          <a:lstStyle/>
          <a:p>
            <a:pPr indent="0" marL="0">
              <a:buNone/>
            </a:pPr>
            <a:r>
              <a:rPr lang="en-US" sz="1100" dirty="0">
                <a:solidFill>
                  <a:srgbClr val="5B6670"/>
                </a:solidFill>
                <a:latin typeface="Calibri" pitchFamily="34" charset="0"/>
                <a:ea typeface="Calibri" pitchFamily="34" charset="-122"/>
                <a:cs typeface="Calibri" pitchFamily="34" charset="-120"/>
              </a:rPr>
              <a:t>applications</a:t>
            </a:r>
            <a:endParaRPr lang="en-US" sz="1100" dirty="0"/>
          </a:p>
        </p:txBody>
      </p:sp>
      <p:sp>
        <p:nvSpPr>
          <p:cNvPr id="7" name="Text 5"/>
          <p:cNvSpPr txBox="1"/>
          <p:nvPr/>
        </p:nvSpPr>
        <p:spPr>
          <a:xfrm>
            <a:off x="2397709" y="1325880"/>
            <a:ext cx="1849069" cy="502920"/>
          </a:xfrm>
          <a:prstGeom prst="rect">
            <a:avLst/>
          </a:prstGeom>
          <a:noFill/>
          <a:ln/>
        </p:spPr>
        <p:txBody>
          <a:bodyPr wrap="square" lIns="0" tIns="0" rIns="0" bIns="0" rtlCol="0" anchor="ctr"/>
          <a:lstStyle/>
          <a:p>
            <a:pPr indent="0" marL="0">
              <a:buNone/>
            </a:pPr>
            <a:r>
              <a:rPr lang="en-US" sz="3000" b="1" dirty="0">
                <a:solidFill>
                  <a:srgbClr val="1E5B34"/>
                </a:solidFill>
                <a:latin typeface="Calibri" pitchFamily="34" charset="0"/>
                <a:ea typeface="Calibri" pitchFamily="34" charset="-122"/>
                <a:cs typeface="Calibri" pitchFamily="34" charset="-120"/>
              </a:rPr>
              <a:t>56</a:t>
            </a:r>
            <a:endParaRPr lang="en-US" sz="3000" dirty="0"/>
          </a:p>
        </p:txBody>
      </p:sp>
      <p:sp>
        <p:nvSpPr>
          <p:cNvPr id="8" name="Text 6"/>
          <p:cNvSpPr txBox="1"/>
          <p:nvPr/>
        </p:nvSpPr>
        <p:spPr>
          <a:xfrm>
            <a:off x="2397709" y="1828800"/>
            <a:ext cx="1849069" cy="274320"/>
          </a:xfrm>
          <a:prstGeom prst="rect">
            <a:avLst/>
          </a:prstGeom>
          <a:noFill/>
          <a:ln/>
        </p:spPr>
        <p:txBody>
          <a:bodyPr wrap="square" lIns="0" tIns="0" rIns="0" bIns="0" rtlCol="0" anchor="ctr"/>
          <a:lstStyle/>
          <a:p>
            <a:pPr indent="0" marL="0">
              <a:buNone/>
            </a:pPr>
            <a:r>
              <a:rPr lang="en-US" sz="1100" dirty="0">
                <a:solidFill>
                  <a:srgbClr val="5B6670"/>
                </a:solidFill>
                <a:latin typeface="Calibri" pitchFamily="34" charset="0"/>
                <a:ea typeface="Calibri" pitchFamily="34" charset="-122"/>
                <a:cs typeface="Calibri" pitchFamily="34" charset="-120"/>
              </a:rPr>
              <a:t>in production</a:t>
            </a:r>
            <a:endParaRPr lang="en-US" sz="1100" dirty="0"/>
          </a:p>
        </p:txBody>
      </p:sp>
      <p:sp>
        <p:nvSpPr>
          <p:cNvPr id="9" name="Text 7"/>
          <p:cNvSpPr txBox="1"/>
          <p:nvPr/>
        </p:nvSpPr>
        <p:spPr>
          <a:xfrm>
            <a:off x="4246778" y="1325880"/>
            <a:ext cx="1849069" cy="502920"/>
          </a:xfrm>
          <a:prstGeom prst="rect">
            <a:avLst/>
          </a:prstGeom>
          <a:noFill/>
          <a:ln/>
        </p:spPr>
        <p:txBody>
          <a:bodyPr wrap="square" lIns="0" tIns="0" rIns="0" bIns="0" rtlCol="0" anchor="ctr"/>
          <a:lstStyle/>
          <a:p>
            <a:pPr indent="0" marL="0">
              <a:buNone/>
            </a:pPr>
            <a:r>
              <a:rPr lang="en-US" sz="3000" b="1" dirty="0">
                <a:solidFill>
                  <a:srgbClr val="E0A31A"/>
                </a:solidFill>
                <a:latin typeface="Calibri" pitchFamily="34" charset="0"/>
                <a:ea typeface="Calibri" pitchFamily="34" charset="-122"/>
                <a:cs typeface="Calibri" pitchFamily="34" charset="-120"/>
              </a:rPr>
              <a:t>32</a:t>
            </a:r>
            <a:endParaRPr lang="en-US" sz="3000" dirty="0"/>
          </a:p>
        </p:txBody>
      </p:sp>
      <p:sp>
        <p:nvSpPr>
          <p:cNvPr id="10" name="Text 8"/>
          <p:cNvSpPr txBox="1"/>
          <p:nvPr/>
        </p:nvSpPr>
        <p:spPr>
          <a:xfrm>
            <a:off x="4246778" y="1828800"/>
            <a:ext cx="1849069" cy="274320"/>
          </a:xfrm>
          <a:prstGeom prst="rect">
            <a:avLst/>
          </a:prstGeom>
          <a:noFill/>
          <a:ln/>
        </p:spPr>
        <p:txBody>
          <a:bodyPr wrap="square" lIns="0" tIns="0" rIns="0" bIns="0" rtlCol="0" anchor="ctr"/>
          <a:lstStyle/>
          <a:p>
            <a:pPr indent="0" marL="0">
              <a:buNone/>
            </a:pPr>
            <a:r>
              <a:rPr lang="en-US" sz="1100" dirty="0">
                <a:solidFill>
                  <a:srgbClr val="5B6670"/>
                </a:solidFill>
                <a:latin typeface="Calibri" pitchFamily="34" charset="0"/>
                <a:ea typeface="Calibri" pitchFamily="34" charset="-122"/>
                <a:cs typeface="Calibri" pitchFamily="34" charset="-120"/>
              </a:rPr>
              <a:t>approaching EOL</a:t>
            </a:r>
            <a:endParaRPr lang="en-US" sz="1100" dirty="0"/>
          </a:p>
        </p:txBody>
      </p:sp>
      <p:sp>
        <p:nvSpPr>
          <p:cNvPr id="11" name="Text 9"/>
          <p:cNvSpPr txBox="1"/>
          <p:nvPr/>
        </p:nvSpPr>
        <p:spPr>
          <a:xfrm>
            <a:off x="6095848" y="1325880"/>
            <a:ext cx="1849069" cy="502920"/>
          </a:xfrm>
          <a:prstGeom prst="rect">
            <a:avLst/>
          </a:prstGeom>
          <a:noFill/>
          <a:ln/>
        </p:spPr>
        <p:txBody>
          <a:bodyPr wrap="square" lIns="0" tIns="0" rIns="0" bIns="0" rtlCol="0" anchor="ctr"/>
          <a:lstStyle/>
          <a:p>
            <a:pPr indent="0" marL="0">
              <a:buNone/>
            </a:pPr>
            <a:r>
              <a:rPr lang="en-US" sz="3000" b="1" dirty="0">
                <a:solidFill>
                  <a:srgbClr val="C0392B"/>
                </a:solidFill>
                <a:latin typeface="Calibri" pitchFamily="34" charset="0"/>
                <a:ea typeface="Calibri" pitchFamily="34" charset="-122"/>
                <a:cs typeface="Calibri" pitchFamily="34" charset="-120"/>
              </a:rPr>
              <a:t>23</a:t>
            </a:r>
            <a:endParaRPr lang="en-US" sz="3000" dirty="0"/>
          </a:p>
        </p:txBody>
      </p:sp>
      <p:sp>
        <p:nvSpPr>
          <p:cNvPr id="12" name="Text 10"/>
          <p:cNvSpPr txBox="1"/>
          <p:nvPr/>
        </p:nvSpPr>
        <p:spPr>
          <a:xfrm>
            <a:off x="6095848" y="1828800"/>
            <a:ext cx="1849069" cy="274320"/>
          </a:xfrm>
          <a:prstGeom prst="rect">
            <a:avLst/>
          </a:prstGeom>
          <a:noFill/>
          <a:ln/>
        </p:spPr>
        <p:txBody>
          <a:bodyPr wrap="square" lIns="0" tIns="0" rIns="0" bIns="0" rtlCol="0" anchor="ctr"/>
          <a:lstStyle/>
          <a:p>
            <a:pPr indent="0" marL="0">
              <a:buNone/>
            </a:pPr>
            <a:r>
              <a:rPr lang="en-US" sz="1100" dirty="0">
                <a:solidFill>
                  <a:srgbClr val="5B6670"/>
                </a:solidFill>
                <a:latin typeface="Calibri" pitchFamily="34" charset="0"/>
                <a:ea typeface="Calibri" pitchFamily="34" charset="-122"/>
                <a:cs typeface="Calibri" pitchFamily="34" charset="-120"/>
              </a:rPr>
              <a:t>secrets exposed</a:t>
            </a:r>
            <a:endParaRPr lang="en-US" sz="1100" dirty="0"/>
          </a:p>
        </p:txBody>
      </p:sp>
      <p:sp>
        <p:nvSpPr>
          <p:cNvPr id="13" name="Text 11"/>
          <p:cNvSpPr txBox="1"/>
          <p:nvPr/>
        </p:nvSpPr>
        <p:spPr>
          <a:xfrm>
            <a:off x="7944917" y="1325880"/>
            <a:ext cx="1849069" cy="502920"/>
          </a:xfrm>
          <a:prstGeom prst="rect">
            <a:avLst/>
          </a:prstGeom>
          <a:noFill/>
          <a:ln/>
        </p:spPr>
        <p:txBody>
          <a:bodyPr wrap="square" lIns="0" tIns="0" rIns="0" bIns="0" rtlCol="0" anchor="ctr"/>
          <a:lstStyle/>
          <a:p>
            <a:pPr indent="0" marL="0">
              <a:buNone/>
            </a:pPr>
            <a:r>
              <a:rPr lang="en-US" sz="3000" b="1" dirty="0">
                <a:solidFill>
                  <a:srgbClr val="5B6670"/>
                </a:solidFill>
                <a:latin typeface="Calibri" pitchFamily="34" charset="0"/>
                <a:ea typeface="Calibri" pitchFamily="34" charset="-122"/>
                <a:cs typeface="Calibri" pitchFamily="34" charset="-120"/>
              </a:rPr>
              <a:t>49</a:t>
            </a:r>
            <a:endParaRPr lang="en-US" sz="3000" dirty="0"/>
          </a:p>
        </p:txBody>
      </p:sp>
      <p:sp>
        <p:nvSpPr>
          <p:cNvPr id="14" name="Text 12"/>
          <p:cNvSpPr txBox="1"/>
          <p:nvPr/>
        </p:nvSpPr>
        <p:spPr>
          <a:xfrm>
            <a:off x="7944917" y="1828800"/>
            <a:ext cx="1849069" cy="274320"/>
          </a:xfrm>
          <a:prstGeom prst="rect">
            <a:avLst/>
          </a:prstGeom>
          <a:noFill/>
          <a:ln/>
        </p:spPr>
        <p:txBody>
          <a:bodyPr wrap="square" lIns="0" tIns="0" rIns="0" bIns="0" rtlCol="0" anchor="ctr"/>
          <a:lstStyle/>
          <a:p>
            <a:pPr indent="0" marL="0">
              <a:buNone/>
            </a:pPr>
            <a:r>
              <a:rPr lang="en-US" sz="1100" dirty="0">
                <a:solidFill>
                  <a:srgbClr val="5B6670"/>
                </a:solidFill>
                <a:latin typeface="Calibri" pitchFamily="34" charset="0"/>
                <a:ea typeface="Calibri" pitchFamily="34" charset="-122"/>
                <a:cs typeface="Calibri" pitchFamily="34" charset="-120"/>
              </a:rPr>
              <a:t>with no app type</a:t>
            </a:r>
            <a:endParaRPr lang="en-US" sz="1100" dirty="0"/>
          </a:p>
        </p:txBody>
      </p:sp>
      <p:sp>
        <p:nvSpPr>
          <p:cNvPr id="15" name="Text 13"/>
          <p:cNvSpPr txBox="1"/>
          <p:nvPr/>
        </p:nvSpPr>
        <p:spPr>
          <a:xfrm>
            <a:off x="9793986" y="1325880"/>
            <a:ext cx="1849069" cy="502920"/>
          </a:xfrm>
          <a:prstGeom prst="rect">
            <a:avLst/>
          </a:prstGeom>
          <a:noFill/>
          <a:ln/>
        </p:spPr>
        <p:txBody>
          <a:bodyPr wrap="square" lIns="0" tIns="0" rIns="0" bIns="0" rtlCol="0" anchor="ctr"/>
          <a:lstStyle/>
          <a:p>
            <a:pPr indent="0" marL="0">
              <a:buNone/>
            </a:pPr>
            <a:r>
              <a:rPr lang="en-US" sz="3000" b="1" dirty="0">
                <a:solidFill>
                  <a:srgbClr val="C0392B"/>
                </a:solidFill>
                <a:latin typeface="Calibri" pitchFamily="34" charset="0"/>
                <a:ea typeface="Calibri" pitchFamily="34" charset="-122"/>
                <a:cs typeface="Calibri" pitchFamily="34" charset="-120"/>
              </a:rPr>
              <a:t>4</a:t>
            </a:r>
            <a:endParaRPr lang="en-US" sz="3000" dirty="0"/>
          </a:p>
        </p:txBody>
      </p:sp>
      <p:sp>
        <p:nvSpPr>
          <p:cNvPr id="16" name="Text 14"/>
          <p:cNvSpPr txBox="1"/>
          <p:nvPr/>
        </p:nvSpPr>
        <p:spPr>
          <a:xfrm>
            <a:off x="9793986" y="1828800"/>
            <a:ext cx="1849069" cy="274320"/>
          </a:xfrm>
          <a:prstGeom prst="rect">
            <a:avLst/>
          </a:prstGeom>
          <a:noFill/>
          <a:ln/>
        </p:spPr>
        <p:txBody>
          <a:bodyPr wrap="square" lIns="0" tIns="0" rIns="0" bIns="0" rtlCol="0" anchor="ctr"/>
          <a:lstStyle/>
          <a:p>
            <a:pPr indent="0" marL="0">
              <a:buNone/>
            </a:pPr>
            <a:r>
              <a:rPr lang="en-US" sz="1100" dirty="0">
                <a:solidFill>
                  <a:srgbClr val="5B6670"/>
                </a:solidFill>
                <a:latin typeface="Calibri" pitchFamily="34" charset="0"/>
                <a:ea typeface="Calibri" pitchFamily="34" charset="-122"/>
                <a:cs typeface="Calibri" pitchFamily="34" charset="-120"/>
              </a:rPr>
              <a:t>with good E2E automation</a:t>
            </a:r>
            <a:endParaRPr lang="en-US" sz="1100" dirty="0"/>
          </a:p>
        </p:txBody>
      </p:sp>
      <p:sp>
        <p:nvSpPr>
          <p:cNvPr id="17" name="Shape 15"/>
          <p:cNvSpPr/>
          <p:nvPr/>
        </p:nvSpPr>
        <p:spPr>
          <a:xfrm>
            <a:off x="548640" y="2240280"/>
            <a:ext cx="11094415" cy="10973"/>
          </a:xfrm>
          <a:prstGeom prst="rect">
            <a:avLst/>
          </a:prstGeom>
          <a:solidFill>
            <a:srgbClr val="D5D9DE"/>
          </a:solidFill>
          <a:ln w="12700">
            <a:solidFill>
              <a:srgbClr val="D5D9DE"/>
            </a:solidFill>
            <a:prstDash val="solid"/>
          </a:ln>
        </p:spPr>
      </p:sp>
      <p:sp>
        <p:nvSpPr>
          <p:cNvPr id="18" name="Text 16"/>
          <p:cNvSpPr txBox="1"/>
          <p:nvPr/>
        </p:nvSpPr>
        <p:spPr>
          <a:xfrm>
            <a:off x="548640" y="2395728"/>
            <a:ext cx="1414211" cy="411480"/>
          </a:xfrm>
          <a:prstGeom prst="rect">
            <a:avLst/>
          </a:prstGeom>
          <a:noFill/>
          <a:ln/>
        </p:spPr>
        <p:txBody>
          <a:bodyPr wrap="square" lIns="0" tIns="0" rIns="0" bIns="0" rtlCol="0" anchor="ctr"/>
          <a:lstStyle/>
          <a:p>
            <a:pPr indent="0" marL="0">
              <a:buNone/>
            </a:pPr>
            <a:r>
              <a:rPr lang="en-US" sz="1300" b="1" dirty="0">
                <a:solidFill>
                  <a:srgbClr val="12402A"/>
                </a:solidFill>
                <a:latin typeface="Calibri" pitchFamily="34" charset="0"/>
                <a:ea typeface="Calibri" pitchFamily="34" charset="-122"/>
                <a:cs typeface="Calibri" pitchFamily="34" charset="-120"/>
              </a:rPr>
              <a:t>Siva Velusamy</a:t>
            </a:r>
            <a:endParaRPr lang="en-US" sz="1300" dirty="0"/>
          </a:p>
        </p:txBody>
      </p:sp>
      <p:sp>
        <p:nvSpPr>
          <p:cNvPr id="19" name="Text 17"/>
          <p:cNvSpPr txBox="1"/>
          <p:nvPr/>
        </p:nvSpPr>
        <p:spPr>
          <a:xfrm>
            <a:off x="1962851" y="2359152"/>
            <a:ext cx="548640" cy="457200"/>
          </a:xfrm>
          <a:prstGeom prst="rect">
            <a:avLst/>
          </a:prstGeom>
          <a:noFill/>
          <a:ln/>
        </p:spPr>
        <p:txBody>
          <a:bodyPr wrap="square" lIns="0" tIns="0" rIns="0" bIns="0" rtlCol="0" anchor="ctr"/>
          <a:lstStyle/>
          <a:p>
            <a:pPr algn="r" indent="0" marL="0">
              <a:buNone/>
            </a:pPr>
            <a:r>
              <a:rPr lang="en-US" sz="2200" b="1" dirty="0">
                <a:solidFill>
                  <a:srgbClr val="368727"/>
                </a:solidFill>
                <a:latin typeface="Calibri" pitchFamily="34" charset="0"/>
                <a:ea typeface="Calibri" pitchFamily="34" charset="-122"/>
                <a:cs typeface="Calibri" pitchFamily="34" charset="-120"/>
              </a:rPr>
              <a:t>12</a:t>
            </a:r>
            <a:endParaRPr lang="en-US" sz="2200" dirty="0"/>
          </a:p>
        </p:txBody>
      </p:sp>
      <p:sp>
        <p:nvSpPr>
          <p:cNvPr id="20" name="Shape 18"/>
          <p:cNvSpPr/>
          <p:nvPr/>
        </p:nvSpPr>
        <p:spPr>
          <a:xfrm>
            <a:off x="548640" y="2880360"/>
            <a:ext cx="283464" cy="283464"/>
          </a:xfrm>
          <a:prstGeom prst="roundRect">
            <a:avLst>
              <a:gd name="adj" fmla="val 12903"/>
            </a:avLst>
          </a:prstGeom>
          <a:solidFill>
            <a:srgbClr val="1E5B34"/>
          </a:solidFill>
          <a:ln w="12700">
            <a:solidFill>
              <a:srgbClr val="1E5B34"/>
            </a:solidFill>
            <a:prstDash val="solid"/>
          </a:ln>
        </p:spPr>
      </p:sp>
      <p:sp>
        <p:nvSpPr>
          <p:cNvPr id="21" name="Text 19"/>
          <p:cNvSpPr txBox="1"/>
          <p:nvPr/>
        </p:nvSpPr>
        <p:spPr>
          <a:xfrm>
            <a:off x="548640" y="2880360"/>
            <a:ext cx="283464" cy="2834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a:t>
            </a:r>
            <a:endParaRPr lang="en-US" sz="900" dirty="0"/>
          </a:p>
        </p:txBody>
      </p:sp>
      <p:sp>
        <p:nvSpPr>
          <p:cNvPr id="22" name="Shape 20"/>
          <p:cNvSpPr/>
          <p:nvPr/>
        </p:nvSpPr>
        <p:spPr>
          <a:xfrm>
            <a:off x="740664" y="2852928"/>
            <a:ext cx="118872" cy="118872"/>
          </a:xfrm>
          <a:prstGeom prst="ellipse">
            <a:avLst/>
          </a:prstGeom>
          <a:solidFill>
            <a:srgbClr val="E0A31A"/>
          </a:solidFill>
          <a:ln w="12700">
            <a:solidFill>
              <a:srgbClr val="E0A31A"/>
            </a:solidFill>
            <a:prstDash val="solid"/>
          </a:ln>
        </p:spPr>
      </p:sp>
      <p:sp>
        <p:nvSpPr>
          <p:cNvPr id="23" name="Shape 21"/>
          <p:cNvSpPr/>
          <p:nvPr/>
        </p:nvSpPr>
        <p:spPr>
          <a:xfrm>
            <a:off x="873252" y="2880360"/>
            <a:ext cx="283464" cy="283464"/>
          </a:xfrm>
          <a:prstGeom prst="roundRect">
            <a:avLst>
              <a:gd name="adj" fmla="val 12903"/>
            </a:avLst>
          </a:prstGeom>
          <a:solidFill>
            <a:srgbClr val="1E5B34"/>
          </a:solidFill>
          <a:ln w="12700">
            <a:solidFill>
              <a:srgbClr val="1E5B34"/>
            </a:solidFill>
            <a:prstDash val="solid"/>
          </a:ln>
        </p:spPr>
      </p:sp>
      <p:sp>
        <p:nvSpPr>
          <p:cNvPr id="24" name="Text 22"/>
          <p:cNvSpPr txBox="1"/>
          <p:nvPr/>
        </p:nvSpPr>
        <p:spPr>
          <a:xfrm>
            <a:off x="873252" y="2880360"/>
            <a:ext cx="283464" cy="2834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Shape 23"/>
          <p:cNvSpPr/>
          <p:nvPr/>
        </p:nvSpPr>
        <p:spPr>
          <a:xfrm>
            <a:off x="1065276" y="2852928"/>
            <a:ext cx="118872" cy="118872"/>
          </a:xfrm>
          <a:prstGeom prst="ellipse">
            <a:avLst/>
          </a:prstGeom>
          <a:solidFill>
            <a:srgbClr val="E0A31A"/>
          </a:solidFill>
          <a:ln w="12700">
            <a:solidFill>
              <a:srgbClr val="E0A31A"/>
            </a:solidFill>
            <a:prstDash val="solid"/>
          </a:ln>
        </p:spPr>
      </p:sp>
      <p:sp>
        <p:nvSpPr>
          <p:cNvPr id="26" name="Shape 24"/>
          <p:cNvSpPr/>
          <p:nvPr/>
        </p:nvSpPr>
        <p:spPr>
          <a:xfrm>
            <a:off x="1197864" y="2880360"/>
            <a:ext cx="283464" cy="283464"/>
          </a:xfrm>
          <a:prstGeom prst="roundRect">
            <a:avLst>
              <a:gd name="adj" fmla="val 12903"/>
            </a:avLst>
          </a:prstGeom>
          <a:solidFill>
            <a:srgbClr val="1E5B34"/>
          </a:solidFill>
          <a:ln w="12700">
            <a:solidFill>
              <a:srgbClr val="1E5B34"/>
            </a:solidFill>
            <a:prstDash val="solid"/>
          </a:ln>
        </p:spPr>
      </p:sp>
      <p:sp>
        <p:nvSpPr>
          <p:cNvPr id="27" name="Text 25"/>
          <p:cNvSpPr txBox="1"/>
          <p:nvPr/>
        </p:nvSpPr>
        <p:spPr>
          <a:xfrm>
            <a:off x="1197864" y="2880360"/>
            <a:ext cx="283464" cy="2834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U</a:t>
            </a:r>
            <a:endParaRPr lang="en-US" sz="900" dirty="0"/>
          </a:p>
        </p:txBody>
      </p:sp>
      <p:sp>
        <p:nvSpPr>
          <p:cNvPr id="28" name="Shape 26"/>
          <p:cNvSpPr/>
          <p:nvPr/>
        </p:nvSpPr>
        <p:spPr>
          <a:xfrm>
            <a:off x="1389888" y="2852928"/>
            <a:ext cx="118872" cy="118872"/>
          </a:xfrm>
          <a:prstGeom prst="ellipse">
            <a:avLst/>
          </a:prstGeom>
          <a:solidFill>
            <a:srgbClr val="E0A31A"/>
          </a:solidFill>
          <a:ln w="12700">
            <a:solidFill>
              <a:srgbClr val="E0A31A"/>
            </a:solidFill>
            <a:prstDash val="solid"/>
          </a:ln>
        </p:spPr>
      </p:sp>
      <p:sp>
        <p:nvSpPr>
          <p:cNvPr id="29" name="Shape 27"/>
          <p:cNvSpPr/>
          <p:nvPr/>
        </p:nvSpPr>
        <p:spPr>
          <a:xfrm>
            <a:off x="1522476" y="2880360"/>
            <a:ext cx="283464" cy="283464"/>
          </a:xfrm>
          <a:prstGeom prst="roundRect">
            <a:avLst>
              <a:gd name="adj" fmla="val 12903"/>
            </a:avLst>
          </a:prstGeom>
          <a:solidFill>
            <a:srgbClr val="1E5B34"/>
          </a:solidFill>
          <a:ln w="12700">
            <a:solidFill>
              <a:srgbClr val="1E5B34"/>
            </a:solidFill>
            <a:prstDash val="solid"/>
          </a:ln>
        </p:spPr>
      </p:sp>
      <p:sp>
        <p:nvSpPr>
          <p:cNvPr id="30" name="Text 28"/>
          <p:cNvSpPr txBox="1"/>
          <p:nvPr/>
        </p:nvSpPr>
        <p:spPr>
          <a:xfrm>
            <a:off x="1522476" y="2880360"/>
            <a:ext cx="283464" cy="2834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U</a:t>
            </a:r>
            <a:endParaRPr lang="en-US" sz="900" dirty="0"/>
          </a:p>
        </p:txBody>
      </p:sp>
      <p:sp>
        <p:nvSpPr>
          <p:cNvPr id="31" name="Shape 29"/>
          <p:cNvSpPr/>
          <p:nvPr/>
        </p:nvSpPr>
        <p:spPr>
          <a:xfrm>
            <a:off x="1714500" y="2852928"/>
            <a:ext cx="118872" cy="118872"/>
          </a:xfrm>
          <a:prstGeom prst="ellipse">
            <a:avLst/>
          </a:prstGeom>
          <a:solidFill>
            <a:srgbClr val="E0A31A"/>
          </a:solidFill>
          <a:ln w="12700">
            <a:solidFill>
              <a:srgbClr val="E0A31A"/>
            </a:solidFill>
            <a:prstDash val="solid"/>
          </a:ln>
        </p:spPr>
      </p:sp>
      <p:sp>
        <p:nvSpPr>
          <p:cNvPr id="32" name="Shape 30"/>
          <p:cNvSpPr/>
          <p:nvPr/>
        </p:nvSpPr>
        <p:spPr>
          <a:xfrm>
            <a:off x="1847088" y="2880360"/>
            <a:ext cx="283464" cy="283464"/>
          </a:xfrm>
          <a:prstGeom prst="roundRect">
            <a:avLst>
              <a:gd name="adj" fmla="val 12903"/>
            </a:avLst>
          </a:prstGeom>
          <a:solidFill>
            <a:srgbClr val="1E5B34"/>
          </a:solidFill>
          <a:ln w="12700">
            <a:solidFill>
              <a:srgbClr val="1E5B34"/>
            </a:solidFill>
            <a:prstDash val="solid"/>
          </a:ln>
        </p:spPr>
      </p:sp>
      <p:sp>
        <p:nvSpPr>
          <p:cNvPr id="33" name="Text 31"/>
          <p:cNvSpPr txBox="1"/>
          <p:nvPr/>
        </p:nvSpPr>
        <p:spPr>
          <a:xfrm>
            <a:off x="1847088" y="2880360"/>
            <a:ext cx="283464" cy="2834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U</a:t>
            </a:r>
            <a:endParaRPr lang="en-US" sz="900" dirty="0"/>
          </a:p>
        </p:txBody>
      </p:sp>
      <p:sp>
        <p:nvSpPr>
          <p:cNvPr id="34" name="Shape 32"/>
          <p:cNvSpPr/>
          <p:nvPr/>
        </p:nvSpPr>
        <p:spPr>
          <a:xfrm>
            <a:off x="2039112" y="2852928"/>
            <a:ext cx="118872" cy="118872"/>
          </a:xfrm>
          <a:prstGeom prst="ellipse">
            <a:avLst/>
          </a:prstGeom>
          <a:solidFill>
            <a:srgbClr val="E0A31A"/>
          </a:solidFill>
          <a:ln w="12700">
            <a:solidFill>
              <a:srgbClr val="E0A31A"/>
            </a:solidFill>
            <a:prstDash val="solid"/>
          </a:ln>
        </p:spPr>
      </p:sp>
      <p:sp>
        <p:nvSpPr>
          <p:cNvPr id="35" name="Shape 33"/>
          <p:cNvSpPr/>
          <p:nvPr/>
        </p:nvSpPr>
        <p:spPr>
          <a:xfrm>
            <a:off x="2171700" y="2880360"/>
            <a:ext cx="283464" cy="283464"/>
          </a:xfrm>
          <a:prstGeom prst="roundRect">
            <a:avLst>
              <a:gd name="adj" fmla="val 12903"/>
            </a:avLst>
          </a:prstGeom>
          <a:solidFill>
            <a:srgbClr val="1E5B34"/>
          </a:solidFill>
          <a:ln w="12700">
            <a:solidFill>
              <a:srgbClr val="1E5B34"/>
            </a:solidFill>
            <a:prstDash val="solid"/>
          </a:ln>
        </p:spPr>
      </p:sp>
      <p:sp>
        <p:nvSpPr>
          <p:cNvPr id="36" name="Text 34"/>
          <p:cNvSpPr txBox="1"/>
          <p:nvPr/>
        </p:nvSpPr>
        <p:spPr>
          <a:xfrm>
            <a:off x="2171700" y="2880360"/>
            <a:ext cx="283464" cy="2834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U</a:t>
            </a:r>
            <a:endParaRPr lang="en-US" sz="900" dirty="0"/>
          </a:p>
        </p:txBody>
      </p:sp>
      <p:sp>
        <p:nvSpPr>
          <p:cNvPr id="37" name="Shape 35"/>
          <p:cNvSpPr/>
          <p:nvPr/>
        </p:nvSpPr>
        <p:spPr>
          <a:xfrm>
            <a:off x="548640" y="3204972"/>
            <a:ext cx="283464" cy="283464"/>
          </a:xfrm>
          <a:prstGeom prst="roundRect">
            <a:avLst>
              <a:gd name="adj" fmla="val 12903"/>
            </a:avLst>
          </a:prstGeom>
          <a:solidFill>
            <a:srgbClr val="6BA55D"/>
          </a:solidFill>
          <a:ln w="12700">
            <a:solidFill>
              <a:srgbClr val="6BA55D"/>
            </a:solidFill>
            <a:prstDash val="solid"/>
          </a:ln>
        </p:spPr>
      </p:sp>
      <p:sp>
        <p:nvSpPr>
          <p:cNvPr id="38" name="Text 36"/>
          <p:cNvSpPr txBox="1"/>
          <p:nvPr/>
        </p:nvSpPr>
        <p:spPr>
          <a:xfrm>
            <a:off x="548640" y="3204972"/>
            <a:ext cx="283464" cy="283464"/>
          </a:xfrm>
          <a:prstGeom prst="rect">
            <a:avLst/>
          </a:prstGeom>
          <a:noFill/>
          <a:ln/>
        </p:spPr>
        <p:txBody>
          <a:bodyPr wrap="square" lIns="0" tIns="0" rIns="0" bIns="0" rtlCol="0" anchor="ctr"/>
          <a:lstStyle/>
          <a:p>
            <a:pPr algn="ctr" indent="0" marL="0">
              <a:buNone/>
            </a:pPr>
            <a:r>
              <a:rPr lang="en-US" sz="900" b="1" dirty="0">
                <a:solidFill>
                  <a:srgbClr val="12402A"/>
                </a:solidFill>
                <a:latin typeface="Calibri" pitchFamily="34" charset="0"/>
                <a:ea typeface="Calibri" pitchFamily="34" charset="-122"/>
                <a:cs typeface="Calibri" pitchFamily="34" charset="-120"/>
              </a:rPr>
              <a:t>A</a:t>
            </a:r>
            <a:endParaRPr lang="en-US" sz="900" dirty="0"/>
          </a:p>
        </p:txBody>
      </p:sp>
      <p:sp>
        <p:nvSpPr>
          <p:cNvPr id="39" name="Shape 37"/>
          <p:cNvSpPr/>
          <p:nvPr/>
        </p:nvSpPr>
        <p:spPr>
          <a:xfrm>
            <a:off x="873252" y="3204972"/>
            <a:ext cx="283464" cy="283464"/>
          </a:xfrm>
          <a:prstGeom prst="roundRect">
            <a:avLst>
              <a:gd name="adj" fmla="val 12903"/>
            </a:avLst>
          </a:prstGeom>
          <a:solidFill>
            <a:srgbClr val="6BA55D"/>
          </a:solidFill>
          <a:ln w="12700">
            <a:solidFill>
              <a:srgbClr val="6BA55D"/>
            </a:solidFill>
            <a:prstDash val="solid"/>
          </a:ln>
        </p:spPr>
      </p:sp>
      <p:sp>
        <p:nvSpPr>
          <p:cNvPr id="40" name="Text 38"/>
          <p:cNvSpPr txBox="1"/>
          <p:nvPr/>
        </p:nvSpPr>
        <p:spPr>
          <a:xfrm>
            <a:off x="873252" y="3204972"/>
            <a:ext cx="283464" cy="283464"/>
          </a:xfrm>
          <a:prstGeom prst="rect">
            <a:avLst/>
          </a:prstGeom>
          <a:noFill/>
          <a:ln/>
        </p:spPr>
        <p:txBody>
          <a:bodyPr wrap="square" lIns="0" tIns="0" rIns="0" bIns="0" rtlCol="0" anchor="ctr"/>
          <a:lstStyle/>
          <a:p>
            <a:pPr algn="ctr" indent="0" marL="0">
              <a:buNone/>
            </a:pPr>
            <a:r>
              <a:rPr lang="en-US" sz="900" b="1" dirty="0">
                <a:solidFill>
                  <a:srgbClr val="12402A"/>
                </a:solidFill>
                <a:latin typeface="Calibri" pitchFamily="34" charset="0"/>
                <a:ea typeface="Calibri" pitchFamily="34" charset="-122"/>
                <a:cs typeface="Calibri" pitchFamily="34" charset="-120"/>
              </a:rPr>
              <a:t>A</a:t>
            </a:r>
            <a:endParaRPr lang="en-US" sz="900" dirty="0"/>
          </a:p>
        </p:txBody>
      </p:sp>
      <p:sp>
        <p:nvSpPr>
          <p:cNvPr id="41" name="Shape 39"/>
          <p:cNvSpPr/>
          <p:nvPr/>
        </p:nvSpPr>
        <p:spPr>
          <a:xfrm>
            <a:off x="1197864" y="3204972"/>
            <a:ext cx="283464" cy="283464"/>
          </a:xfrm>
          <a:prstGeom prst="roundRect">
            <a:avLst>
              <a:gd name="adj" fmla="val 12903"/>
            </a:avLst>
          </a:prstGeom>
          <a:solidFill>
            <a:srgbClr val="A9D08E"/>
          </a:solidFill>
          <a:ln w="12700">
            <a:solidFill>
              <a:srgbClr val="A9D08E"/>
            </a:solidFill>
            <a:prstDash val="solid"/>
          </a:ln>
        </p:spPr>
      </p:sp>
      <p:sp>
        <p:nvSpPr>
          <p:cNvPr id="42" name="Text 40"/>
          <p:cNvSpPr txBox="1"/>
          <p:nvPr/>
        </p:nvSpPr>
        <p:spPr>
          <a:xfrm>
            <a:off x="1197864" y="3204972"/>
            <a:ext cx="283464" cy="283464"/>
          </a:xfrm>
          <a:prstGeom prst="rect">
            <a:avLst/>
          </a:prstGeom>
          <a:noFill/>
          <a:ln/>
        </p:spPr>
        <p:txBody>
          <a:bodyPr wrap="square" lIns="0" tIns="0" rIns="0" bIns="0" rtlCol="0" anchor="ctr"/>
          <a:lstStyle/>
          <a:p>
            <a:pPr algn="ctr" indent="0" marL="0">
              <a:buNone/>
            </a:pPr>
            <a:r>
              <a:rPr lang="en-US" sz="900" b="1" dirty="0">
                <a:solidFill>
                  <a:srgbClr val="12402A"/>
                </a:solidFill>
                <a:latin typeface="Calibri" pitchFamily="34" charset="0"/>
                <a:ea typeface="Calibri" pitchFamily="34" charset="-122"/>
                <a:cs typeface="Calibri" pitchFamily="34" charset="-120"/>
              </a:rPr>
              <a:t>A</a:t>
            </a:r>
            <a:endParaRPr lang="en-US" sz="900" dirty="0"/>
          </a:p>
        </p:txBody>
      </p:sp>
      <p:sp>
        <p:nvSpPr>
          <p:cNvPr id="43" name="Shape 41"/>
          <p:cNvSpPr/>
          <p:nvPr/>
        </p:nvSpPr>
        <p:spPr>
          <a:xfrm>
            <a:off x="1522476" y="3204972"/>
            <a:ext cx="283464" cy="283464"/>
          </a:xfrm>
          <a:prstGeom prst="roundRect">
            <a:avLst>
              <a:gd name="adj" fmla="val 12903"/>
            </a:avLst>
          </a:prstGeom>
          <a:solidFill>
            <a:srgbClr val="A9D08E"/>
          </a:solidFill>
          <a:ln w="12700">
            <a:solidFill>
              <a:srgbClr val="A9D08E"/>
            </a:solidFill>
            <a:prstDash val="solid"/>
          </a:ln>
        </p:spPr>
      </p:sp>
      <p:sp>
        <p:nvSpPr>
          <p:cNvPr id="44" name="Text 42"/>
          <p:cNvSpPr txBox="1"/>
          <p:nvPr/>
        </p:nvSpPr>
        <p:spPr>
          <a:xfrm>
            <a:off x="1522476" y="3204972"/>
            <a:ext cx="283464" cy="283464"/>
          </a:xfrm>
          <a:prstGeom prst="rect">
            <a:avLst/>
          </a:prstGeom>
          <a:noFill/>
          <a:ln/>
        </p:spPr>
        <p:txBody>
          <a:bodyPr wrap="square" lIns="0" tIns="0" rIns="0" bIns="0" rtlCol="0" anchor="ctr"/>
          <a:lstStyle/>
          <a:p>
            <a:pPr algn="ctr" indent="0" marL="0">
              <a:buNone/>
            </a:pPr>
            <a:r>
              <a:rPr lang="en-US" sz="900" b="1" dirty="0">
                <a:solidFill>
                  <a:srgbClr val="12402A"/>
                </a:solidFill>
                <a:latin typeface="Calibri" pitchFamily="34" charset="0"/>
                <a:ea typeface="Calibri" pitchFamily="34" charset="-122"/>
                <a:cs typeface="Calibri" pitchFamily="34" charset="-120"/>
              </a:rPr>
              <a:t>M</a:t>
            </a:r>
            <a:endParaRPr lang="en-US" sz="900" dirty="0"/>
          </a:p>
        </p:txBody>
      </p:sp>
      <p:sp>
        <p:nvSpPr>
          <p:cNvPr id="45" name="Shape 43"/>
          <p:cNvSpPr/>
          <p:nvPr/>
        </p:nvSpPr>
        <p:spPr>
          <a:xfrm>
            <a:off x="1847088" y="3204972"/>
            <a:ext cx="283464" cy="283464"/>
          </a:xfrm>
          <a:prstGeom prst="roundRect">
            <a:avLst>
              <a:gd name="adj" fmla="val 12903"/>
            </a:avLst>
          </a:prstGeom>
          <a:solidFill>
            <a:srgbClr val="A9D08E"/>
          </a:solidFill>
          <a:ln w="12700">
            <a:solidFill>
              <a:srgbClr val="A9D08E"/>
            </a:solidFill>
            <a:prstDash val="solid"/>
          </a:ln>
        </p:spPr>
      </p:sp>
      <p:sp>
        <p:nvSpPr>
          <p:cNvPr id="46" name="Shape 44"/>
          <p:cNvSpPr/>
          <p:nvPr/>
        </p:nvSpPr>
        <p:spPr>
          <a:xfrm>
            <a:off x="2171700" y="3204972"/>
            <a:ext cx="283464" cy="283464"/>
          </a:xfrm>
          <a:prstGeom prst="roundRect">
            <a:avLst>
              <a:gd name="adj" fmla="val 12903"/>
            </a:avLst>
          </a:prstGeom>
          <a:solidFill>
            <a:srgbClr val="A9D08E"/>
          </a:solidFill>
          <a:ln w="12700">
            <a:solidFill>
              <a:srgbClr val="A9D08E"/>
            </a:solidFill>
            <a:prstDash val="solid"/>
          </a:ln>
        </p:spPr>
      </p:sp>
      <p:sp>
        <p:nvSpPr>
          <p:cNvPr id="47" name="Text 45"/>
          <p:cNvSpPr txBox="1"/>
          <p:nvPr/>
        </p:nvSpPr>
        <p:spPr>
          <a:xfrm>
            <a:off x="548640" y="5244084"/>
            <a:ext cx="1962851" cy="502920"/>
          </a:xfrm>
          <a:prstGeom prst="rect">
            <a:avLst/>
          </a:prstGeom>
          <a:noFill/>
          <a:ln/>
        </p:spPr>
        <p:txBody>
          <a:bodyPr wrap="square" lIns="0" tIns="0" rIns="0" bIns="0" rtlCol="0" anchor="t"/>
          <a:lstStyle/>
          <a:p>
            <a:pPr indent="0" marL="0">
              <a:buNone/>
            </a:pPr>
            <a:r>
              <a:rPr lang="en-US" sz="1100" b="1" dirty="0">
                <a:solidFill>
                  <a:srgbClr val="8A5A00"/>
                </a:solidFill>
                <a:latin typeface="Calibri" pitchFamily="34" charset="0"/>
                <a:ea typeface="Calibri" pitchFamily="34" charset="-122"/>
                <a:cs typeface="Calibri" pitchFamily="34" charset="-120"/>
              </a:rPr>
              <a:t>5</a:t>
            </a:r>
            <a:pPr indent="0" marL="0">
              <a:buNone/>
            </a:pPr>
            <a:r>
              <a:rPr lang="en-US" sz="1100" dirty="0">
                <a:solidFill>
                  <a:srgbClr val="5B6670"/>
                </a:solidFill>
                <a:latin typeface="Calibri" pitchFamily="34" charset="0"/>
                <a:ea typeface="Calibri" pitchFamily="34" charset="-122"/>
                <a:cs typeface="Calibri" pitchFamily="34" charset="-120"/>
              </a:rPr>
              <a:t> EOL   </a:t>
            </a:r>
            <a:pPr indent="0" marL="0">
              <a:buNone/>
            </a:pPr>
            <a:r>
              <a:rPr lang="en-US" sz="1100" b="1" dirty="0">
                <a:solidFill>
                  <a:srgbClr val="C0392B"/>
                </a:solidFill>
                <a:latin typeface="Calibri" pitchFamily="34" charset="0"/>
                <a:ea typeface="Calibri" pitchFamily="34" charset="-122"/>
                <a:cs typeface="Calibri" pitchFamily="34" charset="-120"/>
              </a:rPr>
              <a:t>6</a:t>
            </a:r>
            <a:pPr indent="0" marL="0">
              <a:buNone/>
            </a:pPr>
            <a:r>
              <a:rPr lang="en-US" sz="1100" dirty="0">
                <a:solidFill>
                  <a:srgbClr val="5B6670"/>
                </a:solidFill>
                <a:latin typeface="Calibri" pitchFamily="34" charset="0"/>
                <a:ea typeface="Calibri" pitchFamily="34" charset="-122"/>
                <a:cs typeface="Calibri" pitchFamily="34" charset="-120"/>
              </a:rPr>
              <a:t> secrets</a:t>
            </a:r>
            <a:endParaRPr lang="en-US" sz="1100" dirty="0"/>
          </a:p>
          <a:p>
            <a:pPr indent="0" marL="0">
              <a:buNone/>
            </a:pPr>
            <a:r>
              <a:rPr lang="en-US" sz="1100" b="1" dirty="0">
                <a:solidFill>
                  <a:srgbClr val="1F2933"/>
                </a:solidFill>
                <a:latin typeface="Calibri" pitchFamily="34" charset="0"/>
                <a:ea typeface="Calibri" pitchFamily="34" charset="-122"/>
                <a:cs typeface="Calibri" pitchFamily="34" charset="-120"/>
              </a:rPr>
              <a:t>50%</a:t>
            </a:r>
            <a:pPr indent="0" marL="0">
              <a:buNone/>
            </a:pPr>
            <a:r>
              <a:rPr lang="en-US" sz="1100" dirty="0">
                <a:solidFill>
                  <a:srgbClr val="5B6670"/>
                </a:solidFill>
                <a:latin typeface="Calibri" pitchFamily="34" charset="0"/>
                <a:ea typeface="Calibri" pitchFamily="34" charset="-122"/>
                <a:cs typeface="Calibri" pitchFamily="34" charset="-120"/>
              </a:rPr>
              <a:t> in Sonar   </a:t>
            </a:r>
            <a:pPr indent="0" marL="0">
              <a:buNone/>
            </a:pPr>
            <a:r>
              <a:rPr lang="en-US" sz="1100" b="1" dirty="0">
                <a:solidFill>
                  <a:srgbClr val="1F2933"/>
                </a:solidFill>
                <a:latin typeface="Calibri" pitchFamily="34" charset="0"/>
                <a:ea typeface="Calibri" pitchFamily="34" charset="-122"/>
                <a:cs typeface="Calibri" pitchFamily="34" charset="-120"/>
              </a:rPr>
              <a:t>14.6</a:t>
            </a:r>
            <a:pPr indent="0" marL="0">
              <a:buNone/>
            </a:pPr>
            <a:r>
              <a:rPr lang="en-US" sz="1100" dirty="0">
                <a:solidFill>
                  <a:srgbClr val="5B6670"/>
                </a:solidFill>
                <a:latin typeface="Calibri" pitchFamily="34" charset="0"/>
                <a:ea typeface="Calibri" pitchFamily="34" charset="-122"/>
                <a:cs typeface="Calibri" pitchFamily="34" charset="-120"/>
              </a:rPr>
              <a:t> findings/app</a:t>
            </a:r>
            <a:endParaRPr lang="en-US" sz="1100" dirty="0"/>
          </a:p>
        </p:txBody>
      </p:sp>
      <p:sp>
        <p:nvSpPr>
          <p:cNvPr id="48" name="Text 46"/>
          <p:cNvSpPr txBox="1"/>
          <p:nvPr/>
        </p:nvSpPr>
        <p:spPr>
          <a:xfrm>
            <a:off x="2831531" y="2395728"/>
            <a:ext cx="1414211" cy="411480"/>
          </a:xfrm>
          <a:prstGeom prst="rect">
            <a:avLst/>
          </a:prstGeom>
          <a:noFill/>
          <a:ln/>
        </p:spPr>
        <p:txBody>
          <a:bodyPr wrap="square" lIns="0" tIns="0" rIns="0" bIns="0" rtlCol="0" anchor="ctr"/>
          <a:lstStyle/>
          <a:p>
            <a:pPr indent="0" marL="0">
              <a:buNone/>
            </a:pPr>
            <a:r>
              <a:rPr lang="en-US" sz="1300" b="1" dirty="0">
                <a:solidFill>
                  <a:srgbClr val="12402A"/>
                </a:solidFill>
                <a:latin typeface="Calibri" pitchFamily="34" charset="0"/>
                <a:ea typeface="Calibri" pitchFamily="34" charset="-122"/>
                <a:cs typeface="Calibri" pitchFamily="34" charset="-120"/>
              </a:rPr>
              <a:t>Pratap Anchuri</a:t>
            </a:r>
            <a:endParaRPr lang="en-US" sz="1300" dirty="0"/>
          </a:p>
        </p:txBody>
      </p:sp>
      <p:sp>
        <p:nvSpPr>
          <p:cNvPr id="49" name="Text 47"/>
          <p:cNvSpPr txBox="1"/>
          <p:nvPr/>
        </p:nvSpPr>
        <p:spPr>
          <a:xfrm>
            <a:off x="4245742" y="2359152"/>
            <a:ext cx="548640" cy="457200"/>
          </a:xfrm>
          <a:prstGeom prst="rect">
            <a:avLst/>
          </a:prstGeom>
          <a:noFill/>
          <a:ln/>
        </p:spPr>
        <p:txBody>
          <a:bodyPr wrap="square" lIns="0" tIns="0" rIns="0" bIns="0" rtlCol="0" anchor="ctr"/>
          <a:lstStyle/>
          <a:p>
            <a:pPr algn="r" indent="0" marL="0">
              <a:buNone/>
            </a:pPr>
            <a:r>
              <a:rPr lang="en-US" sz="2200" b="1" dirty="0">
                <a:solidFill>
                  <a:srgbClr val="368727"/>
                </a:solidFill>
                <a:latin typeface="Calibri" pitchFamily="34" charset="0"/>
                <a:ea typeface="Calibri" pitchFamily="34" charset="-122"/>
                <a:cs typeface="Calibri" pitchFamily="34" charset="-120"/>
              </a:rPr>
              <a:t>25</a:t>
            </a:r>
            <a:endParaRPr lang="en-US" sz="2200" dirty="0"/>
          </a:p>
        </p:txBody>
      </p:sp>
      <p:sp>
        <p:nvSpPr>
          <p:cNvPr id="50" name="Shape 48"/>
          <p:cNvSpPr/>
          <p:nvPr/>
        </p:nvSpPr>
        <p:spPr>
          <a:xfrm>
            <a:off x="2831531" y="2880360"/>
            <a:ext cx="283464" cy="283464"/>
          </a:xfrm>
          <a:prstGeom prst="roundRect">
            <a:avLst>
              <a:gd name="adj" fmla="val 12903"/>
            </a:avLst>
          </a:prstGeom>
          <a:solidFill>
            <a:srgbClr val="1E5B34"/>
          </a:solidFill>
          <a:ln w="12700">
            <a:solidFill>
              <a:srgbClr val="1E5B34"/>
            </a:solidFill>
            <a:prstDash val="solid"/>
          </a:ln>
        </p:spPr>
      </p:sp>
      <p:sp>
        <p:nvSpPr>
          <p:cNvPr id="51" name="Text 49"/>
          <p:cNvSpPr txBox="1"/>
          <p:nvPr/>
        </p:nvSpPr>
        <p:spPr>
          <a:xfrm>
            <a:off x="2831531" y="2880360"/>
            <a:ext cx="283464" cy="2834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a:t>
            </a:r>
            <a:endParaRPr lang="en-US" sz="900" dirty="0"/>
          </a:p>
        </p:txBody>
      </p:sp>
      <p:sp>
        <p:nvSpPr>
          <p:cNvPr id="52" name="Shape 50"/>
          <p:cNvSpPr/>
          <p:nvPr/>
        </p:nvSpPr>
        <p:spPr>
          <a:xfrm>
            <a:off x="3023555" y="2852928"/>
            <a:ext cx="118872" cy="118872"/>
          </a:xfrm>
          <a:prstGeom prst="ellipse">
            <a:avLst/>
          </a:prstGeom>
          <a:solidFill>
            <a:srgbClr val="E0A31A"/>
          </a:solidFill>
          <a:ln w="12700">
            <a:solidFill>
              <a:srgbClr val="E0A31A"/>
            </a:solidFill>
            <a:prstDash val="solid"/>
          </a:ln>
        </p:spPr>
      </p:sp>
      <p:sp>
        <p:nvSpPr>
          <p:cNvPr id="53" name="Shape 51"/>
          <p:cNvSpPr/>
          <p:nvPr/>
        </p:nvSpPr>
        <p:spPr>
          <a:xfrm>
            <a:off x="3156143" y="2880360"/>
            <a:ext cx="283464" cy="283464"/>
          </a:xfrm>
          <a:prstGeom prst="roundRect">
            <a:avLst>
              <a:gd name="adj" fmla="val 12903"/>
            </a:avLst>
          </a:prstGeom>
          <a:solidFill>
            <a:srgbClr val="1E5B34"/>
          </a:solidFill>
          <a:ln w="12700">
            <a:solidFill>
              <a:srgbClr val="1E5B34"/>
            </a:solidFill>
            <a:prstDash val="solid"/>
          </a:ln>
        </p:spPr>
      </p:sp>
      <p:sp>
        <p:nvSpPr>
          <p:cNvPr id="54" name="Text 52"/>
          <p:cNvSpPr txBox="1"/>
          <p:nvPr/>
        </p:nvSpPr>
        <p:spPr>
          <a:xfrm>
            <a:off x="3156143" y="2880360"/>
            <a:ext cx="283464" cy="2834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a:t>
            </a:r>
            <a:endParaRPr lang="en-US" sz="900" dirty="0"/>
          </a:p>
        </p:txBody>
      </p:sp>
      <p:sp>
        <p:nvSpPr>
          <p:cNvPr id="55" name="Shape 53"/>
          <p:cNvSpPr/>
          <p:nvPr/>
        </p:nvSpPr>
        <p:spPr>
          <a:xfrm>
            <a:off x="3348167" y="2852928"/>
            <a:ext cx="118872" cy="118872"/>
          </a:xfrm>
          <a:prstGeom prst="ellipse">
            <a:avLst/>
          </a:prstGeom>
          <a:solidFill>
            <a:srgbClr val="E0A31A"/>
          </a:solidFill>
          <a:ln w="12700">
            <a:solidFill>
              <a:srgbClr val="E0A31A"/>
            </a:solidFill>
            <a:prstDash val="solid"/>
          </a:ln>
        </p:spPr>
      </p:sp>
      <p:sp>
        <p:nvSpPr>
          <p:cNvPr id="56" name="Shape 54"/>
          <p:cNvSpPr/>
          <p:nvPr/>
        </p:nvSpPr>
        <p:spPr>
          <a:xfrm>
            <a:off x="3480755" y="2880360"/>
            <a:ext cx="283464" cy="283464"/>
          </a:xfrm>
          <a:prstGeom prst="roundRect">
            <a:avLst>
              <a:gd name="adj" fmla="val 12903"/>
            </a:avLst>
          </a:prstGeom>
          <a:solidFill>
            <a:srgbClr val="1E5B34"/>
          </a:solidFill>
          <a:ln w="12700">
            <a:solidFill>
              <a:srgbClr val="1E5B34"/>
            </a:solidFill>
            <a:prstDash val="solid"/>
          </a:ln>
        </p:spPr>
      </p:sp>
      <p:sp>
        <p:nvSpPr>
          <p:cNvPr id="57" name="Text 55"/>
          <p:cNvSpPr txBox="1"/>
          <p:nvPr/>
        </p:nvSpPr>
        <p:spPr>
          <a:xfrm>
            <a:off x="3480755" y="2880360"/>
            <a:ext cx="283464" cy="2834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a:t>
            </a:r>
            <a:endParaRPr lang="en-US" sz="900" dirty="0"/>
          </a:p>
        </p:txBody>
      </p:sp>
      <p:sp>
        <p:nvSpPr>
          <p:cNvPr id="58" name="Shape 56"/>
          <p:cNvSpPr/>
          <p:nvPr/>
        </p:nvSpPr>
        <p:spPr>
          <a:xfrm>
            <a:off x="3672779" y="2852928"/>
            <a:ext cx="118872" cy="118872"/>
          </a:xfrm>
          <a:prstGeom prst="ellipse">
            <a:avLst/>
          </a:prstGeom>
          <a:solidFill>
            <a:srgbClr val="E0A31A"/>
          </a:solidFill>
          <a:ln w="12700">
            <a:solidFill>
              <a:srgbClr val="E0A31A"/>
            </a:solidFill>
            <a:prstDash val="solid"/>
          </a:ln>
        </p:spPr>
      </p:sp>
      <p:sp>
        <p:nvSpPr>
          <p:cNvPr id="59" name="Shape 57"/>
          <p:cNvSpPr/>
          <p:nvPr/>
        </p:nvSpPr>
        <p:spPr>
          <a:xfrm>
            <a:off x="3805367" y="2880360"/>
            <a:ext cx="283464" cy="283464"/>
          </a:xfrm>
          <a:prstGeom prst="roundRect">
            <a:avLst>
              <a:gd name="adj" fmla="val 12903"/>
            </a:avLst>
          </a:prstGeom>
          <a:solidFill>
            <a:srgbClr val="1E5B34"/>
          </a:solidFill>
          <a:ln w="12700">
            <a:solidFill>
              <a:srgbClr val="1E5B34"/>
            </a:solidFill>
            <a:prstDash val="solid"/>
          </a:ln>
        </p:spPr>
      </p:sp>
      <p:sp>
        <p:nvSpPr>
          <p:cNvPr id="60" name="Text 58"/>
          <p:cNvSpPr txBox="1"/>
          <p:nvPr/>
        </p:nvSpPr>
        <p:spPr>
          <a:xfrm>
            <a:off x="3805367" y="2880360"/>
            <a:ext cx="283464" cy="2834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a:t>
            </a:r>
            <a:endParaRPr lang="en-US" sz="900" dirty="0"/>
          </a:p>
        </p:txBody>
      </p:sp>
      <p:sp>
        <p:nvSpPr>
          <p:cNvPr id="61" name="Shape 59"/>
          <p:cNvSpPr/>
          <p:nvPr/>
        </p:nvSpPr>
        <p:spPr>
          <a:xfrm>
            <a:off x="3997391" y="2852928"/>
            <a:ext cx="118872" cy="118872"/>
          </a:xfrm>
          <a:prstGeom prst="ellipse">
            <a:avLst/>
          </a:prstGeom>
          <a:solidFill>
            <a:srgbClr val="E0A31A"/>
          </a:solidFill>
          <a:ln w="12700">
            <a:solidFill>
              <a:srgbClr val="E0A31A"/>
            </a:solidFill>
            <a:prstDash val="solid"/>
          </a:ln>
        </p:spPr>
      </p:sp>
      <p:sp>
        <p:nvSpPr>
          <p:cNvPr id="62" name="Shape 60"/>
          <p:cNvSpPr/>
          <p:nvPr/>
        </p:nvSpPr>
        <p:spPr>
          <a:xfrm>
            <a:off x="4129979" y="2880360"/>
            <a:ext cx="283464" cy="283464"/>
          </a:xfrm>
          <a:prstGeom prst="roundRect">
            <a:avLst>
              <a:gd name="adj" fmla="val 12903"/>
            </a:avLst>
          </a:prstGeom>
          <a:solidFill>
            <a:srgbClr val="1E5B34"/>
          </a:solidFill>
          <a:ln w="12700">
            <a:solidFill>
              <a:srgbClr val="1E5B34"/>
            </a:solidFill>
            <a:prstDash val="solid"/>
          </a:ln>
        </p:spPr>
      </p:sp>
      <p:sp>
        <p:nvSpPr>
          <p:cNvPr id="63" name="Text 61"/>
          <p:cNvSpPr txBox="1"/>
          <p:nvPr/>
        </p:nvSpPr>
        <p:spPr>
          <a:xfrm>
            <a:off x="4129979" y="2880360"/>
            <a:ext cx="283464" cy="2834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64" name="Shape 62"/>
          <p:cNvSpPr/>
          <p:nvPr/>
        </p:nvSpPr>
        <p:spPr>
          <a:xfrm>
            <a:off x="4322003" y="2852928"/>
            <a:ext cx="118872" cy="118872"/>
          </a:xfrm>
          <a:prstGeom prst="ellipse">
            <a:avLst/>
          </a:prstGeom>
          <a:solidFill>
            <a:srgbClr val="E0A31A"/>
          </a:solidFill>
          <a:ln w="12700">
            <a:solidFill>
              <a:srgbClr val="E0A31A"/>
            </a:solidFill>
            <a:prstDash val="solid"/>
          </a:ln>
        </p:spPr>
      </p:sp>
      <p:sp>
        <p:nvSpPr>
          <p:cNvPr id="65" name="Shape 63"/>
          <p:cNvSpPr/>
          <p:nvPr/>
        </p:nvSpPr>
        <p:spPr>
          <a:xfrm>
            <a:off x="4454591" y="2880360"/>
            <a:ext cx="283464" cy="283464"/>
          </a:xfrm>
          <a:prstGeom prst="roundRect">
            <a:avLst>
              <a:gd name="adj" fmla="val 12903"/>
            </a:avLst>
          </a:prstGeom>
          <a:solidFill>
            <a:srgbClr val="1E5B34"/>
          </a:solidFill>
          <a:ln w="12700">
            <a:solidFill>
              <a:srgbClr val="1E5B34"/>
            </a:solidFill>
            <a:prstDash val="solid"/>
          </a:ln>
        </p:spPr>
      </p:sp>
      <p:sp>
        <p:nvSpPr>
          <p:cNvPr id="66" name="Text 64"/>
          <p:cNvSpPr txBox="1"/>
          <p:nvPr/>
        </p:nvSpPr>
        <p:spPr>
          <a:xfrm>
            <a:off x="4454591" y="2880360"/>
            <a:ext cx="283464" cy="2834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67" name="Shape 65"/>
          <p:cNvSpPr/>
          <p:nvPr/>
        </p:nvSpPr>
        <p:spPr>
          <a:xfrm>
            <a:off x="4646615" y="2852928"/>
            <a:ext cx="118872" cy="118872"/>
          </a:xfrm>
          <a:prstGeom prst="ellipse">
            <a:avLst/>
          </a:prstGeom>
          <a:solidFill>
            <a:srgbClr val="E0A31A"/>
          </a:solidFill>
          <a:ln w="12700">
            <a:solidFill>
              <a:srgbClr val="E0A31A"/>
            </a:solidFill>
            <a:prstDash val="solid"/>
          </a:ln>
        </p:spPr>
      </p:sp>
      <p:sp>
        <p:nvSpPr>
          <p:cNvPr id="68" name="Shape 66"/>
          <p:cNvSpPr/>
          <p:nvPr/>
        </p:nvSpPr>
        <p:spPr>
          <a:xfrm>
            <a:off x="2831531" y="3204972"/>
            <a:ext cx="283464" cy="283464"/>
          </a:xfrm>
          <a:prstGeom prst="roundRect">
            <a:avLst>
              <a:gd name="adj" fmla="val 12903"/>
            </a:avLst>
          </a:prstGeom>
          <a:solidFill>
            <a:srgbClr val="1E5B34"/>
          </a:solidFill>
          <a:ln w="12700">
            <a:solidFill>
              <a:srgbClr val="1E5B34"/>
            </a:solidFill>
            <a:prstDash val="solid"/>
          </a:ln>
        </p:spPr>
      </p:sp>
      <p:sp>
        <p:nvSpPr>
          <p:cNvPr id="69" name="Text 67"/>
          <p:cNvSpPr txBox="1"/>
          <p:nvPr/>
        </p:nvSpPr>
        <p:spPr>
          <a:xfrm>
            <a:off x="2831531" y="3204972"/>
            <a:ext cx="283464" cy="2834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70" name="Shape 68"/>
          <p:cNvSpPr/>
          <p:nvPr/>
        </p:nvSpPr>
        <p:spPr>
          <a:xfrm>
            <a:off x="3156143" y="3204972"/>
            <a:ext cx="283464" cy="283464"/>
          </a:xfrm>
          <a:prstGeom prst="roundRect">
            <a:avLst>
              <a:gd name="adj" fmla="val 12903"/>
            </a:avLst>
          </a:prstGeom>
          <a:solidFill>
            <a:srgbClr val="1E5B34"/>
          </a:solidFill>
          <a:ln w="12700">
            <a:solidFill>
              <a:srgbClr val="1E5B34"/>
            </a:solidFill>
            <a:prstDash val="solid"/>
          </a:ln>
        </p:spPr>
      </p:sp>
      <p:sp>
        <p:nvSpPr>
          <p:cNvPr id="71" name="Text 69"/>
          <p:cNvSpPr txBox="1"/>
          <p:nvPr/>
        </p:nvSpPr>
        <p:spPr>
          <a:xfrm>
            <a:off x="3156143" y="3204972"/>
            <a:ext cx="283464" cy="2834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72" name="Shape 70"/>
          <p:cNvSpPr/>
          <p:nvPr/>
        </p:nvSpPr>
        <p:spPr>
          <a:xfrm>
            <a:off x="3480755" y="3204972"/>
            <a:ext cx="283464" cy="283464"/>
          </a:xfrm>
          <a:prstGeom prst="roundRect">
            <a:avLst>
              <a:gd name="adj" fmla="val 12903"/>
            </a:avLst>
          </a:prstGeom>
          <a:solidFill>
            <a:srgbClr val="1E5B34"/>
          </a:solidFill>
          <a:ln w="12700">
            <a:solidFill>
              <a:srgbClr val="1E5B34"/>
            </a:solidFill>
            <a:prstDash val="solid"/>
          </a:ln>
        </p:spPr>
      </p:sp>
      <p:sp>
        <p:nvSpPr>
          <p:cNvPr id="73" name="Text 71"/>
          <p:cNvSpPr txBox="1"/>
          <p:nvPr/>
        </p:nvSpPr>
        <p:spPr>
          <a:xfrm>
            <a:off x="3480755" y="3204972"/>
            <a:ext cx="283464" cy="2834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U</a:t>
            </a:r>
            <a:endParaRPr lang="en-US" sz="900" dirty="0"/>
          </a:p>
        </p:txBody>
      </p:sp>
      <p:sp>
        <p:nvSpPr>
          <p:cNvPr id="74" name="Shape 72"/>
          <p:cNvSpPr/>
          <p:nvPr/>
        </p:nvSpPr>
        <p:spPr>
          <a:xfrm>
            <a:off x="3805367" y="3204972"/>
            <a:ext cx="283464" cy="283464"/>
          </a:xfrm>
          <a:prstGeom prst="roundRect">
            <a:avLst>
              <a:gd name="adj" fmla="val 12903"/>
            </a:avLst>
          </a:prstGeom>
          <a:solidFill>
            <a:srgbClr val="1E5B34"/>
          </a:solidFill>
          <a:ln w="12700">
            <a:solidFill>
              <a:srgbClr val="1E5B34"/>
            </a:solidFill>
            <a:prstDash val="solid"/>
          </a:ln>
        </p:spPr>
      </p:sp>
      <p:sp>
        <p:nvSpPr>
          <p:cNvPr id="75" name="Text 73"/>
          <p:cNvSpPr txBox="1"/>
          <p:nvPr/>
        </p:nvSpPr>
        <p:spPr>
          <a:xfrm>
            <a:off x="3805367" y="3204972"/>
            <a:ext cx="283464" cy="2834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U</a:t>
            </a:r>
            <a:endParaRPr lang="en-US" sz="900" dirty="0"/>
          </a:p>
        </p:txBody>
      </p:sp>
      <p:sp>
        <p:nvSpPr>
          <p:cNvPr id="76" name="Shape 74"/>
          <p:cNvSpPr/>
          <p:nvPr/>
        </p:nvSpPr>
        <p:spPr>
          <a:xfrm>
            <a:off x="4129979" y="3204972"/>
            <a:ext cx="283464" cy="283464"/>
          </a:xfrm>
          <a:prstGeom prst="roundRect">
            <a:avLst>
              <a:gd name="adj" fmla="val 12903"/>
            </a:avLst>
          </a:prstGeom>
          <a:solidFill>
            <a:srgbClr val="1E5B34"/>
          </a:solidFill>
          <a:ln w="12700">
            <a:solidFill>
              <a:srgbClr val="1E5B34"/>
            </a:solidFill>
            <a:prstDash val="solid"/>
          </a:ln>
        </p:spPr>
      </p:sp>
      <p:sp>
        <p:nvSpPr>
          <p:cNvPr id="77" name="Text 75"/>
          <p:cNvSpPr txBox="1"/>
          <p:nvPr/>
        </p:nvSpPr>
        <p:spPr>
          <a:xfrm>
            <a:off x="4129979" y="3204972"/>
            <a:ext cx="283464" cy="2834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U</a:t>
            </a:r>
            <a:endParaRPr lang="en-US" sz="900" dirty="0"/>
          </a:p>
        </p:txBody>
      </p:sp>
      <p:sp>
        <p:nvSpPr>
          <p:cNvPr id="78" name="Shape 76"/>
          <p:cNvSpPr/>
          <p:nvPr/>
        </p:nvSpPr>
        <p:spPr>
          <a:xfrm>
            <a:off x="4454591" y="3204972"/>
            <a:ext cx="283464" cy="283464"/>
          </a:xfrm>
          <a:prstGeom prst="roundRect">
            <a:avLst>
              <a:gd name="adj" fmla="val 12903"/>
            </a:avLst>
          </a:prstGeom>
          <a:solidFill>
            <a:srgbClr val="1E5B34"/>
          </a:solidFill>
          <a:ln w="12700">
            <a:solidFill>
              <a:srgbClr val="1E5B34"/>
            </a:solidFill>
            <a:prstDash val="solid"/>
          </a:ln>
        </p:spPr>
      </p:sp>
      <p:sp>
        <p:nvSpPr>
          <p:cNvPr id="79" name="Text 77"/>
          <p:cNvSpPr txBox="1"/>
          <p:nvPr/>
        </p:nvSpPr>
        <p:spPr>
          <a:xfrm>
            <a:off x="4454591" y="3204972"/>
            <a:ext cx="283464" cy="2834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a:t>
            </a:r>
            <a:endParaRPr lang="en-US" sz="900" dirty="0"/>
          </a:p>
        </p:txBody>
      </p:sp>
      <p:sp>
        <p:nvSpPr>
          <p:cNvPr id="80" name="Shape 78"/>
          <p:cNvSpPr/>
          <p:nvPr/>
        </p:nvSpPr>
        <p:spPr>
          <a:xfrm>
            <a:off x="2831531" y="3529584"/>
            <a:ext cx="283464" cy="283464"/>
          </a:xfrm>
          <a:prstGeom prst="roundRect">
            <a:avLst>
              <a:gd name="adj" fmla="val 12903"/>
            </a:avLst>
          </a:prstGeom>
          <a:solidFill>
            <a:srgbClr val="6BA55D"/>
          </a:solidFill>
          <a:ln w="12700">
            <a:solidFill>
              <a:srgbClr val="6BA55D"/>
            </a:solidFill>
            <a:prstDash val="solid"/>
          </a:ln>
        </p:spPr>
      </p:sp>
      <p:sp>
        <p:nvSpPr>
          <p:cNvPr id="81" name="Text 79"/>
          <p:cNvSpPr txBox="1"/>
          <p:nvPr/>
        </p:nvSpPr>
        <p:spPr>
          <a:xfrm>
            <a:off x="2831531" y="3529584"/>
            <a:ext cx="283464" cy="283464"/>
          </a:xfrm>
          <a:prstGeom prst="rect">
            <a:avLst/>
          </a:prstGeom>
          <a:noFill/>
          <a:ln/>
        </p:spPr>
        <p:txBody>
          <a:bodyPr wrap="square" lIns="0" tIns="0" rIns="0" bIns="0" rtlCol="0" anchor="ctr"/>
          <a:lstStyle/>
          <a:p>
            <a:pPr algn="ctr" indent="0" marL="0">
              <a:buNone/>
            </a:pPr>
            <a:r>
              <a:rPr lang="en-US" sz="900" b="1" dirty="0">
                <a:solidFill>
                  <a:srgbClr val="12402A"/>
                </a:solidFill>
                <a:latin typeface="Calibri" pitchFamily="34" charset="0"/>
                <a:ea typeface="Calibri" pitchFamily="34" charset="-122"/>
                <a:cs typeface="Calibri" pitchFamily="34" charset="-120"/>
              </a:rPr>
              <a:t>L</a:t>
            </a:r>
            <a:endParaRPr lang="en-US" sz="900" dirty="0"/>
          </a:p>
        </p:txBody>
      </p:sp>
      <p:sp>
        <p:nvSpPr>
          <p:cNvPr id="82" name="Shape 80"/>
          <p:cNvSpPr/>
          <p:nvPr/>
        </p:nvSpPr>
        <p:spPr>
          <a:xfrm>
            <a:off x="3156143" y="3529584"/>
            <a:ext cx="283464" cy="283464"/>
          </a:xfrm>
          <a:prstGeom prst="roundRect">
            <a:avLst>
              <a:gd name="adj" fmla="val 12903"/>
            </a:avLst>
          </a:prstGeom>
          <a:solidFill>
            <a:srgbClr val="6BA55D"/>
          </a:solidFill>
          <a:ln w="12700">
            <a:solidFill>
              <a:srgbClr val="6BA55D"/>
            </a:solidFill>
            <a:prstDash val="solid"/>
          </a:ln>
        </p:spPr>
      </p:sp>
      <p:sp>
        <p:nvSpPr>
          <p:cNvPr id="83" name="Text 81"/>
          <p:cNvSpPr txBox="1"/>
          <p:nvPr/>
        </p:nvSpPr>
        <p:spPr>
          <a:xfrm>
            <a:off x="3156143" y="3529584"/>
            <a:ext cx="283464" cy="283464"/>
          </a:xfrm>
          <a:prstGeom prst="rect">
            <a:avLst/>
          </a:prstGeom>
          <a:noFill/>
          <a:ln/>
        </p:spPr>
        <p:txBody>
          <a:bodyPr wrap="square" lIns="0" tIns="0" rIns="0" bIns="0" rtlCol="0" anchor="ctr"/>
          <a:lstStyle/>
          <a:p>
            <a:pPr algn="ctr" indent="0" marL="0">
              <a:buNone/>
            </a:pPr>
            <a:r>
              <a:rPr lang="en-US" sz="900" b="1" dirty="0">
                <a:solidFill>
                  <a:srgbClr val="12402A"/>
                </a:solidFill>
                <a:latin typeface="Calibri" pitchFamily="34" charset="0"/>
                <a:ea typeface="Calibri" pitchFamily="34" charset="-122"/>
                <a:cs typeface="Calibri" pitchFamily="34" charset="-120"/>
              </a:rPr>
              <a:t>L</a:t>
            </a:r>
            <a:endParaRPr lang="en-US" sz="900" dirty="0"/>
          </a:p>
        </p:txBody>
      </p:sp>
      <p:sp>
        <p:nvSpPr>
          <p:cNvPr id="84" name="Shape 82"/>
          <p:cNvSpPr/>
          <p:nvPr/>
        </p:nvSpPr>
        <p:spPr>
          <a:xfrm>
            <a:off x="3480755" y="3529584"/>
            <a:ext cx="283464" cy="283464"/>
          </a:xfrm>
          <a:prstGeom prst="roundRect">
            <a:avLst>
              <a:gd name="adj" fmla="val 12903"/>
            </a:avLst>
          </a:prstGeom>
          <a:solidFill>
            <a:srgbClr val="6BA55D"/>
          </a:solidFill>
          <a:ln w="12700">
            <a:solidFill>
              <a:srgbClr val="6BA55D"/>
            </a:solidFill>
            <a:prstDash val="solid"/>
          </a:ln>
        </p:spPr>
      </p:sp>
      <p:sp>
        <p:nvSpPr>
          <p:cNvPr id="85" name="Text 83"/>
          <p:cNvSpPr txBox="1"/>
          <p:nvPr/>
        </p:nvSpPr>
        <p:spPr>
          <a:xfrm>
            <a:off x="3480755" y="3529584"/>
            <a:ext cx="283464" cy="283464"/>
          </a:xfrm>
          <a:prstGeom prst="rect">
            <a:avLst/>
          </a:prstGeom>
          <a:noFill/>
          <a:ln/>
        </p:spPr>
        <p:txBody>
          <a:bodyPr wrap="square" lIns="0" tIns="0" rIns="0" bIns="0" rtlCol="0" anchor="ctr"/>
          <a:lstStyle/>
          <a:p>
            <a:pPr algn="ctr" indent="0" marL="0">
              <a:buNone/>
            </a:pPr>
            <a:r>
              <a:rPr lang="en-US" sz="900" b="1" dirty="0">
                <a:solidFill>
                  <a:srgbClr val="12402A"/>
                </a:solidFill>
                <a:latin typeface="Calibri" pitchFamily="34" charset="0"/>
                <a:ea typeface="Calibri" pitchFamily="34" charset="-122"/>
                <a:cs typeface="Calibri" pitchFamily="34" charset="-120"/>
              </a:rPr>
              <a:t>L</a:t>
            </a:r>
            <a:endParaRPr lang="en-US" sz="900" dirty="0"/>
          </a:p>
        </p:txBody>
      </p:sp>
      <p:sp>
        <p:nvSpPr>
          <p:cNvPr id="86" name="Shape 84"/>
          <p:cNvSpPr/>
          <p:nvPr/>
        </p:nvSpPr>
        <p:spPr>
          <a:xfrm>
            <a:off x="3805367" y="3529584"/>
            <a:ext cx="283464" cy="283464"/>
          </a:xfrm>
          <a:prstGeom prst="roundRect">
            <a:avLst>
              <a:gd name="adj" fmla="val 12903"/>
            </a:avLst>
          </a:prstGeom>
          <a:solidFill>
            <a:srgbClr val="A9D08E"/>
          </a:solidFill>
          <a:ln w="12700">
            <a:solidFill>
              <a:srgbClr val="A9D08E"/>
            </a:solidFill>
            <a:prstDash val="solid"/>
          </a:ln>
        </p:spPr>
      </p:sp>
      <p:sp>
        <p:nvSpPr>
          <p:cNvPr id="87" name="Text 85"/>
          <p:cNvSpPr txBox="1"/>
          <p:nvPr/>
        </p:nvSpPr>
        <p:spPr>
          <a:xfrm>
            <a:off x="3805367" y="3529584"/>
            <a:ext cx="283464" cy="283464"/>
          </a:xfrm>
          <a:prstGeom prst="rect">
            <a:avLst/>
          </a:prstGeom>
          <a:noFill/>
          <a:ln/>
        </p:spPr>
        <p:txBody>
          <a:bodyPr wrap="square" lIns="0" tIns="0" rIns="0" bIns="0" rtlCol="0" anchor="ctr"/>
          <a:lstStyle/>
          <a:p>
            <a:pPr algn="ctr" indent="0" marL="0">
              <a:buNone/>
            </a:pPr>
            <a:r>
              <a:rPr lang="en-US" sz="900" b="1" dirty="0">
                <a:solidFill>
                  <a:srgbClr val="12402A"/>
                </a:solidFill>
                <a:latin typeface="Calibri" pitchFamily="34" charset="0"/>
                <a:ea typeface="Calibri" pitchFamily="34" charset="-122"/>
                <a:cs typeface="Calibri" pitchFamily="34" charset="-120"/>
              </a:rPr>
              <a:t>L</a:t>
            </a:r>
            <a:endParaRPr lang="en-US" sz="900" dirty="0"/>
          </a:p>
        </p:txBody>
      </p:sp>
      <p:sp>
        <p:nvSpPr>
          <p:cNvPr id="88" name="Shape 86"/>
          <p:cNvSpPr/>
          <p:nvPr/>
        </p:nvSpPr>
        <p:spPr>
          <a:xfrm>
            <a:off x="4129979" y="3529584"/>
            <a:ext cx="283464" cy="283464"/>
          </a:xfrm>
          <a:prstGeom prst="roundRect">
            <a:avLst>
              <a:gd name="adj" fmla="val 12903"/>
            </a:avLst>
          </a:prstGeom>
          <a:solidFill>
            <a:srgbClr val="A9D08E"/>
          </a:solidFill>
          <a:ln w="12700">
            <a:solidFill>
              <a:srgbClr val="A9D08E"/>
            </a:solidFill>
            <a:prstDash val="solid"/>
          </a:ln>
        </p:spPr>
      </p:sp>
      <p:sp>
        <p:nvSpPr>
          <p:cNvPr id="89" name="Text 87"/>
          <p:cNvSpPr txBox="1"/>
          <p:nvPr/>
        </p:nvSpPr>
        <p:spPr>
          <a:xfrm>
            <a:off x="4129979" y="3529584"/>
            <a:ext cx="283464" cy="283464"/>
          </a:xfrm>
          <a:prstGeom prst="rect">
            <a:avLst/>
          </a:prstGeom>
          <a:noFill/>
          <a:ln/>
        </p:spPr>
        <p:txBody>
          <a:bodyPr wrap="square" lIns="0" tIns="0" rIns="0" bIns="0" rtlCol="0" anchor="ctr"/>
          <a:lstStyle/>
          <a:p>
            <a:pPr algn="ctr" indent="0" marL="0">
              <a:buNone/>
            </a:pPr>
            <a:r>
              <a:rPr lang="en-US" sz="900" b="1" dirty="0">
                <a:solidFill>
                  <a:srgbClr val="12402A"/>
                </a:solidFill>
                <a:latin typeface="Calibri" pitchFamily="34" charset="0"/>
                <a:ea typeface="Calibri" pitchFamily="34" charset="-122"/>
                <a:cs typeface="Calibri" pitchFamily="34" charset="-120"/>
              </a:rPr>
              <a:t>L</a:t>
            </a:r>
            <a:endParaRPr lang="en-US" sz="900" dirty="0"/>
          </a:p>
        </p:txBody>
      </p:sp>
      <p:sp>
        <p:nvSpPr>
          <p:cNvPr id="90" name="Shape 88"/>
          <p:cNvSpPr/>
          <p:nvPr/>
        </p:nvSpPr>
        <p:spPr>
          <a:xfrm>
            <a:off x="4454591" y="3529584"/>
            <a:ext cx="283464" cy="283464"/>
          </a:xfrm>
          <a:prstGeom prst="roundRect">
            <a:avLst>
              <a:gd name="adj" fmla="val 12903"/>
            </a:avLst>
          </a:prstGeom>
          <a:solidFill>
            <a:srgbClr val="A9D08E"/>
          </a:solidFill>
          <a:ln w="12700">
            <a:solidFill>
              <a:srgbClr val="A9D08E"/>
            </a:solidFill>
            <a:prstDash val="solid"/>
          </a:ln>
        </p:spPr>
      </p:sp>
      <p:sp>
        <p:nvSpPr>
          <p:cNvPr id="91" name="Text 89"/>
          <p:cNvSpPr txBox="1"/>
          <p:nvPr/>
        </p:nvSpPr>
        <p:spPr>
          <a:xfrm>
            <a:off x="4454591" y="3529584"/>
            <a:ext cx="283464" cy="283464"/>
          </a:xfrm>
          <a:prstGeom prst="rect">
            <a:avLst/>
          </a:prstGeom>
          <a:noFill/>
          <a:ln/>
        </p:spPr>
        <p:txBody>
          <a:bodyPr wrap="square" lIns="0" tIns="0" rIns="0" bIns="0" rtlCol="0" anchor="ctr"/>
          <a:lstStyle/>
          <a:p>
            <a:pPr algn="ctr" indent="0" marL="0">
              <a:buNone/>
            </a:pPr>
            <a:r>
              <a:rPr lang="en-US" sz="900" b="1" dirty="0">
                <a:solidFill>
                  <a:srgbClr val="12402A"/>
                </a:solidFill>
                <a:latin typeface="Calibri" pitchFamily="34" charset="0"/>
                <a:ea typeface="Calibri" pitchFamily="34" charset="-122"/>
                <a:cs typeface="Calibri" pitchFamily="34" charset="-120"/>
              </a:rPr>
              <a:t>L</a:t>
            </a:r>
            <a:endParaRPr lang="en-US" sz="900" dirty="0"/>
          </a:p>
        </p:txBody>
      </p:sp>
      <p:sp>
        <p:nvSpPr>
          <p:cNvPr id="92" name="Shape 90"/>
          <p:cNvSpPr/>
          <p:nvPr/>
        </p:nvSpPr>
        <p:spPr>
          <a:xfrm>
            <a:off x="2831531" y="3854196"/>
            <a:ext cx="283464" cy="283464"/>
          </a:xfrm>
          <a:prstGeom prst="roundRect">
            <a:avLst>
              <a:gd name="adj" fmla="val 12903"/>
            </a:avLst>
          </a:prstGeom>
          <a:solidFill>
            <a:srgbClr val="A9D08E"/>
          </a:solidFill>
          <a:ln w="12700">
            <a:solidFill>
              <a:srgbClr val="A9D08E"/>
            </a:solidFill>
            <a:prstDash val="solid"/>
          </a:ln>
        </p:spPr>
      </p:sp>
      <p:sp>
        <p:nvSpPr>
          <p:cNvPr id="93" name="Text 91"/>
          <p:cNvSpPr txBox="1"/>
          <p:nvPr/>
        </p:nvSpPr>
        <p:spPr>
          <a:xfrm>
            <a:off x="2831531" y="3854196"/>
            <a:ext cx="283464" cy="283464"/>
          </a:xfrm>
          <a:prstGeom prst="rect">
            <a:avLst/>
          </a:prstGeom>
          <a:noFill/>
          <a:ln/>
        </p:spPr>
        <p:txBody>
          <a:bodyPr wrap="square" lIns="0" tIns="0" rIns="0" bIns="0" rtlCol="0" anchor="ctr"/>
          <a:lstStyle/>
          <a:p>
            <a:pPr algn="ctr" indent="0" marL="0">
              <a:buNone/>
            </a:pPr>
            <a:r>
              <a:rPr lang="en-US" sz="900" b="1" dirty="0">
                <a:solidFill>
                  <a:srgbClr val="12402A"/>
                </a:solidFill>
                <a:latin typeface="Calibri" pitchFamily="34" charset="0"/>
                <a:ea typeface="Calibri" pitchFamily="34" charset="-122"/>
                <a:cs typeface="Calibri" pitchFamily="34" charset="-120"/>
              </a:rPr>
              <a:t>L</a:t>
            </a:r>
            <a:endParaRPr lang="en-US" sz="900" dirty="0"/>
          </a:p>
        </p:txBody>
      </p:sp>
      <p:sp>
        <p:nvSpPr>
          <p:cNvPr id="94" name="Shape 92"/>
          <p:cNvSpPr/>
          <p:nvPr/>
        </p:nvSpPr>
        <p:spPr>
          <a:xfrm>
            <a:off x="3156143" y="3854196"/>
            <a:ext cx="283464" cy="283464"/>
          </a:xfrm>
          <a:prstGeom prst="roundRect">
            <a:avLst>
              <a:gd name="adj" fmla="val 12903"/>
            </a:avLst>
          </a:prstGeom>
          <a:solidFill>
            <a:srgbClr val="A9D08E"/>
          </a:solidFill>
          <a:ln w="12700">
            <a:solidFill>
              <a:srgbClr val="A9D08E"/>
            </a:solidFill>
            <a:prstDash val="solid"/>
          </a:ln>
        </p:spPr>
      </p:sp>
      <p:sp>
        <p:nvSpPr>
          <p:cNvPr id="95" name="Shape 93"/>
          <p:cNvSpPr/>
          <p:nvPr/>
        </p:nvSpPr>
        <p:spPr>
          <a:xfrm>
            <a:off x="3480755" y="3854196"/>
            <a:ext cx="283464" cy="283464"/>
          </a:xfrm>
          <a:prstGeom prst="roundRect">
            <a:avLst>
              <a:gd name="adj" fmla="val 12903"/>
            </a:avLst>
          </a:prstGeom>
          <a:solidFill>
            <a:srgbClr val="A9D08E"/>
          </a:solidFill>
          <a:ln w="12700">
            <a:solidFill>
              <a:srgbClr val="A9D08E"/>
            </a:solidFill>
            <a:prstDash val="solid"/>
          </a:ln>
        </p:spPr>
      </p:sp>
      <p:sp>
        <p:nvSpPr>
          <p:cNvPr id="96" name="Shape 94"/>
          <p:cNvSpPr/>
          <p:nvPr/>
        </p:nvSpPr>
        <p:spPr>
          <a:xfrm>
            <a:off x="3805367" y="3854196"/>
            <a:ext cx="283464" cy="283464"/>
          </a:xfrm>
          <a:prstGeom prst="roundRect">
            <a:avLst>
              <a:gd name="adj" fmla="val 12903"/>
            </a:avLst>
          </a:prstGeom>
          <a:solidFill>
            <a:srgbClr val="A9D08E"/>
          </a:solidFill>
          <a:ln w="12700">
            <a:solidFill>
              <a:srgbClr val="A9D08E"/>
            </a:solidFill>
            <a:prstDash val="solid"/>
          </a:ln>
        </p:spPr>
      </p:sp>
      <p:sp>
        <p:nvSpPr>
          <p:cNvPr id="97" name="Shape 95"/>
          <p:cNvSpPr/>
          <p:nvPr/>
        </p:nvSpPr>
        <p:spPr>
          <a:xfrm>
            <a:off x="4129979" y="3854196"/>
            <a:ext cx="283464" cy="283464"/>
          </a:xfrm>
          <a:prstGeom prst="roundRect">
            <a:avLst>
              <a:gd name="adj" fmla="val 12903"/>
            </a:avLst>
          </a:prstGeom>
          <a:solidFill>
            <a:srgbClr val="A9D08E"/>
          </a:solidFill>
          <a:ln w="12700">
            <a:solidFill>
              <a:srgbClr val="A9D08E"/>
            </a:solidFill>
            <a:prstDash val="solid"/>
          </a:ln>
        </p:spPr>
      </p:sp>
      <p:sp>
        <p:nvSpPr>
          <p:cNvPr id="98" name="Shape 96"/>
          <p:cNvSpPr/>
          <p:nvPr/>
        </p:nvSpPr>
        <p:spPr>
          <a:xfrm>
            <a:off x="4454591" y="3854196"/>
            <a:ext cx="283464" cy="283464"/>
          </a:xfrm>
          <a:prstGeom prst="roundRect">
            <a:avLst>
              <a:gd name="adj" fmla="val 12903"/>
            </a:avLst>
          </a:prstGeom>
          <a:solidFill>
            <a:srgbClr val="A9D08E"/>
          </a:solidFill>
          <a:ln w="12700">
            <a:solidFill>
              <a:srgbClr val="A9D08E"/>
            </a:solidFill>
            <a:prstDash val="solid"/>
          </a:ln>
        </p:spPr>
      </p:sp>
      <p:sp>
        <p:nvSpPr>
          <p:cNvPr id="99" name="Shape 97"/>
          <p:cNvSpPr/>
          <p:nvPr/>
        </p:nvSpPr>
        <p:spPr>
          <a:xfrm>
            <a:off x="2831531" y="4178808"/>
            <a:ext cx="283464" cy="283464"/>
          </a:xfrm>
          <a:prstGeom prst="roundRect">
            <a:avLst>
              <a:gd name="adj" fmla="val 12903"/>
            </a:avLst>
          </a:prstGeom>
          <a:solidFill>
            <a:srgbClr val="A9D08E"/>
          </a:solidFill>
          <a:ln w="12700">
            <a:solidFill>
              <a:srgbClr val="A9D08E"/>
            </a:solidFill>
            <a:prstDash val="solid"/>
          </a:ln>
        </p:spPr>
      </p:sp>
      <p:sp>
        <p:nvSpPr>
          <p:cNvPr id="100" name="Text 98"/>
          <p:cNvSpPr txBox="1"/>
          <p:nvPr/>
        </p:nvSpPr>
        <p:spPr>
          <a:xfrm>
            <a:off x="2831531" y="5244084"/>
            <a:ext cx="1962851" cy="502920"/>
          </a:xfrm>
          <a:prstGeom prst="rect">
            <a:avLst/>
          </a:prstGeom>
          <a:noFill/>
          <a:ln/>
        </p:spPr>
        <p:txBody>
          <a:bodyPr wrap="square" lIns="0" tIns="0" rIns="0" bIns="0" rtlCol="0" anchor="t"/>
          <a:lstStyle/>
          <a:p>
            <a:pPr indent="0" marL="0">
              <a:buNone/>
            </a:pPr>
            <a:r>
              <a:rPr lang="en-US" sz="1100" b="1" dirty="0">
                <a:solidFill>
                  <a:srgbClr val="8A5A00"/>
                </a:solidFill>
                <a:latin typeface="Calibri" pitchFamily="34" charset="0"/>
                <a:ea typeface="Calibri" pitchFamily="34" charset="-122"/>
                <a:cs typeface="Calibri" pitchFamily="34" charset="-120"/>
              </a:rPr>
              <a:t>6</a:t>
            </a:r>
            <a:pPr indent="0" marL="0">
              <a:buNone/>
            </a:pPr>
            <a:r>
              <a:rPr lang="en-US" sz="1100" dirty="0">
                <a:solidFill>
                  <a:srgbClr val="5B6670"/>
                </a:solidFill>
                <a:latin typeface="Calibri" pitchFamily="34" charset="0"/>
                <a:ea typeface="Calibri" pitchFamily="34" charset="-122"/>
                <a:cs typeface="Calibri" pitchFamily="34" charset="-120"/>
              </a:rPr>
              <a:t> EOL   </a:t>
            </a:r>
            <a:pPr indent="0" marL="0">
              <a:buNone/>
            </a:pPr>
            <a:r>
              <a:rPr lang="en-US" sz="1100" b="1" dirty="0">
                <a:solidFill>
                  <a:srgbClr val="C0392B"/>
                </a:solidFill>
                <a:latin typeface="Calibri" pitchFamily="34" charset="0"/>
                <a:ea typeface="Calibri" pitchFamily="34" charset="-122"/>
                <a:cs typeface="Calibri" pitchFamily="34" charset="-120"/>
              </a:rPr>
              <a:t>6</a:t>
            </a:r>
            <a:pPr indent="0" marL="0">
              <a:buNone/>
            </a:pPr>
            <a:r>
              <a:rPr lang="en-US" sz="1100" dirty="0">
                <a:solidFill>
                  <a:srgbClr val="5B6670"/>
                </a:solidFill>
                <a:latin typeface="Calibri" pitchFamily="34" charset="0"/>
                <a:ea typeface="Calibri" pitchFamily="34" charset="-122"/>
                <a:cs typeface="Calibri" pitchFamily="34" charset="-120"/>
              </a:rPr>
              <a:t> secrets</a:t>
            </a:r>
            <a:endParaRPr lang="en-US" sz="1100" dirty="0"/>
          </a:p>
          <a:p>
            <a:pPr indent="0" marL="0">
              <a:buNone/>
            </a:pPr>
            <a:r>
              <a:rPr lang="en-US" sz="1100" b="1" dirty="0">
                <a:solidFill>
                  <a:srgbClr val="1F2933"/>
                </a:solidFill>
                <a:latin typeface="Calibri" pitchFamily="34" charset="0"/>
                <a:ea typeface="Calibri" pitchFamily="34" charset="-122"/>
                <a:cs typeface="Calibri" pitchFamily="34" charset="-120"/>
              </a:rPr>
              <a:t>48%</a:t>
            </a:r>
            <a:pPr indent="0" marL="0">
              <a:buNone/>
            </a:pPr>
            <a:r>
              <a:rPr lang="en-US" sz="1100" dirty="0">
                <a:solidFill>
                  <a:srgbClr val="5B6670"/>
                </a:solidFill>
                <a:latin typeface="Calibri" pitchFamily="34" charset="0"/>
                <a:ea typeface="Calibri" pitchFamily="34" charset="-122"/>
                <a:cs typeface="Calibri" pitchFamily="34" charset="-120"/>
              </a:rPr>
              <a:t> in Sonar   </a:t>
            </a:r>
            <a:pPr indent="0" marL="0">
              <a:buNone/>
            </a:pPr>
            <a:r>
              <a:rPr lang="en-US" sz="1100" b="1" dirty="0">
                <a:solidFill>
                  <a:srgbClr val="1F2933"/>
                </a:solidFill>
                <a:latin typeface="Calibri" pitchFamily="34" charset="0"/>
                <a:ea typeface="Calibri" pitchFamily="34" charset="-122"/>
                <a:cs typeface="Calibri" pitchFamily="34" charset="-120"/>
              </a:rPr>
              <a:t>5.3</a:t>
            </a:r>
            <a:pPr indent="0" marL="0">
              <a:buNone/>
            </a:pPr>
            <a:r>
              <a:rPr lang="en-US" sz="1100" dirty="0">
                <a:solidFill>
                  <a:srgbClr val="5B6670"/>
                </a:solidFill>
                <a:latin typeface="Calibri" pitchFamily="34" charset="0"/>
                <a:ea typeface="Calibri" pitchFamily="34" charset="-122"/>
                <a:cs typeface="Calibri" pitchFamily="34" charset="-120"/>
              </a:rPr>
              <a:t> findings/app</a:t>
            </a:r>
            <a:endParaRPr lang="en-US" sz="1100" dirty="0"/>
          </a:p>
        </p:txBody>
      </p:sp>
      <p:sp>
        <p:nvSpPr>
          <p:cNvPr id="101" name="Text 99"/>
          <p:cNvSpPr txBox="1"/>
          <p:nvPr/>
        </p:nvSpPr>
        <p:spPr>
          <a:xfrm>
            <a:off x="5114422" y="2395728"/>
            <a:ext cx="1414211" cy="411480"/>
          </a:xfrm>
          <a:prstGeom prst="rect">
            <a:avLst/>
          </a:prstGeom>
          <a:noFill/>
          <a:ln/>
        </p:spPr>
        <p:txBody>
          <a:bodyPr wrap="square" lIns="0" tIns="0" rIns="0" bIns="0" rtlCol="0" anchor="ctr"/>
          <a:lstStyle/>
          <a:p>
            <a:pPr indent="0" marL="0">
              <a:buNone/>
            </a:pPr>
            <a:r>
              <a:rPr lang="en-US" sz="1300" b="1" dirty="0">
                <a:solidFill>
                  <a:srgbClr val="12402A"/>
                </a:solidFill>
                <a:latin typeface="Calibri" pitchFamily="34" charset="0"/>
                <a:ea typeface="Calibri" pitchFamily="34" charset="-122"/>
                <a:cs typeface="Calibri" pitchFamily="34" charset="-120"/>
              </a:rPr>
              <a:t>Asim Siddiqi</a:t>
            </a:r>
            <a:endParaRPr lang="en-US" sz="1300" dirty="0"/>
          </a:p>
        </p:txBody>
      </p:sp>
      <p:sp>
        <p:nvSpPr>
          <p:cNvPr id="102" name="Text 100"/>
          <p:cNvSpPr txBox="1"/>
          <p:nvPr/>
        </p:nvSpPr>
        <p:spPr>
          <a:xfrm>
            <a:off x="6528633" y="2359152"/>
            <a:ext cx="548640" cy="457200"/>
          </a:xfrm>
          <a:prstGeom prst="rect">
            <a:avLst/>
          </a:prstGeom>
          <a:noFill/>
          <a:ln/>
        </p:spPr>
        <p:txBody>
          <a:bodyPr wrap="square" lIns="0" tIns="0" rIns="0" bIns="0" rtlCol="0" anchor="ctr"/>
          <a:lstStyle/>
          <a:p>
            <a:pPr algn="r" indent="0" marL="0">
              <a:buNone/>
            </a:pPr>
            <a:r>
              <a:rPr lang="en-US" sz="2200" b="1" dirty="0">
                <a:solidFill>
                  <a:srgbClr val="368727"/>
                </a:solidFill>
                <a:latin typeface="Calibri" pitchFamily="34" charset="0"/>
                <a:ea typeface="Calibri" pitchFamily="34" charset="-122"/>
                <a:cs typeface="Calibri" pitchFamily="34" charset="-120"/>
              </a:rPr>
              <a:t>36</a:t>
            </a:r>
            <a:endParaRPr lang="en-US" sz="2200" dirty="0"/>
          </a:p>
        </p:txBody>
      </p:sp>
      <p:sp>
        <p:nvSpPr>
          <p:cNvPr id="103" name="Shape 101"/>
          <p:cNvSpPr/>
          <p:nvPr/>
        </p:nvSpPr>
        <p:spPr>
          <a:xfrm>
            <a:off x="5114422" y="2880360"/>
            <a:ext cx="283464" cy="283464"/>
          </a:xfrm>
          <a:prstGeom prst="roundRect">
            <a:avLst>
              <a:gd name="adj" fmla="val 12903"/>
            </a:avLst>
          </a:prstGeom>
          <a:solidFill>
            <a:srgbClr val="1E5B34"/>
          </a:solidFill>
          <a:ln w="12700">
            <a:solidFill>
              <a:srgbClr val="1E5B34"/>
            </a:solidFill>
            <a:prstDash val="solid"/>
          </a:ln>
        </p:spPr>
      </p:sp>
      <p:sp>
        <p:nvSpPr>
          <p:cNvPr id="104" name="Text 102"/>
          <p:cNvSpPr txBox="1"/>
          <p:nvPr/>
        </p:nvSpPr>
        <p:spPr>
          <a:xfrm>
            <a:off x="5114422" y="2880360"/>
            <a:ext cx="283464" cy="2834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a:t>
            </a:r>
            <a:endParaRPr lang="en-US" sz="900" dirty="0"/>
          </a:p>
        </p:txBody>
      </p:sp>
      <p:sp>
        <p:nvSpPr>
          <p:cNvPr id="105" name="Shape 103"/>
          <p:cNvSpPr/>
          <p:nvPr/>
        </p:nvSpPr>
        <p:spPr>
          <a:xfrm>
            <a:off x="5306446" y="2852928"/>
            <a:ext cx="118872" cy="118872"/>
          </a:xfrm>
          <a:prstGeom prst="ellipse">
            <a:avLst/>
          </a:prstGeom>
          <a:solidFill>
            <a:srgbClr val="E0A31A"/>
          </a:solidFill>
          <a:ln w="12700">
            <a:solidFill>
              <a:srgbClr val="E0A31A"/>
            </a:solidFill>
            <a:prstDash val="solid"/>
          </a:ln>
        </p:spPr>
      </p:sp>
      <p:sp>
        <p:nvSpPr>
          <p:cNvPr id="106" name="Shape 104"/>
          <p:cNvSpPr/>
          <p:nvPr/>
        </p:nvSpPr>
        <p:spPr>
          <a:xfrm>
            <a:off x="5439034" y="2880360"/>
            <a:ext cx="283464" cy="283464"/>
          </a:xfrm>
          <a:prstGeom prst="roundRect">
            <a:avLst>
              <a:gd name="adj" fmla="val 12903"/>
            </a:avLst>
          </a:prstGeom>
          <a:solidFill>
            <a:srgbClr val="1E5B34"/>
          </a:solidFill>
          <a:ln w="12700">
            <a:solidFill>
              <a:srgbClr val="1E5B34"/>
            </a:solidFill>
            <a:prstDash val="solid"/>
          </a:ln>
        </p:spPr>
      </p:sp>
      <p:sp>
        <p:nvSpPr>
          <p:cNvPr id="107" name="Text 105"/>
          <p:cNvSpPr txBox="1"/>
          <p:nvPr/>
        </p:nvSpPr>
        <p:spPr>
          <a:xfrm>
            <a:off x="5439034" y="2880360"/>
            <a:ext cx="283464" cy="2834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a:t>
            </a:r>
            <a:endParaRPr lang="en-US" sz="900" dirty="0"/>
          </a:p>
        </p:txBody>
      </p:sp>
      <p:sp>
        <p:nvSpPr>
          <p:cNvPr id="108" name="Shape 106"/>
          <p:cNvSpPr/>
          <p:nvPr/>
        </p:nvSpPr>
        <p:spPr>
          <a:xfrm>
            <a:off x="5631058" y="2852928"/>
            <a:ext cx="118872" cy="118872"/>
          </a:xfrm>
          <a:prstGeom prst="ellipse">
            <a:avLst/>
          </a:prstGeom>
          <a:solidFill>
            <a:srgbClr val="E0A31A"/>
          </a:solidFill>
          <a:ln w="12700">
            <a:solidFill>
              <a:srgbClr val="E0A31A"/>
            </a:solidFill>
            <a:prstDash val="solid"/>
          </a:ln>
        </p:spPr>
      </p:sp>
      <p:sp>
        <p:nvSpPr>
          <p:cNvPr id="109" name="Shape 107"/>
          <p:cNvSpPr/>
          <p:nvPr/>
        </p:nvSpPr>
        <p:spPr>
          <a:xfrm>
            <a:off x="5763646" y="2880360"/>
            <a:ext cx="283464" cy="283464"/>
          </a:xfrm>
          <a:prstGeom prst="roundRect">
            <a:avLst>
              <a:gd name="adj" fmla="val 12903"/>
            </a:avLst>
          </a:prstGeom>
          <a:solidFill>
            <a:srgbClr val="1E5B34"/>
          </a:solidFill>
          <a:ln w="12700">
            <a:solidFill>
              <a:srgbClr val="1E5B34"/>
            </a:solidFill>
            <a:prstDash val="solid"/>
          </a:ln>
        </p:spPr>
      </p:sp>
      <p:sp>
        <p:nvSpPr>
          <p:cNvPr id="110" name="Text 108"/>
          <p:cNvSpPr txBox="1"/>
          <p:nvPr/>
        </p:nvSpPr>
        <p:spPr>
          <a:xfrm>
            <a:off x="5763646" y="2880360"/>
            <a:ext cx="283464" cy="2834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a:t>
            </a:r>
            <a:endParaRPr lang="en-US" sz="900" dirty="0"/>
          </a:p>
        </p:txBody>
      </p:sp>
      <p:sp>
        <p:nvSpPr>
          <p:cNvPr id="111" name="Shape 109"/>
          <p:cNvSpPr/>
          <p:nvPr/>
        </p:nvSpPr>
        <p:spPr>
          <a:xfrm>
            <a:off x="5955670" y="2852928"/>
            <a:ext cx="118872" cy="118872"/>
          </a:xfrm>
          <a:prstGeom prst="ellipse">
            <a:avLst/>
          </a:prstGeom>
          <a:solidFill>
            <a:srgbClr val="E0A31A"/>
          </a:solidFill>
          <a:ln w="12700">
            <a:solidFill>
              <a:srgbClr val="E0A31A"/>
            </a:solidFill>
            <a:prstDash val="solid"/>
          </a:ln>
        </p:spPr>
      </p:sp>
      <p:sp>
        <p:nvSpPr>
          <p:cNvPr id="112" name="Shape 110"/>
          <p:cNvSpPr/>
          <p:nvPr/>
        </p:nvSpPr>
        <p:spPr>
          <a:xfrm>
            <a:off x="6088258" y="2880360"/>
            <a:ext cx="283464" cy="283464"/>
          </a:xfrm>
          <a:prstGeom prst="roundRect">
            <a:avLst>
              <a:gd name="adj" fmla="val 12903"/>
            </a:avLst>
          </a:prstGeom>
          <a:solidFill>
            <a:srgbClr val="1E5B34"/>
          </a:solidFill>
          <a:ln w="12700">
            <a:solidFill>
              <a:srgbClr val="1E5B34"/>
            </a:solidFill>
            <a:prstDash val="solid"/>
          </a:ln>
        </p:spPr>
      </p:sp>
      <p:sp>
        <p:nvSpPr>
          <p:cNvPr id="113" name="Text 111"/>
          <p:cNvSpPr txBox="1"/>
          <p:nvPr/>
        </p:nvSpPr>
        <p:spPr>
          <a:xfrm>
            <a:off x="6088258" y="2880360"/>
            <a:ext cx="283464" cy="2834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a:t>
            </a:r>
            <a:endParaRPr lang="en-US" sz="900" dirty="0"/>
          </a:p>
        </p:txBody>
      </p:sp>
      <p:sp>
        <p:nvSpPr>
          <p:cNvPr id="114" name="Shape 112"/>
          <p:cNvSpPr/>
          <p:nvPr/>
        </p:nvSpPr>
        <p:spPr>
          <a:xfrm>
            <a:off x="6280282" y="2852928"/>
            <a:ext cx="118872" cy="118872"/>
          </a:xfrm>
          <a:prstGeom prst="ellipse">
            <a:avLst/>
          </a:prstGeom>
          <a:solidFill>
            <a:srgbClr val="E0A31A"/>
          </a:solidFill>
          <a:ln w="12700">
            <a:solidFill>
              <a:srgbClr val="E0A31A"/>
            </a:solidFill>
            <a:prstDash val="solid"/>
          </a:ln>
        </p:spPr>
      </p:sp>
      <p:sp>
        <p:nvSpPr>
          <p:cNvPr id="115" name="Shape 113"/>
          <p:cNvSpPr/>
          <p:nvPr/>
        </p:nvSpPr>
        <p:spPr>
          <a:xfrm>
            <a:off x="6412870" y="2880360"/>
            <a:ext cx="283464" cy="283464"/>
          </a:xfrm>
          <a:prstGeom prst="roundRect">
            <a:avLst>
              <a:gd name="adj" fmla="val 12903"/>
            </a:avLst>
          </a:prstGeom>
          <a:solidFill>
            <a:srgbClr val="1E5B34"/>
          </a:solidFill>
          <a:ln w="12700">
            <a:solidFill>
              <a:srgbClr val="1E5B34"/>
            </a:solidFill>
            <a:prstDash val="solid"/>
          </a:ln>
        </p:spPr>
      </p:sp>
      <p:sp>
        <p:nvSpPr>
          <p:cNvPr id="116" name="Text 114"/>
          <p:cNvSpPr txBox="1"/>
          <p:nvPr/>
        </p:nvSpPr>
        <p:spPr>
          <a:xfrm>
            <a:off x="6412870" y="2880360"/>
            <a:ext cx="283464" cy="2834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a:t>
            </a:r>
            <a:endParaRPr lang="en-US" sz="900" dirty="0"/>
          </a:p>
        </p:txBody>
      </p:sp>
      <p:sp>
        <p:nvSpPr>
          <p:cNvPr id="117" name="Shape 115"/>
          <p:cNvSpPr/>
          <p:nvPr/>
        </p:nvSpPr>
        <p:spPr>
          <a:xfrm>
            <a:off x="6604894" y="2852928"/>
            <a:ext cx="118872" cy="118872"/>
          </a:xfrm>
          <a:prstGeom prst="ellipse">
            <a:avLst/>
          </a:prstGeom>
          <a:solidFill>
            <a:srgbClr val="E0A31A"/>
          </a:solidFill>
          <a:ln w="12700">
            <a:solidFill>
              <a:srgbClr val="E0A31A"/>
            </a:solidFill>
            <a:prstDash val="solid"/>
          </a:ln>
        </p:spPr>
      </p:sp>
      <p:sp>
        <p:nvSpPr>
          <p:cNvPr id="118" name="Shape 116"/>
          <p:cNvSpPr/>
          <p:nvPr/>
        </p:nvSpPr>
        <p:spPr>
          <a:xfrm>
            <a:off x="6737482" y="2880360"/>
            <a:ext cx="283464" cy="283464"/>
          </a:xfrm>
          <a:prstGeom prst="roundRect">
            <a:avLst>
              <a:gd name="adj" fmla="val 12903"/>
            </a:avLst>
          </a:prstGeom>
          <a:solidFill>
            <a:srgbClr val="1E5B34"/>
          </a:solidFill>
          <a:ln w="12700">
            <a:solidFill>
              <a:srgbClr val="1E5B34"/>
            </a:solidFill>
            <a:prstDash val="solid"/>
          </a:ln>
        </p:spPr>
      </p:sp>
      <p:sp>
        <p:nvSpPr>
          <p:cNvPr id="119" name="Text 117"/>
          <p:cNvSpPr txBox="1"/>
          <p:nvPr/>
        </p:nvSpPr>
        <p:spPr>
          <a:xfrm>
            <a:off x="6737482" y="2880360"/>
            <a:ext cx="283464" cy="2834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a:t>
            </a:r>
            <a:endParaRPr lang="en-US" sz="900" dirty="0"/>
          </a:p>
        </p:txBody>
      </p:sp>
      <p:sp>
        <p:nvSpPr>
          <p:cNvPr id="120" name="Shape 118"/>
          <p:cNvSpPr/>
          <p:nvPr/>
        </p:nvSpPr>
        <p:spPr>
          <a:xfrm>
            <a:off x="6929506" y="2852928"/>
            <a:ext cx="118872" cy="118872"/>
          </a:xfrm>
          <a:prstGeom prst="ellipse">
            <a:avLst/>
          </a:prstGeom>
          <a:solidFill>
            <a:srgbClr val="E0A31A"/>
          </a:solidFill>
          <a:ln w="12700">
            <a:solidFill>
              <a:srgbClr val="E0A31A"/>
            </a:solidFill>
            <a:prstDash val="solid"/>
          </a:ln>
        </p:spPr>
      </p:sp>
      <p:sp>
        <p:nvSpPr>
          <p:cNvPr id="121" name="Shape 119"/>
          <p:cNvSpPr/>
          <p:nvPr/>
        </p:nvSpPr>
        <p:spPr>
          <a:xfrm>
            <a:off x="5114422" y="3204972"/>
            <a:ext cx="283464" cy="283464"/>
          </a:xfrm>
          <a:prstGeom prst="roundRect">
            <a:avLst>
              <a:gd name="adj" fmla="val 12903"/>
            </a:avLst>
          </a:prstGeom>
          <a:solidFill>
            <a:srgbClr val="1E5B34"/>
          </a:solidFill>
          <a:ln w="12700">
            <a:solidFill>
              <a:srgbClr val="1E5B34"/>
            </a:solidFill>
            <a:prstDash val="solid"/>
          </a:ln>
        </p:spPr>
      </p:sp>
      <p:sp>
        <p:nvSpPr>
          <p:cNvPr id="122" name="Text 120"/>
          <p:cNvSpPr txBox="1"/>
          <p:nvPr/>
        </p:nvSpPr>
        <p:spPr>
          <a:xfrm>
            <a:off x="5114422" y="3204972"/>
            <a:ext cx="283464" cy="2834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a:t>
            </a:r>
            <a:endParaRPr lang="en-US" sz="900" dirty="0"/>
          </a:p>
        </p:txBody>
      </p:sp>
      <p:sp>
        <p:nvSpPr>
          <p:cNvPr id="123" name="Shape 121"/>
          <p:cNvSpPr/>
          <p:nvPr/>
        </p:nvSpPr>
        <p:spPr>
          <a:xfrm>
            <a:off x="5306446" y="3177540"/>
            <a:ext cx="118872" cy="118872"/>
          </a:xfrm>
          <a:prstGeom prst="ellipse">
            <a:avLst/>
          </a:prstGeom>
          <a:solidFill>
            <a:srgbClr val="E0A31A"/>
          </a:solidFill>
          <a:ln w="12700">
            <a:solidFill>
              <a:srgbClr val="E0A31A"/>
            </a:solidFill>
            <a:prstDash val="solid"/>
          </a:ln>
        </p:spPr>
      </p:sp>
      <p:sp>
        <p:nvSpPr>
          <p:cNvPr id="124" name="Shape 122"/>
          <p:cNvSpPr/>
          <p:nvPr/>
        </p:nvSpPr>
        <p:spPr>
          <a:xfrm>
            <a:off x="5439034" y="3204972"/>
            <a:ext cx="283464" cy="283464"/>
          </a:xfrm>
          <a:prstGeom prst="roundRect">
            <a:avLst>
              <a:gd name="adj" fmla="val 12903"/>
            </a:avLst>
          </a:prstGeom>
          <a:solidFill>
            <a:srgbClr val="1E5B34"/>
          </a:solidFill>
          <a:ln w="12700">
            <a:solidFill>
              <a:srgbClr val="1E5B34"/>
            </a:solidFill>
            <a:prstDash val="solid"/>
          </a:ln>
        </p:spPr>
      </p:sp>
      <p:sp>
        <p:nvSpPr>
          <p:cNvPr id="125" name="Text 123"/>
          <p:cNvSpPr txBox="1"/>
          <p:nvPr/>
        </p:nvSpPr>
        <p:spPr>
          <a:xfrm>
            <a:off x="5439034" y="3204972"/>
            <a:ext cx="283464" cy="2834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a:t>
            </a:r>
            <a:endParaRPr lang="en-US" sz="900" dirty="0"/>
          </a:p>
        </p:txBody>
      </p:sp>
      <p:sp>
        <p:nvSpPr>
          <p:cNvPr id="126" name="Shape 124"/>
          <p:cNvSpPr/>
          <p:nvPr/>
        </p:nvSpPr>
        <p:spPr>
          <a:xfrm>
            <a:off x="5631058" y="3177540"/>
            <a:ext cx="118872" cy="118872"/>
          </a:xfrm>
          <a:prstGeom prst="ellipse">
            <a:avLst/>
          </a:prstGeom>
          <a:solidFill>
            <a:srgbClr val="E0A31A"/>
          </a:solidFill>
          <a:ln w="12700">
            <a:solidFill>
              <a:srgbClr val="E0A31A"/>
            </a:solidFill>
            <a:prstDash val="solid"/>
          </a:ln>
        </p:spPr>
      </p:sp>
      <p:sp>
        <p:nvSpPr>
          <p:cNvPr id="127" name="Shape 125"/>
          <p:cNvSpPr/>
          <p:nvPr/>
        </p:nvSpPr>
        <p:spPr>
          <a:xfrm>
            <a:off x="5763646" y="3204972"/>
            <a:ext cx="283464" cy="283464"/>
          </a:xfrm>
          <a:prstGeom prst="roundRect">
            <a:avLst>
              <a:gd name="adj" fmla="val 12903"/>
            </a:avLst>
          </a:prstGeom>
          <a:solidFill>
            <a:srgbClr val="1E5B34"/>
          </a:solidFill>
          <a:ln w="12700">
            <a:solidFill>
              <a:srgbClr val="1E5B34"/>
            </a:solidFill>
            <a:prstDash val="solid"/>
          </a:ln>
        </p:spPr>
      </p:sp>
      <p:sp>
        <p:nvSpPr>
          <p:cNvPr id="128" name="Text 126"/>
          <p:cNvSpPr txBox="1"/>
          <p:nvPr/>
        </p:nvSpPr>
        <p:spPr>
          <a:xfrm>
            <a:off x="5763646" y="3204972"/>
            <a:ext cx="283464" cy="2834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129" name="Shape 127"/>
          <p:cNvSpPr/>
          <p:nvPr/>
        </p:nvSpPr>
        <p:spPr>
          <a:xfrm>
            <a:off x="5955670" y="3177540"/>
            <a:ext cx="118872" cy="118872"/>
          </a:xfrm>
          <a:prstGeom prst="ellipse">
            <a:avLst/>
          </a:prstGeom>
          <a:solidFill>
            <a:srgbClr val="E0A31A"/>
          </a:solidFill>
          <a:ln w="12700">
            <a:solidFill>
              <a:srgbClr val="E0A31A"/>
            </a:solidFill>
            <a:prstDash val="solid"/>
          </a:ln>
        </p:spPr>
      </p:sp>
      <p:sp>
        <p:nvSpPr>
          <p:cNvPr id="130" name="Shape 128"/>
          <p:cNvSpPr/>
          <p:nvPr/>
        </p:nvSpPr>
        <p:spPr>
          <a:xfrm>
            <a:off x="6088258" y="3204972"/>
            <a:ext cx="283464" cy="283464"/>
          </a:xfrm>
          <a:prstGeom prst="roundRect">
            <a:avLst>
              <a:gd name="adj" fmla="val 12903"/>
            </a:avLst>
          </a:prstGeom>
          <a:solidFill>
            <a:srgbClr val="1E5B34"/>
          </a:solidFill>
          <a:ln w="12700">
            <a:solidFill>
              <a:srgbClr val="1E5B34"/>
            </a:solidFill>
            <a:prstDash val="solid"/>
          </a:ln>
        </p:spPr>
      </p:sp>
      <p:sp>
        <p:nvSpPr>
          <p:cNvPr id="131" name="Text 129"/>
          <p:cNvSpPr txBox="1"/>
          <p:nvPr/>
        </p:nvSpPr>
        <p:spPr>
          <a:xfrm>
            <a:off x="6088258" y="3204972"/>
            <a:ext cx="283464" cy="2834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132" name="Shape 130"/>
          <p:cNvSpPr/>
          <p:nvPr/>
        </p:nvSpPr>
        <p:spPr>
          <a:xfrm>
            <a:off x="6412870" y="3204972"/>
            <a:ext cx="283464" cy="283464"/>
          </a:xfrm>
          <a:prstGeom prst="roundRect">
            <a:avLst>
              <a:gd name="adj" fmla="val 12903"/>
            </a:avLst>
          </a:prstGeom>
          <a:solidFill>
            <a:srgbClr val="1E5B34"/>
          </a:solidFill>
          <a:ln w="12700">
            <a:solidFill>
              <a:srgbClr val="1E5B34"/>
            </a:solidFill>
            <a:prstDash val="solid"/>
          </a:ln>
        </p:spPr>
      </p:sp>
      <p:sp>
        <p:nvSpPr>
          <p:cNvPr id="133" name="Text 131"/>
          <p:cNvSpPr txBox="1"/>
          <p:nvPr/>
        </p:nvSpPr>
        <p:spPr>
          <a:xfrm>
            <a:off x="6412870" y="3204972"/>
            <a:ext cx="283464" cy="2834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134" name="Shape 132"/>
          <p:cNvSpPr/>
          <p:nvPr/>
        </p:nvSpPr>
        <p:spPr>
          <a:xfrm>
            <a:off x="6737482" y="3204972"/>
            <a:ext cx="283464" cy="283464"/>
          </a:xfrm>
          <a:prstGeom prst="roundRect">
            <a:avLst>
              <a:gd name="adj" fmla="val 12903"/>
            </a:avLst>
          </a:prstGeom>
          <a:solidFill>
            <a:srgbClr val="1E5B34"/>
          </a:solidFill>
          <a:ln w="12700">
            <a:solidFill>
              <a:srgbClr val="1E5B34"/>
            </a:solidFill>
            <a:prstDash val="solid"/>
          </a:ln>
        </p:spPr>
      </p:sp>
      <p:sp>
        <p:nvSpPr>
          <p:cNvPr id="135" name="Text 133"/>
          <p:cNvSpPr txBox="1"/>
          <p:nvPr/>
        </p:nvSpPr>
        <p:spPr>
          <a:xfrm>
            <a:off x="6737482" y="3204972"/>
            <a:ext cx="283464" cy="2834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136" name="Shape 134"/>
          <p:cNvSpPr/>
          <p:nvPr/>
        </p:nvSpPr>
        <p:spPr>
          <a:xfrm>
            <a:off x="5114422" y="3529584"/>
            <a:ext cx="283464" cy="283464"/>
          </a:xfrm>
          <a:prstGeom prst="roundRect">
            <a:avLst>
              <a:gd name="adj" fmla="val 12903"/>
            </a:avLst>
          </a:prstGeom>
          <a:solidFill>
            <a:srgbClr val="1E5B34"/>
          </a:solidFill>
          <a:ln w="12700">
            <a:solidFill>
              <a:srgbClr val="1E5B34"/>
            </a:solidFill>
            <a:prstDash val="solid"/>
          </a:ln>
        </p:spPr>
      </p:sp>
      <p:sp>
        <p:nvSpPr>
          <p:cNvPr id="137" name="Text 135"/>
          <p:cNvSpPr txBox="1"/>
          <p:nvPr/>
        </p:nvSpPr>
        <p:spPr>
          <a:xfrm>
            <a:off x="5114422" y="3529584"/>
            <a:ext cx="283464" cy="2834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a:t>
            </a:r>
            <a:endParaRPr lang="en-US" sz="900" dirty="0"/>
          </a:p>
        </p:txBody>
      </p:sp>
      <p:sp>
        <p:nvSpPr>
          <p:cNvPr id="138" name="Shape 136"/>
          <p:cNvSpPr/>
          <p:nvPr/>
        </p:nvSpPr>
        <p:spPr>
          <a:xfrm>
            <a:off x="5439034" y="3529584"/>
            <a:ext cx="283464" cy="283464"/>
          </a:xfrm>
          <a:prstGeom prst="roundRect">
            <a:avLst>
              <a:gd name="adj" fmla="val 12903"/>
            </a:avLst>
          </a:prstGeom>
          <a:solidFill>
            <a:srgbClr val="1E5B34"/>
          </a:solidFill>
          <a:ln w="12700">
            <a:solidFill>
              <a:srgbClr val="1E5B34"/>
            </a:solidFill>
            <a:prstDash val="solid"/>
          </a:ln>
        </p:spPr>
      </p:sp>
      <p:sp>
        <p:nvSpPr>
          <p:cNvPr id="139" name="Text 137"/>
          <p:cNvSpPr txBox="1"/>
          <p:nvPr/>
        </p:nvSpPr>
        <p:spPr>
          <a:xfrm>
            <a:off x="5439034" y="3529584"/>
            <a:ext cx="283464" cy="2834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a:t>
            </a:r>
            <a:endParaRPr lang="en-US" sz="900" dirty="0"/>
          </a:p>
        </p:txBody>
      </p:sp>
      <p:sp>
        <p:nvSpPr>
          <p:cNvPr id="140" name="Shape 138"/>
          <p:cNvSpPr/>
          <p:nvPr/>
        </p:nvSpPr>
        <p:spPr>
          <a:xfrm>
            <a:off x="5763646" y="3529584"/>
            <a:ext cx="283464" cy="283464"/>
          </a:xfrm>
          <a:prstGeom prst="roundRect">
            <a:avLst>
              <a:gd name="adj" fmla="val 12903"/>
            </a:avLst>
          </a:prstGeom>
          <a:solidFill>
            <a:srgbClr val="1E5B34"/>
          </a:solidFill>
          <a:ln w="12700">
            <a:solidFill>
              <a:srgbClr val="1E5B34"/>
            </a:solidFill>
            <a:prstDash val="solid"/>
          </a:ln>
        </p:spPr>
      </p:sp>
      <p:sp>
        <p:nvSpPr>
          <p:cNvPr id="141" name="Text 139"/>
          <p:cNvSpPr txBox="1"/>
          <p:nvPr/>
        </p:nvSpPr>
        <p:spPr>
          <a:xfrm>
            <a:off x="5763646" y="3529584"/>
            <a:ext cx="283464" cy="2834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a:t>
            </a:r>
            <a:endParaRPr lang="en-US" sz="900" dirty="0"/>
          </a:p>
        </p:txBody>
      </p:sp>
      <p:sp>
        <p:nvSpPr>
          <p:cNvPr id="142" name="Shape 140"/>
          <p:cNvSpPr/>
          <p:nvPr/>
        </p:nvSpPr>
        <p:spPr>
          <a:xfrm>
            <a:off x="6088258" y="3529584"/>
            <a:ext cx="283464" cy="283464"/>
          </a:xfrm>
          <a:prstGeom prst="roundRect">
            <a:avLst>
              <a:gd name="adj" fmla="val 12903"/>
            </a:avLst>
          </a:prstGeom>
          <a:solidFill>
            <a:srgbClr val="1E5B34"/>
          </a:solidFill>
          <a:ln w="12700">
            <a:solidFill>
              <a:srgbClr val="1E5B34"/>
            </a:solidFill>
            <a:prstDash val="solid"/>
          </a:ln>
        </p:spPr>
      </p:sp>
      <p:sp>
        <p:nvSpPr>
          <p:cNvPr id="143" name="Text 141"/>
          <p:cNvSpPr txBox="1"/>
          <p:nvPr/>
        </p:nvSpPr>
        <p:spPr>
          <a:xfrm>
            <a:off x="6088258" y="3529584"/>
            <a:ext cx="283464" cy="2834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a:t>
            </a:r>
            <a:endParaRPr lang="en-US" sz="900" dirty="0"/>
          </a:p>
        </p:txBody>
      </p:sp>
      <p:sp>
        <p:nvSpPr>
          <p:cNvPr id="144" name="Shape 142"/>
          <p:cNvSpPr/>
          <p:nvPr/>
        </p:nvSpPr>
        <p:spPr>
          <a:xfrm>
            <a:off x="6412870" y="3529584"/>
            <a:ext cx="283464" cy="283464"/>
          </a:xfrm>
          <a:prstGeom prst="roundRect">
            <a:avLst>
              <a:gd name="adj" fmla="val 12903"/>
            </a:avLst>
          </a:prstGeom>
          <a:solidFill>
            <a:srgbClr val="368727"/>
          </a:solidFill>
          <a:ln w="12700">
            <a:solidFill>
              <a:srgbClr val="368727"/>
            </a:solidFill>
            <a:prstDash val="solid"/>
          </a:ln>
        </p:spPr>
      </p:sp>
      <p:sp>
        <p:nvSpPr>
          <p:cNvPr id="145" name="Text 143"/>
          <p:cNvSpPr txBox="1"/>
          <p:nvPr/>
        </p:nvSpPr>
        <p:spPr>
          <a:xfrm>
            <a:off x="6412870" y="3529584"/>
            <a:ext cx="283464" cy="2834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a:t>
            </a:r>
            <a:endParaRPr lang="en-US" sz="900" dirty="0"/>
          </a:p>
        </p:txBody>
      </p:sp>
      <p:sp>
        <p:nvSpPr>
          <p:cNvPr id="146" name="Shape 144"/>
          <p:cNvSpPr/>
          <p:nvPr/>
        </p:nvSpPr>
        <p:spPr>
          <a:xfrm>
            <a:off x="6737482" y="3529584"/>
            <a:ext cx="283464" cy="283464"/>
          </a:xfrm>
          <a:prstGeom prst="roundRect">
            <a:avLst>
              <a:gd name="adj" fmla="val 12903"/>
            </a:avLst>
          </a:prstGeom>
          <a:solidFill>
            <a:srgbClr val="6BA55D"/>
          </a:solidFill>
          <a:ln w="12700">
            <a:solidFill>
              <a:srgbClr val="6BA55D"/>
            </a:solidFill>
            <a:prstDash val="solid"/>
          </a:ln>
        </p:spPr>
      </p:sp>
      <p:sp>
        <p:nvSpPr>
          <p:cNvPr id="147" name="Text 145"/>
          <p:cNvSpPr txBox="1"/>
          <p:nvPr/>
        </p:nvSpPr>
        <p:spPr>
          <a:xfrm>
            <a:off x="6737482" y="3529584"/>
            <a:ext cx="283464" cy="283464"/>
          </a:xfrm>
          <a:prstGeom prst="rect">
            <a:avLst/>
          </a:prstGeom>
          <a:noFill/>
          <a:ln/>
        </p:spPr>
        <p:txBody>
          <a:bodyPr wrap="square" lIns="0" tIns="0" rIns="0" bIns="0" rtlCol="0" anchor="ctr"/>
          <a:lstStyle/>
          <a:p>
            <a:pPr algn="ctr" indent="0" marL="0">
              <a:buNone/>
            </a:pPr>
            <a:r>
              <a:rPr lang="en-US" sz="900" b="1" dirty="0">
                <a:solidFill>
                  <a:srgbClr val="12402A"/>
                </a:solidFill>
                <a:latin typeface="Calibri" pitchFamily="34" charset="0"/>
                <a:ea typeface="Calibri" pitchFamily="34" charset="-122"/>
                <a:cs typeface="Calibri" pitchFamily="34" charset="-120"/>
              </a:rPr>
              <a:t>L</a:t>
            </a:r>
            <a:endParaRPr lang="en-US" sz="900" dirty="0"/>
          </a:p>
        </p:txBody>
      </p:sp>
      <p:sp>
        <p:nvSpPr>
          <p:cNvPr id="148" name="Shape 146"/>
          <p:cNvSpPr/>
          <p:nvPr/>
        </p:nvSpPr>
        <p:spPr>
          <a:xfrm>
            <a:off x="5114422" y="3854196"/>
            <a:ext cx="283464" cy="283464"/>
          </a:xfrm>
          <a:prstGeom prst="roundRect">
            <a:avLst>
              <a:gd name="adj" fmla="val 12903"/>
            </a:avLst>
          </a:prstGeom>
          <a:solidFill>
            <a:srgbClr val="6BA55D"/>
          </a:solidFill>
          <a:ln w="12700">
            <a:solidFill>
              <a:srgbClr val="6BA55D"/>
            </a:solidFill>
            <a:prstDash val="solid"/>
          </a:ln>
        </p:spPr>
      </p:sp>
      <p:sp>
        <p:nvSpPr>
          <p:cNvPr id="149" name="Text 147"/>
          <p:cNvSpPr txBox="1"/>
          <p:nvPr/>
        </p:nvSpPr>
        <p:spPr>
          <a:xfrm>
            <a:off x="5114422" y="3854196"/>
            <a:ext cx="283464" cy="283464"/>
          </a:xfrm>
          <a:prstGeom prst="rect">
            <a:avLst/>
          </a:prstGeom>
          <a:noFill/>
          <a:ln/>
        </p:spPr>
        <p:txBody>
          <a:bodyPr wrap="square" lIns="0" tIns="0" rIns="0" bIns="0" rtlCol="0" anchor="ctr"/>
          <a:lstStyle/>
          <a:p>
            <a:pPr algn="ctr" indent="0" marL="0">
              <a:buNone/>
            </a:pPr>
            <a:r>
              <a:rPr lang="en-US" sz="900" b="1" dirty="0">
                <a:solidFill>
                  <a:srgbClr val="12402A"/>
                </a:solidFill>
                <a:latin typeface="Calibri" pitchFamily="34" charset="0"/>
                <a:ea typeface="Calibri" pitchFamily="34" charset="-122"/>
                <a:cs typeface="Calibri" pitchFamily="34" charset="-120"/>
              </a:rPr>
              <a:t>L</a:t>
            </a:r>
            <a:endParaRPr lang="en-US" sz="900" dirty="0"/>
          </a:p>
        </p:txBody>
      </p:sp>
      <p:sp>
        <p:nvSpPr>
          <p:cNvPr id="150" name="Shape 148"/>
          <p:cNvSpPr/>
          <p:nvPr/>
        </p:nvSpPr>
        <p:spPr>
          <a:xfrm>
            <a:off x="5439034" y="3854196"/>
            <a:ext cx="283464" cy="283464"/>
          </a:xfrm>
          <a:prstGeom prst="roundRect">
            <a:avLst>
              <a:gd name="adj" fmla="val 12903"/>
            </a:avLst>
          </a:prstGeom>
          <a:solidFill>
            <a:srgbClr val="6BA55D"/>
          </a:solidFill>
          <a:ln w="12700">
            <a:solidFill>
              <a:srgbClr val="6BA55D"/>
            </a:solidFill>
            <a:prstDash val="solid"/>
          </a:ln>
        </p:spPr>
      </p:sp>
      <p:sp>
        <p:nvSpPr>
          <p:cNvPr id="151" name="Text 149"/>
          <p:cNvSpPr txBox="1"/>
          <p:nvPr/>
        </p:nvSpPr>
        <p:spPr>
          <a:xfrm>
            <a:off x="5439034" y="3854196"/>
            <a:ext cx="283464" cy="283464"/>
          </a:xfrm>
          <a:prstGeom prst="rect">
            <a:avLst/>
          </a:prstGeom>
          <a:noFill/>
          <a:ln/>
        </p:spPr>
        <p:txBody>
          <a:bodyPr wrap="square" lIns="0" tIns="0" rIns="0" bIns="0" rtlCol="0" anchor="ctr"/>
          <a:lstStyle/>
          <a:p>
            <a:pPr algn="ctr" indent="0" marL="0">
              <a:buNone/>
            </a:pPr>
            <a:r>
              <a:rPr lang="en-US" sz="900" b="1" dirty="0">
                <a:solidFill>
                  <a:srgbClr val="12402A"/>
                </a:solidFill>
                <a:latin typeface="Calibri" pitchFamily="34" charset="0"/>
                <a:ea typeface="Calibri" pitchFamily="34" charset="-122"/>
                <a:cs typeface="Calibri" pitchFamily="34" charset="-120"/>
              </a:rPr>
              <a:t>L</a:t>
            </a:r>
            <a:endParaRPr lang="en-US" sz="900" dirty="0"/>
          </a:p>
        </p:txBody>
      </p:sp>
      <p:sp>
        <p:nvSpPr>
          <p:cNvPr id="152" name="Shape 150"/>
          <p:cNvSpPr/>
          <p:nvPr/>
        </p:nvSpPr>
        <p:spPr>
          <a:xfrm>
            <a:off x="5763646" y="3854196"/>
            <a:ext cx="283464" cy="283464"/>
          </a:xfrm>
          <a:prstGeom prst="roundRect">
            <a:avLst>
              <a:gd name="adj" fmla="val 12903"/>
            </a:avLst>
          </a:prstGeom>
          <a:solidFill>
            <a:srgbClr val="6BA55D"/>
          </a:solidFill>
          <a:ln w="12700">
            <a:solidFill>
              <a:srgbClr val="6BA55D"/>
            </a:solidFill>
            <a:prstDash val="solid"/>
          </a:ln>
        </p:spPr>
      </p:sp>
      <p:sp>
        <p:nvSpPr>
          <p:cNvPr id="153" name="Text 151"/>
          <p:cNvSpPr txBox="1"/>
          <p:nvPr/>
        </p:nvSpPr>
        <p:spPr>
          <a:xfrm>
            <a:off x="5763646" y="3854196"/>
            <a:ext cx="283464" cy="283464"/>
          </a:xfrm>
          <a:prstGeom prst="rect">
            <a:avLst/>
          </a:prstGeom>
          <a:noFill/>
          <a:ln/>
        </p:spPr>
        <p:txBody>
          <a:bodyPr wrap="square" lIns="0" tIns="0" rIns="0" bIns="0" rtlCol="0" anchor="ctr"/>
          <a:lstStyle/>
          <a:p>
            <a:pPr algn="ctr" indent="0" marL="0">
              <a:buNone/>
            </a:pPr>
            <a:r>
              <a:rPr lang="en-US" sz="900" b="1" dirty="0">
                <a:solidFill>
                  <a:srgbClr val="12402A"/>
                </a:solidFill>
                <a:latin typeface="Calibri" pitchFamily="34" charset="0"/>
                <a:ea typeface="Calibri" pitchFamily="34" charset="-122"/>
                <a:cs typeface="Calibri" pitchFamily="34" charset="-120"/>
              </a:rPr>
              <a:t>L</a:t>
            </a:r>
            <a:endParaRPr lang="en-US" sz="900" dirty="0"/>
          </a:p>
        </p:txBody>
      </p:sp>
      <p:sp>
        <p:nvSpPr>
          <p:cNvPr id="154" name="Shape 152"/>
          <p:cNvSpPr/>
          <p:nvPr/>
        </p:nvSpPr>
        <p:spPr>
          <a:xfrm>
            <a:off x="6088258" y="3854196"/>
            <a:ext cx="283464" cy="283464"/>
          </a:xfrm>
          <a:prstGeom prst="roundRect">
            <a:avLst>
              <a:gd name="adj" fmla="val 12903"/>
            </a:avLst>
          </a:prstGeom>
          <a:solidFill>
            <a:srgbClr val="6BA55D"/>
          </a:solidFill>
          <a:ln w="12700">
            <a:solidFill>
              <a:srgbClr val="6BA55D"/>
            </a:solidFill>
            <a:prstDash val="solid"/>
          </a:ln>
        </p:spPr>
      </p:sp>
      <p:sp>
        <p:nvSpPr>
          <p:cNvPr id="155" name="Text 153"/>
          <p:cNvSpPr txBox="1"/>
          <p:nvPr/>
        </p:nvSpPr>
        <p:spPr>
          <a:xfrm>
            <a:off x="6088258" y="3854196"/>
            <a:ext cx="283464" cy="283464"/>
          </a:xfrm>
          <a:prstGeom prst="rect">
            <a:avLst/>
          </a:prstGeom>
          <a:noFill/>
          <a:ln/>
        </p:spPr>
        <p:txBody>
          <a:bodyPr wrap="square" lIns="0" tIns="0" rIns="0" bIns="0" rtlCol="0" anchor="ctr"/>
          <a:lstStyle/>
          <a:p>
            <a:pPr algn="ctr" indent="0" marL="0">
              <a:buNone/>
            </a:pPr>
            <a:r>
              <a:rPr lang="en-US" sz="900" b="1" dirty="0">
                <a:solidFill>
                  <a:srgbClr val="12402A"/>
                </a:solidFill>
                <a:latin typeface="Calibri" pitchFamily="34" charset="0"/>
                <a:ea typeface="Calibri" pitchFamily="34" charset="-122"/>
                <a:cs typeface="Calibri" pitchFamily="34" charset="-120"/>
              </a:rPr>
              <a:t>L</a:t>
            </a:r>
            <a:endParaRPr lang="en-US" sz="900" dirty="0"/>
          </a:p>
        </p:txBody>
      </p:sp>
      <p:sp>
        <p:nvSpPr>
          <p:cNvPr id="156" name="Shape 154"/>
          <p:cNvSpPr/>
          <p:nvPr/>
        </p:nvSpPr>
        <p:spPr>
          <a:xfrm>
            <a:off x="6412870" y="3854196"/>
            <a:ext cx="283464" cy="283464"/>
          </a:xfrm>
          <a:prstGeom prst="roundRect">
            <a:avLst>
              <a:gd name="adj" fmla="val 12903"/>
            </a:avLst>
          </a:prstGeom>
          <a:solidFill>
            <a:srgbClr val="6BA55D"/>
          </a:solidFill>
          <a:ln w="12700">
            <a:solidFill>
              <a:srgbClr val="6BA55D"/>
            </a:solidFill>
            <a:prstDash val="solid"/>
          </a:ln>
        </p:spPr>
      </p:sp>
      <p:sp>
        <p:nvSpPr>
          <p:cNvPr id="157" name="Text 155"/>
          <p:cNvSpPr txBox="1"/>
          <p:nvPr/>
        </p:nvSpPr>
        <p:spPr>
          <a:xfrm>
            <a:off x="6412870" y="3854196"/>
            <a:ext cx="283464" cy="283464"/>
          </a:xfrm>
          <a:prstGeom prst="rect">
            <a:avLst/>
          </a:prstGeom>
          <a:noFill/>
          <a:ln/>
        </p:spPr>
        <p:txBody>
          <a:bodyPr wrap="square" lIns="0" tIns="0" rIns="0" bIns="0" rtlCol="0" anchor="ctr"/>
          <a:lstStyle/>
          <a:p>
            <a:pPr algn="ctr" indent="0" marL="0">
              <a:buNone/>
            </a:pPr>
            <a:r>
              <a:rPr lang="en-US" sz="900" b="1" dirty="0">
                <a:solidFill>
                  <a:srgbClr val="12402A"/>
                </a:solidFill>
                <a:latin typeface="Calibri" pitchFamily="34" charset="0"/>
                <a:ea typeface="Calibri" pitchFamily="34" charset="-122"/>
                <a:cs typeface="Calibri" pitchFamily="34" charset="-120"/>
              </a:rPr>
              <a:t>A</a:t>
            </a:r>
            <a:endParaRPr lang="en-US" sz="900" dirty="0"/>
          </a:p>
        </p:txBody>
      </p:sp>
      <p:sp>
        <p:nvSpPr>
          <p:cNvPr id="158" name="Shape 156"/>
          <p:cNvSpPr/>
          <p:nvPr/>
        </p:nvSpPr>
        <p:spPr>
          <a:xfrm>
            <a:off x="6737482" y="3854196"/>
            <a:ext cx="283464" cy="283464"/>
          </a:xfrm>
          <a:prstGeom prst="roundRect">
            <a:avLst>
              <a:gd name="adj" fmla="val 12903"/>
            </a:avLst>
          </a:prstGeom>
          <a:solidFill>
            <a:srgbClr val="6BA55D"/>
          </a:solidFill>
          <a:ln w="12700">
            <a:solidFill>
              <a:srgbClr val="6BA55D"/>
            </a:solidFill>
            <a:prstDash val="solid"/>
          </a:ln>
        </p:spPr>
      </p:sp>
      <p:sp>
        <p:nvSpPr>
          <p:cNvPr id="159" name="Shape 157"/>
          <p:cNvSpPr/>
          <p:nvPr/>
        </p:nvSpPr>
        <p:spPr>
          <a:xfrm>
            <a:off x="5114422" y="4178808"/>
            <a:ext cx="283464" cy="283464"/>
          </a:xfrm>
          <a:prstGeom prst="roundRect">
            <a:avLst>
              <a:gd name="adj" fmla="val 12903"/>
            </a:avLst>
          </a:prstGeom>
          <a:solidFill>
            <a:srgbClr val="6BA55D"/>
          </a:solidFill>
          <a:ln w="12700">
            <a:solidFill>
              <a:srgbClr val="6BA55D"/>
            </a:solidFill>
            <a:prstDash val="solid"/>
          </a:ln>
        </p:spPr>
      </p:sp>
      <p:sp>
        <p:nvSpPr>
          <p:cNvPr id="160" name="Shape 158"/>
          <p:cNvSpPr/>
          <p:nvPr/>
        </p:nvSpPr>
        <p:spPr>
          <a:xfrm>
            <a:off x="5439034" y="4178808"/>
            <a:ext cx="283464" cy="283464"/>
          </a:xfrm>
          <a:prstGeom prst="roundRect">
            <a:avLst>
              <a:gd name="adj" fmla="val 12903"/>
            </a:avLst>
          </a:prstGeom>
          <a:solidFill>
            <a:srgbClr val="6BA55D"/>
          </a:solidFill>
          <a:ln w="12700">
            <a:solidFill>
              <a:srgbClr val="6BA55D"/>
            </a:solidFill>
            <a:prstDash val="solid"/>
          </a:ln>
        </p:spPr>
      </p:sp>
      <p:sp>
        <p:nvSpPr>
          <p:cNvPr id="161" name="Shape 159"/>
          <p:cNvSpPr/>
          <p:nvPr/>
        </p:nvSpPr>
        <p:spPr>
          <a:xfrm>
            <a:off x="5763646" y="4178808"/>
            <a:ext cx="283464" cy="283464"/>
          </a:xfrm>
          <a:prstGeom prst="roundRect">
            <a:avLst>
              <a:gd name="adj" fmla="val 12903"/>
            </a:avLst>
          </a:prstGeom>
          <a:solidFill>
            <a:srgbClr val="A9D08E"/>
          </a:solidFill>
          <a:ln w="12700">
            <a:solidFill>
              <a:srgbClr val="A9D08E"/>
            </a:solidFill>
            <a:prstDash val="solid"/>
          </a:ln>
        </p:spPr>
      </p:sp>
      <p:sp>
        <p:nvSpPr>
          <p:cNvPr id="162" name="Shape 160"/>
          <p:cNvSpPr/>
          <p:nvPr/>
        </p:nvSpPr>
        <p:spPr>
          <a:xfrm>
            <a:off x="6088258" y="4178808"/>
            <a:ext cx="283464" cy="283464"/>
          </a:xfrm>
          <a:prstGeom prst="roundRect">
            <a:avLst>
              <a:gd name="adj" fmla="val 12903"/>
            </a:avLst>
          </a:prstGeom>
          <a:solidFill>
            <a:srgbClr val="A9D08E"/>
          </a:solidFill>
          <a:ln w="12700">
            <a:solidFill>
              <a:srgbClr val="A9D08E"/>
            </a:solidFill>
            <a:prstDash val="solid"/>
          </a:ln>
        </p:spPr>
      </p:sp>
      <p:sp>
        <p:nvSpPr>
          <p:cNvPr id="163" name="Shape 161"/>
          <p:cNvSpPr/>
          <p:nvPr/>
        </p:nvSpPr>
        <p:spPr>
          <a:xfrm>
            <a:off x="6412870" y="4178808"/>
            <a:ext cx="283464" cy="283464"/>
          </a:xfrm>
          <a:prstGeom prst="roundRect">
            <a:avLst>
              <a:gd name="adj" fmla="val 12903"/>
            </a:avLst>
          </a:prstGeom>
          <a:solidFill>
            <a:srgbClr val="A9D08E"/>
          </a:solidFill>
          <a:ln w="12700">
            <a:solidFill>
              <a:srgbClr val="A9D08E"/>
            </a:solidFill>
            <a:prstDash val="solid"/>
          </a:ln>
        </p:spPr>
      </p:sp>
      <p:sp>
        <p:nvSpPr>
          <p:cNvPr id="164" name="Shape 162"/>
          <p:cNvSpPr/>
          <p:nvPr/>
        </p:nvSpPr>
        <p:spPr>
          <a:xfrm>
            <a:off x="6737482" y="4178808"/>
            <a:ext cx="283464" cy="283464"/>
          </a:xfrm>
          <a:prstGeom prst="roundRect">
            <a:avLst>
              <a:gd name="adj" fmla="val 12903"/>
            </a:avLst>
          </a:prstGeom>
          <a:solidFill>
            <a:srgbClr val="A9D08E"/>
          </a:solidFill>
          <a:ln w="12700">
            <a:solidFill>
              <a:srgbClr val="A9D08E"/>
            </a:solidFill>
            <a:prstDash val="solid"/>
          </a:ln>
        </p:spPr>
      </p:sp>
      <p:sp>
        <p:nvSpPr>
          <p:cNvPr id="165" name="Shape 163"/>
          <p:cNvSpPr/>
          <p:nvPr/>
        </p:nvSpPr>
        <p:spPr>
          <a:xfrm>
            <a:off x="5114422" y="4503420"/>
            <a:ext cx="283464" cy="283464"/>
          </a:xfrm>
          <a:prstGeom prst="roundRect">
            <a:avLst>
              <a:gd name="adj" fmla="val 12903"/>
            </a:avLst>
          </a:prstGeom>
          <a:solidFill>
            <a:srgbClr val="A9D08E"/>
          </a:solidFill>
          <a:ln w="12700">
            <a:solidFill>
              <a:srgbClr val="A9D08E"/>
            </a:solidFill>
            <a:prstDash val="solid"/>
          </a:ln>
        </p:spPr>
      </p:sp>
      <p:sp>
        <p:nvSpPr>
          <p:cNvPr id="166" name="Shape 164"/>
          <p:cNvSpPr/>
          <p:nvPr/>
        </p:nvSpPr>
        <p:spPr>
          <a:xfrm>
            <a:off x="5439034" y="4503420"/>
            <a:ext cx="283464" cy="283464"/>
          </a:xfrm>
          <a:prstGeom prst="roundRect">
            <a:avLst>
              <a:gd name="adj" fmla="val 12903"/>
            </a:avLst>
          </a:prstGeom>
          <a:solidFill>
            <a:srgbClr val="A9D08E"/>
          </a:solidFill>
          <a:ln w="12700">
            <a:solidFill>
              <a:srgbClr val="A9D08E"/>
            </a:solidFill>
            <a:prstDash val="solid"/>
          </a:ln>
        </p:spPr>
      </p:sp>
      <p:sp>
        <p:nvSpPr>
          <p:cNvPr id="167" name="Shape 165"/>
          <p:cNvSpPr/>
          <p:nvPr/>
        </p:nvSpPr>
        <p:spPr>
          <a:xfrm>
            <a:off x="5763646" y="4503420"/>
            <a:ext cx="283464" cy="283464"/>
          </a:xfrm>
          <a:prstGeom prst="roundRect">
            <a:avLst>
              <a:gd name="adj" fmla="val 12903"/>
            </a:avLst>
          </a:prstGeom>
          <a:solidFill>
            <a:srgbClr val="A9D08E"/>
          </a:solidFill>
          <a:ln w="12700">
            <a:solidFill>
              <a:srgbClr val="A9D08E"/>
            </a:solidFill>
            <a:prstDash val="solid"/>
          </a:ln>
        </p:spPr>
      </p:sp>
      <p:sp>
        <p:nvSpPr>
          <p:cNvPr id="168" name="Shape 166"/>
          <p:cNvSpPr/>
          <p:nvPr/>
        </p:nvSpPr>
        <p:spPr>
          <a:xfrm>
            <a:off x="6088258" y="4503420"/>
            <a:ext cx="283464" cy="283464"/>
          </a:xfrm>
          <a:prstGeom prst="roundRect">
            <a:avLst>
              <a:gd name="adj" fmla="val 12903"/>
            </a:avLst>
          </a:prstGeom>
          <a:solidFill>
            <a:srgbClr val="A9D08E"/>
          </a:solidFill>
          <a:ln w="12700">
            <a:solidFill>
              <a:srgbClr val="A9D08E"/>
            </a:solidFill>
            <a:prstDash val="solid"/>
          </a:ln>
        </p:spPr>
      </p:sp>
      <p:sp>
        <p:nvSpPr>
          <p:cNvPr id="169" name="Shape 167"/>
          <p:cNvSpPr/>
          <p:nvPr/>
        </p:nvSpPr>
        <p:spPr>
          <a:xfrm>
            <a:off x="6412870" y="4503420"/>
            <a:ext cx="283464" cy="283464"/>
          </a:xfrm>
          <a:prstGeom prst="roundRect">
            <a:avLst>
              <a:gd name="adj" fmla="val 12903"/>
            </a:avLst>
          </a:prstGeom>
          <a:solidFill>
            <a:srgbClr val="A9D08E"/>
          </a:solidFill>
          <a:ln w="12700">
            <a:solidFill>
              <a:srgbClr val="A9D08E"/>
            </a:solidFill>
            <a:prstDash val="solid"/>
          </a:ln>
        </p:spPr>
      </p:sp>
      <p:sp>
        <p:nvSpPr>
          <p:cNvPr id="170" name="Shape 168"/>
          <p:cNvSpPr/>
          <p:nvPr/>
        </p:nvSpPr>
        <p:spPr>
          <a:xfrm>
            <a:off x="6737482" y="4503420"/>
            <a:ext cx="283464" cy="283464"/>
          </a:xfrm>
          <a:prstGeom prst="roundRect">
            <a:avLst>
              <a:gd name="adj" fmla="val 12903"/>
            </a:avLst>
          </a:prstGeom>
          <a:solidFill>
            <a:srgbClr val="A9D08E"/>
          </a:solidFill>
          <a:ln w="12700">
            <a:solidFill>
              <a:srgbClr val="A9D08E"/>
            </a:solidFill>
            <a:prstDash val="solid"/>
          </a:ln>
        </p:spPr>
      </p:sp>
      <p:sp>
        <p:nvSpPr>
          <p:cNvPr id="171" name="Text 169"/>
          <p:cNvSpPr txBox="1"/>
          <p:nvPr/>
        </p:nvSpPr>
        <p:spPr>
          <a:xfrm>
            <a:off x="5114422" y="5244084"/>
            <a:ext cx="1962851" cy="502920"/>
          </a:xfrm>
          <a:prstGeom prst="rect">
            <a:avLst/>
          </a:prstGeom>
          <a:noFill/>
          <a:ln/>
        </p:spPr>
        <p:txBody>
          <a:bodyPr wrap="square" lIns="0" tIns="0" rIns="0" bIns="0" rtlCol="0" anchor="t"/>
          <a:lstStyle/>
          <a:p>
            <a:pPr indent="0" marL="0">
              <a:buNone/>
            </a:pPr>
            <a:r>
              <a:rPr lang="en-US" sz="1100" b="1" dirty="0">
                <a:solidFill>
                  <a:srgbClr val="8A5A00"/>
                </a:solidFill>
                <a:latin typeface="Calibri" pitchFamily="34" charset="0"/>
                <a:ea typeface="Calibri" pitchFamily="34" charset="-122"/>
                <a:cs typeface="Calibri" pitchFamily="34" charset="-120"/>
              </a:rPr>
              <a:t>9</a:t>
            </a:r>
            <a:pPr indent="0" marL="0">
              <a:buNone/>
            </a:pPr>
            <a:r>
              <a:rPr lang="en-US" sz="1100" dirty="0">
                <a:solidFill>
                  <a:srgbClr val="5B6670"/>
                </a:solidFill>
                <a:latin typeface="Calibri" pitchFamily="34" charset="0"/>
                <a:ea typeface="Calibri" pitchFamily="34" charset="-122"/>
                <a:cs typeface="Calibri" pitchFamily="34" charset="-120"/>
              </a:rPr>
              <a:t> EOL   </a:t>
            </a:r>
            <a:pPr indent="0" marL="0">
              <a:buNone/>
            </a:pPr>
            <a:r>
              <a:rPr lang="en-US" sz="1100" b="1" dirty="0">
                <a:solidFill>
                  <a:srgbClr val="5B6670"/>
                </a:solidFill>
                <a:latin typeface="Calibri" pitchFamily="34" charset="0"/>
                <a:ea typeface="Calibri" pitchFamily="34" charset="-122"/>
                <a:cs typeface="Calibri" pitchFamily="34" charset="-120"/>
              </a:rPr>
              <a:t>0</a:t>
            </a:r>
            <a:pPr indent="0" marL="0">
              <a:buNone/>
            </a:pPr>
            <a:r>
              <a:rPr lang="en-US" sz="1100" dirty="0">
                <a:solidFill>
                  <a:srgbClr val="5B6670"/>
                </a:solidFill>
                <a:latin typeface="Calibri" pitchFamily="34" charset="0"/>
                <a:ea typeface="Calibri" pitchFamily="34" charset="-122"/>
                <a:cs typeface="Calibri" pitchFamily="34" charset="-120"/>
              </a:rPr>
              <a:t> secrets</a:t>
            </a:r>
            <a:endParaRPr lang="en-US" sz="1100" dirty="0"/>
          </a:p>
          <a:p>
            <a:pPr indent="0" marL="0">
              <a:buNone/>
            </a:pPr>
            <a:r>
              <a:rPr lang="en-US" sz="1100" b="1" dirty="0">
                <a:solidFill>
                  <a:srgbClr val="1F2933"/>
                </a:solidFill>
                <a:latin typeface="Calibri" pitchFamily="34" charset="0"/>
                <a:ea typeface="Calibri" pitchFamily="34" charset="-122"/>
                <a:cs typeface="Calibri" pitchFamily="34" charset="-120"/>
              </a:rPr>
              <a:t>39%</a:t>
            </a:r>
            <a:pPr indent="0" marL="0">
              <a:buNone/>
            </a:pPr>
            <a:r>
              <a:rPr lang="en-US" sz="1100" dirty="0">
                <a:solidFill>
                  <a:srgbClr val="5B6670"/>
                </a:solidFill>
                <a:latin typeface="Calibri" pitchFamily="34" charset="0"/>
                <a:ea typeface="Calibri" pitchFamily="34" charset="-122"/>
                <a:cs typeface="Calibri" pitchFamily="34" charset="-120"/>
              </a:rPr>
              <a:t> in Sonar   </a:t>
            </a:r>
            <a:pPr indent="0" marL="0">
              <a:buNone/>
            </a:pPr>
            <a:r>
              <a:rPr lang="en-US" sz="1100" b="1" dirty="0">
                <a:solidFill>
                  <a:srgbClr val="1F2933"/>
                </a:solidFill>
                <a:latin typeface="Calibri" pitchFamily="34" charset="0"/>
                <a:ea typeface="Calibri" pitchFamily="34" charset="-122"/>
                <a:cs typeface="Calibri" pitchFamily="34" charset="-120"/>
              </a:rPr>
              <a:t>3.6</a:t>
            </a:r>
            <a:pPr indent="0" marL="0">
              <a:buNone/>
            </a:pPr>
            <a:r>
              <a:rPr lang="en-US" sz="1100" dirty="0">
                <a:solidFill>
                  <a:srgbClr val="5B6670"/>
                </a:solidFill>
                <a:latin typeface="Calibri" pitchFamily="34" charset="0"/>
                <a:ea typeface="Calibri" pitchFamily="34" charset="-122"/>
                <a:cs typeface="Calibri" pitchFamily="34" charset="-120"/>
              </a:rPr>
              <a:t> findings/app</a:t>
            </a:r>
            <a:endParaRPr lang="en-US" sz="1100" dirty="0"/>
          </a:p>
        </p:txBody>
      </p:sp>
      <p:sp>
        <p:nvSpPr>
          <p:cNvPr id="172" name="Text 170"/>
          <p:cNvSpPr txBox="1"/>
          <p:nvPr/>
        </p:nvSpPr>
        <p:spPr>
          <a:xfrm>
            <a:off x="7397313" y="2395728"/>
            <a:ext cx="1414211" cy="411480"/>
          </a:xfrm>
          <a:prstGeom prst="rect">
            <a:avLst/>
          </a:prstGeom>
          <a:noFill/>
          <a:ln/>
        </p:spPr>
        <p:txBody>
          <a:bodyPr wrap="square" lIns="0" tIns="0" rIns="0" bIns="0" rtlCol="0" anchor="ctr"/>
          <a:lstStyle/>
          <a:p>
            <a:pPr indent="0" marL="0">
              <a:buNone/>
            </a:pPr>
            <a:r>
              <a:rPr lang="en-US" sz="1300" b="1" dirty="0">
                <a:solidFill>
                  <a:srgbClr val="12402A"/>
                </a:solidFill>
                <a:latin typeface="Calibri" pitchFamily="34" charset="0"/>
                <a:ea typeface="Calibri" pitchFamily="34" charset="-122"/>
                <a:cs typeface="Calibri" pitchFamily="34" charset="-120"/>
              </a:rPr>
              <a:t>Pushkala Venkataraman</a:t>
            </a:r>
            <a:endParaRPr lang="en-US" sz="1300" dirty="0"/>
          </a:p>
        </p:txBody>
      </p:sp>
      <p:sp>
        <p:nvSpPr>
          <p:cNvPr id="173" name="Text 171"/>
          <p:cNvSpPr txBox="1"/>
          <p:nvPr/>
        </p:nvSpPr>
        <p:spPr>
          <a:xfrm>
            <a:off x="8811524" y="2359152"/>
            <a:ext cx="548640" cy="457200"/>
          </a:xfrm>
          <a:prstGeom prst="rect">
            <a:avLst/>
          </a:prstGeom>
          <a:noFill/>
          <a:ln/>
        </p:spPr>
        <p:txBody>
          <a:bodyPr wrap="square" lIns="0" tIns="0" rIns="0" bIns="0" rtlCol="0" anchor="ctr"/>
          <a:lstStyle/>
          <a:p>
            <a:pPr algn="r" indent="0" marL="0">
              <a:buNone/>
            </a:pPr>
            <a:r>
              <a:rPr lang="en-US" sz="2200" b="1" dirty="0">
                <a:solidFill>
                  <a:srgbClr val="368727"/>
                </a:solidFill>
                <a:latin typeface="Calibri" pitchFamily="34" charset="0"/>
                <a:ea typeface="Calibri" pitchFamily="34" charset="-122"/>
                <a:cs typeface="Calibri" pitchFamily="34" charset="-120"/>
              </a:rPr>
              <a:t>18</a:t>
            </a:r>
            <a:endParaRPr lang="en-US" sz="2200" dirty="0"/>
          </a:p>
        </p:txBody>
      </p:sp>
      <p:sp>
        <p:nvSpPr>
          <p:cNvPr id="174" name="Shape 172"/>
          <p:cNvSpPr/>
          <p:nvPr/>
        </p:nvSpPr>
        <p:spPr>
          <a:xfrm>
            <a:off x="7397313" y="2880360"/>
            <a:ext cx="283464" cy="283464"/>
          </a:xfrm>
          <a:prstGeom prst="roundRect">
            <a:avLst>
              <a:gd name="adj" fmla="val 12903"/>
            </a:avLst>
          </a:prstGeom>
          <a:solidFill>
            <a:srgbClr val="1E5B34"/>
          </a:solidFill>
          <a:ln w="12700">
            <a:solidFill>
              <a:srgbClr val="1E5B34"/>
            </a:solidFill>
            <a:prstDash val="solid"/>
          </a:ln>
        </p:spPr>
      </p:sp>
      <p:sp>
        <p:nvSpPr>
          <p:cNvPr id="175" name="Text 173"/>
          <p:cNvSpPr txBox="1"/>
          <p:nvPr/>
        </p:nvSpPr>
        <p:spPr>
          <a:xfrm>
            <a:off x="7397313" y="2880360"/>
            <a:ext cx="283464" cy="2834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a:t>
            </a:r>
            <a:endParaRPr lang="en-US" sz="900" dirty="0"/>
          </a:p>
        </p:txBody>
      </p:sp>
      <p:sp>
        <p:nvSpPr>
          <p:cNvPr id="176" name="Shape 174"/>
          <p:cNvSpPr/>
          <p:nvPr/>
        </p:nvSpPr>
        <p:spPr>
          <a:xfrm>
            <a:off x="7721925" y="2880360"/>
            <a:ext cx="283464" cy="283464"/>
          </a:xfrm>
          <a:prstGeom prst="roundRect">
            <a:avLst>
              <a:gd name="adj" fmla="val 12903"/>
            </a:avLst>
          </a:prstGeom>
          <a:solidFill>
            <a:srgbClr val="1E5B34"/>
          </a:solidFill>
          <a:ln w="12700">
            <a:solidFill>
              <a:srgbClr val="1E5B34"/>
            </a:solidFill>
            <a:prstDash val="solid"/>
          </a:ln>
        </p:spPr>
      </p:sp>
      <p:sp>
        <p:nvSpPr>
          <p:cNvPr id="177" name="Text 175"/>
          <p:cNvSpPr txBox="1"/>
          <p:nvPr/>
        </p:nvSpPr>
        <p:spPr>
          <a:xfrm>
            <a:off x="7721925" y="2880360"/>
            <a:ext cx="283464" cy="2834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a:t>
            </a:r>
            <a:endParaRPr lang="en-US" sz="900" dirty="0"/>
          </a:p>
        </p:txBody>
      </p:sp>
      <p:sp>
        <p:nvSpPr>
          <p:cNvPr id="178" name="Shape 176"/>
          <p:cNvSpPr/>
          <p:nvPr/>
        </p:nvSpPr>
        <p:spPr>
          <a:xfrm>
            <a:off x="8046537" y="2880360"/>
            <a:ext cx="283464" cy="283464"/>
          </a:xfrm>
          <a:prstGeom prst="roundRect">
            <a:avLst>
              <a:gd name="adj" fmla="val 12903"/>
            </a:avLst>
          </a:prstGeom>
          <a:solidFill>
            <a:srgbClr val="6BA55D"/>
          </a:solidFill>
          <a:ln w="12700">
            <a:solidFill>
              <a:srgbClr val="6BA55D"/>
            </a:solidFill>
            <a:prstDash val="solid"/>
          </a:ln>
        </p:spPr>
      </p:sp>
      <p:sp>
        <p:nvSpPr>
          <p:cNvPr id="179" name="Text 177"/>
          <p:cNvSpPr txBox="1"/>
          <p:nvPr/>
        </p:nvSpPr>
        <p:spPr>
          <a:xfrm>
            <a:off x="8046537" y="2880360"/>
            <a:ext cx="283464" cy="283464"/>
          </a:xfrm>
          <a:prstGeom prst="rect">
            <a:avLst/>
          </a:prstGeom>
          <a:noFill/>
          <a:ln/>
        </p:spPr>
        <p:txBody>
          <a:bodyPr wrap="square" lIns="0" tIns="0" rIns="0" bIns="0" rtlCol="0" anchor="ctr"/>
          <a:lstStyle/>
          <a:p>
            <a:pPr algn="ctr" indent="0" marL="0">
              <a:buNone/>
            </a:pPr>
            <a:r>
              <a:rPr lang="en-US" sz="900" b="1" dirty="0">
                <a:solidFill>
                  <a:srgbClr val="12402A"/>
                </a:solidFill>
                <a:latin typeface="Calibri" pitchFamily="34" charset="0"/>
                <a:ea typeface="Calibri" pitchFamily="34" charset="-122"/>
                <a:cs typeface="Calibri" pitchFamily="34" charset="-120"/>
              </a:rPr>
              <a:t>B</a:t>
            </a:r>
            <a:endParaRPr lang="en-US" sz="900" dirty="0"/>
          </a:p>
        </p:txBody>
      </p:sp>
      <p:sp>
        <p:nvSpPr>
          <p:cNvPr id="180" name="Shape 178"/>
          <p:cNvSpPr/>
          <p:nvPr/>
        </p:nvSpPr>
        <p:spPr>
          <a:xfrm>
            <a:off x="8371149" y="2880360"/>
            <a:ext cx="283464" cy="283464"/>
          </a:xfrm>
          <a:prstGeom prst="roundRect">
            <a:avLst>
              <a:gd name="adj" fmla="val 12903"/>
            </a:avLst>
          </a:prstGeom>
          <a:solidFill>
            <a:srgbClr val="A9D08E"/>
          </a:solidFill>
          <a:ln w="12700">
            <a:solidFill>
              <a:srgbClr val="A9D08E"/>
            </a:solidFill>
            <a:prstDash val="solid"/>
          </a:ln>
        </p:spPr>
      </p:sp>
      <p:sp>
        <p:nvSpPr>
          <p:cNvPr id="181" name="Shape 179"/>
          <p:cNvSpPr/>
          <p:nvPr/>
        </p:nvSpPr>
        <p:spPr>
          <a:xfrm>
            <a:off x="8695761" y="2880360"/>
            <a:ext cx="283464" cy="283464"/>
          </a:xfrm>
          <a:prstGeom prst="roundRect">
            <a:avLst>
              <a:gd name="adj" fmla="val 12903"/>
            </a:avLst>
          </a:prstGeom>
          <a:solidFill>
            <a:srgbClr val="A9D08E"/>
          </a:solidFill>
          <a:ln w="12700">
            <a:solidFill>
              <a:srgbClr val="A9D08E"/>
            </a:solidFill>
            <a:prstDash val="solid"/>
          </a:ln>
        </p:spPr>
      </p:sp>
      <p:sp>
        <p:nvSpPr>
          <p:cNvPr id="182" name="Shape 180"/>
          <p:cNvSpPr/>
          <p:nvPr/>
        </p:nvSpPr>
        <p:spPr>
          <a:xfrm>
            <a:off x="9020373" y="2880360"/>
            <a:ext cx="283464" cy="283464"/>
          </a:xfrm>
          <a:prstGeom prst="roundRect">
            <a:avLst>
              <a:gd name="adj" fmla="val 12903"/>
            </a:avLst>
          </a:prstGeom>
          <a:solidFill>
            <a:srgbClr val="A9D08E"/>
          </a:solidFill>
          <a:ln w="12700">
            <a:solidFill>
              <a:srgbClr val="A9D08E"/>
            </a:solidFill>
            <a:prstDash val="solid"/>
          </a:ln>
        </p:spPr>
      </p:sp>
      <p:sp>
        <p:nvSpPr>
          <p:cNvPr id="183" name="Shape 181"/>
          <p:cNvSpPr/>
          <p:nvPr/>
        </p:nvSpPr>
        <p:spPr>
          <a:xfrm>
            <a:off x="7397313" y="3204972"/>
            <a:ext cx="283464" cy="283464"/>
          </a:xfrm>
          <a:prstGeom prst="roundRect">
            <a:avLst>
              <a:gd name="adj" fmla="val 12903"/>
            </a:avLst>
          </a:prstGeom>
          <a:solidFill>
            <a:srgbClr val="A9D08E"/>
          </a:solidFill>
          <a:ln w="12700">
            <a:solidFill>
              <a:srgbClr val="A9D08E"/>
            </a:solidFill>
            <a:prstDash val="solid"/>
          </a:ln>
        </p:spPr>
      </p:sp>
      <p:sp>
        <p:nvSpPr>
          <p:cNvPr id="184" name="Shape 182"/>
          <p:cNvSpPr/>
          <p:nvPr/>
        </p:nvSpPr>
        <p:spPr>
          <a:xfrm>
            <a:off x="7721925" y="3204972"/>
            <a:ext cx="283464" cy="283464"/>
          </a:xfrm>
          <a:prstGeom prst="roundRect">
            <a:avLst>
              <a:gd name="adj" fmla="val 12903"/>
            </a:avLst>
          </a:prstGeom>
          <a:solidFill>
            <a:srgbClr val="A9D08E"/>
          </a:solidFill>
          <a:ln w="12700">
            <a:solidFill>
              <a:srgbClr val="A9D08E"/>
            </a:solidFill>
            <a:prstDash val="solid"/>
          </a:ln>
        </p:spPr>
      </p:sp>
      <p:sp>
        <p:nvSpPr>
          <p:cNvPr id="185" name="Shape 183"/>
          <p:cNvSpPr/>
          <p:nvPr/>
        </p:nvSpPr>
        <p:spPr>
          <a:xfrm>
            <a:off x="8046537" y="3204972"/>
            <a:ext cx="283464" cy="283464"/>
          </a:xfrm>
          <a:prstGeom prst="roundRect">
            <a:avLst>
              <a:gd name="adj" fmla="val 12903"/>
            </a:avLst>
          </a:prstGeom>
          <a:solidFill>
            <a:srgbClr val="A9D08E"/>
          </a:solidFill>
          <a:ln w="12700">
            <a:solidFill>
              <a:srgbClr val="A9D08E"/>
            </a:solidFill>
            <a:prstDash val="solid"/>
          </a:ln>
        </p:spPr>
      </p:sp>
      <p:sp>
        <p:nvSpPr>
          <p:cNvPr id="186" name="Shape 184"/>
          <p:cNvSpPr/>
          <p:nvPr/>
        </p:nvSpPr>
        <p:spPr>
          <a:xfrm>
            <a:off x="8371149" y="3204972"/>
            <a:ext cx="283464" cy="283464"/>
          </a:xfrm>
          <a:prstGeom prst="roundRect">
            <a:avLst>
              <a:gd name="adj" fmla="val 12903"/>
            </a:avLst>
          </a:prstGeom>
          <a:solidFill>
            <a:srgbClr val="A9D08E"/>
          </a:solidFill>
          <a:ln w="12700">
            <a:solidFill>
              <a:srgbClr val="A9D08E"/>
            </a:solidFill>
            <a:prstDash val="solid"/>
          </a:ln>
        </p:spPr>
      </p:sp>
      <p:sp>
        <p:nvSpPr>
          <p:cNvPr id="187" name="Shape 185"/>
          <p:cNvSpPr/>
          <p:nvPr/>
        </p:nvSpPr>
        <p:spPr>
          <a:xfrm>
            <a:off x="8695761" y="3204972"/>
            <a:ext cx="283464" cy="283464"/>
          </a:xfrm>
          <a:prstGeom prst="roundRect">
            <a:avLst>
              <a:gd name="adj" fmla="val 12903"/>
            </a:avLst>
          </a:prstGeom>
          <a:solidFill>
            <a:srgbClr val="A9D08E"/>
          </a:solidFill>
          <a:ln w="12700">
            <a:solidFill>
              <a:srgbClr val="A9D08E"/>
            </a:solidFill>
            <a:prstDash val="solid"/>
          </a:ln>
        </p:spPr>
      </p:sp>
      <p:sp>
        <p:nvSpPr>
          <p:cNvPr id="188" name="Shape 186"/>
          <p:cNvSpPr/>
          <p:nvPr/>
        </p:nvSpPr>
        <p:spPr>
          <a:xfrm>
            <a:off x="9020373" y="3204972"/>
            <a:ext cx="283464" cy="283464"/>
          </a:xfrm>
          <a:prstGeom prst="roundRect">
            <a:avLst>
              <a:gd name="adj" fmla="val 12903"/>
            </a:avLst>
          </a:prstGeom>
          <a:solidFill>
            <a:srgbClr val="A9D08E"/>
          </a:solidFill>
          <a:ln w="12700">
            <a:solidFill>
              <a:srgbClr val="A9D08E"/>
            </a:solidFill>
            <a:prstDash val="solid"/>
          </a:ln>
        </p:spPr>
      </p:sp>
      <p:sp>
        <p:nvSpPr>
          <p:cNvPr id="189" name="Shape 187"/>
          <p:cNvSpPr/>
          <p:nvPr/>
        </p:nvSpPr>
        <p:spPr>
          <a:xfrm>
            <a:off x="7397313" y="3529584"/>
            <a:ext cx="283464" cy="283464"/>
          </a:xfrm>
          <a:prstGeom prst="roundRect">
            <a:avLst>
              <a:gd name="adj" fmla="val 12903"/>
            </a:avLst>
          </a:prstGeom>
          <a:solidFill>
            <a:srgbClr val="A9D08E"/>
          </a:solidFill>
          <a:ln w="12700">
            <a:solidFill>
              <a:srgbClr val="A9D08E"/>
            </a:solidFill>
            <a:prstDash val="solid"/>
          </a:ln>
        </p:spPr>
      </p:sp>
      <p:sp>
        <p:nvSpPr>
          <p:cNvPr id="190" name="Shape 188"/>
          <p:cNvSpPr/>
          <p:nvPr/>
        </p:nvSpPr>
        <p:spPr>
          <a:xfrm>
            <a:off x="7721925" y="3529584"/>
            <a:ext cx="283464" cy="283464"/>
          </a:xfrm>
          <a:prstGeom prst="roundRect">
            <a:avLst>
              <a:gd name="adj" fmla="val 12903"/>
            </a:avLst>
          </a:prstGeom>
          <a:solidFill>
            <a:srgbClr val="A9D08E"/>
          </a:solidFill>
          <a:ln w="12700">
            <a:solidFill>
              <a:srgbClr val="A9D08E"/>
            </a:solidFill>
            <a:prstDash val="solid"/>
          </a:ln>
        </p:spPr>
      </p:sp>
      <p:sp>
        <p:nvSpPr>
          <p:cNvPr id="191" name="Shape 189"/>
          <p:cNvSpPr/>
          <p:nvPr/>
        </p:nvSpPr>
        <p:spPr>
          <a:xfrm>
            <a:off x="8046537" y="3529584"/>
            <a:ext cx="283464" cy="283464"/>
          </a:xfrm>
          <a:prstGeom prst="roundRect">
            <a:avLst>
              <a:gd name="adj" fmla="val 12903"/>
            </a:avLst>
          </a:prstGeom>
          <a:solidFill>
            <a:srgbClr val="A9D08E"/>
          </a:solidFill>
          <a:ln w="12700">
            <a:solidFill>
              <a:srgbClr val="A9D08E"/>
            </a:solidFill>
            <a:prstDash val="solid"/>
          </a:ln>
        </p:spPr>
      </p:sp>
      <p:sp>
        <p:nvSpPr>
          <p:cNvPr id="192" name="Shape 190"/>
          <p:cNvSpPr/>
          <p:nvPr/>
        </p:nvSpPr>
        <p:spPr>
          <a:xfrm>
            <a:off x="8371149" y="3529584"/>
            <a:ext cx="283464" cy="283464"/>
          </a:xfrm>
          <a:prstGeom prst="roundRect">
            <a:avLst>
              <a:gd name="adj" fmla="val 12903"/>
            </a:avLst>
          </a:prstGeom>
          <a:solidFill>
            <a:srgbClr val="A9D08E"/>
          </a:solidFill>
          <a:ln w="12700">
            <a:solidFill>
              <a:srgbClr val="A9D08E"/>
            </a:solidFill>
            <a:prstDash val="solid"/>
          </a:ln>
        </p:spPr>
      </p:sp>
      <p:sp>
        <p:nvSpPr>
          <p:cNvPr id="193" name="Shape 191"/>
          <p:cNvSpPr/>
          <p:nvPr/>
        </p:nvSpPr>
        <p:spPr>
          <a:xfrm>
            <a:off x="8695761" y="3529584"/>
            <a:ext cx="283464" cy="283464"/>
          </a:xfrm>
          <a:prstGeom prst="roundRect">
            <a:avLst>
              <a:gd name="adj" fmla="val 12903"/>
            </a:avLst>
          </a:prstGeom>
          <a:solidFill>
            <a:srgbClr val="A9D08E"/>
          </a:solidFill>
          <a:ln w="12700">
            <a:solidFill>
              <a:srgbClr val="A9D08E"/>
            </a:solidFill>
            <a:prstDash val="solid"/>
          </a:ln>
        </p:spPr>
      </p:sp>
      <p:sp>
        <p:nvSpPr>
          <p:cNvPr id="194" name="Shape 192"/>
          <p:cNvSpPr/>
          <p:nvPr/>
        </p:nvSpPr>
        <p:spPr>
          <a:xfrm>
            <a:off x="9020373" y="3529584"/>
            <a:ext cx="283464" cy="283464"/>
          </a:xfrm>
          <a:prstGeom prst="roundRect">
            <a:avLst>
              <a:gd name="adj" fmla="val 12903"/>
            </a:avLst>
          </a:prstGeom>
          <a:solidFill>
            <a:srgbClr val="A9D08E"/>
          </a:solidFill>
          <a:ln w="12700">
            <a:solidFill>
              <a:srgbClr val="A9D08E"/>
            </a:solidFill>
            <a:prstDash val="solid"/>
          </a:ln>
        </p:spPr>
      </p:sp>
      <p:sp>
        <p:nvSpPr>
          <p:cNvPr id="195" name="Text 193"/>
          <p:cNvSpPr txBox="1"/>
          <p:nvPr/>
        </p:nvSpPr>
        <p:spPr>
          <a:xfrm>
            <a:off x="7397313" y="5244084"/>
            <a:ext cx="1962851" cy="502920"/>
          </a:xfrm>
          <a:prstGeom prst="rect">
            <a:avLst/>
          </a:prstGeom>
          <a:noFill/>
          <a:ln/>
        </p:spPr>
        <p:txBody>
          <a:bodyPr wrap="square" lIns="0" tIns="0" rIns="0" bIns="0" rtlCol="0" anchor="t"/>
          <a:lstStyle/>
          <a:p>
            <a:pPr indent="0" marL="0">
              <a:buNone/>
            </a:pPr>
            <a:r>
              <a:rPr lang="en-US" sz="1100" b="1" dirty="0">
                <a:solidFill>
                  <a:srgbClr val="5B6670"/>
                </a:solidFill>
                <a:latin typeface="Calibri" pitchFamily="34" charset="0"/>
                <a:ea typeface="Calibri" pitchFamily="34" charset="-122"/>
                <a:cs typeface="Calibri" pitchFamily="34" charset="-120"/>
              </a:rPr>
              <a:t>0</a:t>
            </a:r>
            <a:pPr indent="0" marL="0">
              <a:buNone/>
            </a:pPr>
            <a:r>
              <a:rPr lang="en-US" sz="1100" dirty="0">
                <a:solidFill>
                  <a:srgbClr val="5B6670"/>
                </a:solidFill>
                <a:latin typeface="Calibri" pitchFamily="34" charset="0"/>
                <a:ea typeface="Calibri" pitchFamily="34" charset="-122"/>
                <a:cs typeface="Calibri" pitchFamily="34" charset="-120"/>
              </a:rPr>
              <a:t> EOL   </a:t>
            </a:r>
            <a:pPr indent="0" marL="0">
              <a:buNone/>
            </a:pPr>
            <a:r>
              <a:rPr lang="en-US" sz="1100" b="1" dirty="0">
                <a:solidFill>
                  <a:srgbClr val="5B6670"/>
                </a:solidFill>
                <a:latin typeface="Calibri" pitchFamily="34" charset="0"/>
                <a:ea typeface="Calibri" pitchFamily="34" charset="-122"/>
                <a:cs typeface="Calibri" pitchFamily="34" charset="-120"/>
              </a:rPr>
              <a:t>0</a:t>
            </a:r>
            <a:pPr indent="0" marL="0">
              <a:buNone/>
            </a:pPr>
            <a:r>
              <a:rPr lang="en-US" sz="1100" dirty="0">
                <a:solidFill>
                  <a:srgbClr val="5B6670"/>
                </a:solidFill>
                <a:latin typeface="Calibri" pitchFamily="34" charset="0"/>
                <a:ea typeface="Calibri" pitchFamily="34" charset="-122"/>
                <a:cs typeface="Calibri" pitchFamily="34" charset="-120"/>
              </a:rPr>
              <a:t> secrets</a:t>
            </a:r>
            <a:endParaRPr lang="en-US" sz="1100" dirty="0"/>
          </a:p>
          <a:p>
            <a:pPr indent="0" marL="0">
              <a:buNone/>
            </a:pPr>
            <a:r>
              <a:rPr lang="en-US" sz="1100" b="1" dirty="0">
                <a:solidFill>
                  <a:srgbClr val="1F2933"/>
                </a:solidFill>
                <a:latin typeface="Calibri" pitchFamily="34" charset="0"/>
                <a:ea typeface="Calibri" pitchFamily="34" charset="-122"/>
                <a:cs typeface="Calibri" pitchFamily="34" charset="-120"/>
              </a:rPr>
              <a:t>33%</a:t>
            </a:r>
            <a:pPr indent="0" marL="0">
              <a:buNone/>
            </a:pPr>
            <a:r>
              <a:rPr lang="en-US" sz="1100" dirty="0">
                <a:solidFill>
                  <a:srgbClr val="5B6670"/>
                </a:solidFill>
                <a:latin typeface="Calibri" pitchFamily="34" charset="0"/>
                <a:ea typeface="Calibri" pitchFamily="34" charset="-122"/>
                <a:cs typeface="Calibri" pitchFamily="34" charset="-120"/>
              </a:rPr>
              <a:t> in Sonar   </a:t>
            </a:r>
            <a:pPr indent="0" marL="0">
              <a:buNone/>
            </a:pPr>
            <a:r>
              <a:rPr lang="en-US" sz="1100" b="1" dirty="0">
                <a:solidFill>
                  <a:srgbClr val="1F2933"/>
                </a:solidFill>
                <a:latin typeface="Calibri" pitchFamily="34" charset="0"/>
                <a:ea typeface="Calibri" pitchFamily="34" charset="-122"/>
                <a:cs typeface="Calibri" pitchFamily="34" charset="-120"/>
              </a:rPr>
              <a:t>0.1</a:t>
            </a:r>
            <a:pPr indent="0" marL="0">
              <a:buNone/>
            </a:pPr>
            <a:r>
              <a:rPr lang="en-US" sz="1100" dirty="0">
                <a:solidFill>
                  <a:srgbClr val="5B6670"/>
                </a:solidFill>
                <a:latin typeface="Calibri" pitchFamily="34" charset="0"/>
                <a:ea typeface="Calibri" pitchFamily="34" charset="-122"/>
                <a:cs typeface="Calibri" pitchFamily="34" charset="-120"/>
              </a:rPr>
              <a:t> findings/app</a:t>
            </a:r>
            <a:endParaRPr lang="en-US" sz="1100" dirty="0"/>
          </a:p>
        </p:txBody>
      </p:sp>
      <p:sp>
        <p:nvSpPr>
          <p:cNvPr id="196" name="Text 194"/>
          <p:cNvSpPr txBox="1"/>
          <p:nvPr/>
        </p:nvSpPr>
        <p:spPr>
          <a:xfrm>
            <a:off x="9680204" y="2395728"/>
            <a:ext cx="1414211" cy="411480"/>
          </a:xfrm>
          <a:prstGeom prst="rect">
            <a:avLst/>
          </a:prstGeom>
          <a:noFill/>
          <a:ln/>
        </p:spPr>
        <p:txBody>
          <a:bodyPr wrap="square" lIns="0" tIns="0" rIns="0" bIns="0" rtlCol="0" anchor="ctr"/>
          <a:lstStyle/>
          <a:p>
            <a:pPr indent="0" marL="0">
              <a:buNone/>
            </a:pPr>
            <a:r>
              <a:rPr lang="en-US" sz="1300" b="1" dirty="0">
                <a:solidFill>
                  <a:srgbClr val="12402A"/>
                </a:solidFill>
                <a:latin typeface="Calibri" pitchFamily="34" charset="0"/>
                <a:ea typeface="Calibri" pitchFamily="34" charset="-122"/>
                <a:cs typeface="Calibri" pitchFamily="34" charset="-120"/>
              </a:rPr>
              <a:t>Saikiran Nadella</a:t>
            </a:r>
            <a:endParaRPr lang="en-US" sz="1300" dirty="0"/>
          </a:p>
        </p:txBody>
      </p:sp>
      <p:sp>
        <p:nvSpPr>
          <p:cNvPr id="197" name="Text 195"/>
          <p:cNvSpPr txBox="1"/>
          <p:nvPr/>
        </p:nvSpPr>
        <p:spPr>
          <a:xfrm>
            <a:off x="11094415" y="2359152"/>
            <a:ext cx="548640" cy="457200"/>
          </a:xfrm>
          <a:prstGeom prst="rect">
            <a:avLst/>
          </a:prstGeom>
          <a:noFill/>
          <a:ln/>
        </p:spPr>
        <p:txBody>
          <a:bodyPr wrap="square" lIns="0" tIns="0" rIns="0" bIns="0" rtlCol="0" anchor="ctr"/>
          <a:lstStyle/>
          <a:p>
            <a:pPr algn="r" indent="0" marL="0">
              <a:buNone/>
            </a:pPr>
            <a:r>
              <a:rPr lang="en-US" sz="2200" b="1" dirty="0">
                <a:solidFill>
                  <a:srgbClr val="368727"/>
                </a:solidFill>
                <a:latin typeface="Calibri" pitchFamily="34" charset="0"/>
                <a:ea typeface="Calibri" pitchFamily="34" charset="-122"/>
                <a:cs typeface="Calibri" pitchFamily="34" charset="-120"/>
              </a:rPr>
              <a:t>37</a:t>
            </a:r>
            <a:endParaRPr lang="en-US" sz="2200" dirty="0"/>
          </a:p>
        </p:txBody>
      </p:sp>
      <p:sp>
        <p:nvSpPr>
          <p:cNvPr id="198" name="Shape 196"/>
          <p:cNvSpPr/>
          <p:nvPr/>
        </p:nvSpPr>
        <p:spPr>
          <a:xfrm>
            <a:off x="9680204" y="2880360"/>
            <a:ext cx="283464" cy="283464"/>
          </a:xfrm>
          <a:prstGeom prst="roundRect">
            <a:avLst>
              <a:gd name="adj" fmla="val 12903"/>
            </a:avLst>
          </a:prstGeom>
          <a:solidFill>
            <a:srgbClr val="1E5B34"/>
          </a:solidFill>
          <a:ln w="12700">
            <a:solidFill>
              <a:srgbClr val="1E5B34"/>
            </a:solidFill>
            <a:prstDash val="solid"/>
          </a:ln>
        </p:spPr>
      </p:sp>
      <p:sp>
        <p:nvSpPr>
          <p:cNvPr id="199" name="Text 197"/>
          <p:cNvSpPr txBox="1"/>
          <p:nvPr/>
        </p:nvSpPr>
        <p:spPr>
          <a:xfrm>
            <a:off x="9680204" y="2880360"/>
            <a:ext cx="283464" cy="2834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a:t>
            </a:r>
            <a:endParaRPr lang="en-US" sz="900" dirty="0"/>
          </a:p>
        </p:txBody>
      </p:sp>
      <p:sp>
        <p:nvSpPr>
          <p:cNvPr id="200" name="Shape 198"/>
          <p:cNvSpPr/>
          <p:nvPr/>
        </p:nvSpPr>
        <p:spPr>
          <a:xfrm>
            <a:off x="9872228" y="2852928"/>
            <a:ext cx="118872" cy="118872"/>
          </a:xfrm>
          <a:prstGeom prst="ellipse">
            <a:avLst/>
          </a:prstGeom>
          <a:solidFill>
            <a:srgbClr val="E0A31A"/>
          </a:solidFill>
          <a:ln w="12700">
            <a:solidFill>
              <a:srgbClr val="E0A31A"/>
            </a:solidFill>
            <a:prstDash val="solid"/>
          </a:ln>
        </p:spPr>
      </p:sp>
      <p:sp>
        <p:nvSpPr>
          <p:cNvPr id="201" name="Shape 199"/>
          <p:cNvSpPr/>
          <p:nvPr/>
        </p:nvSpPr>
        <p:spPr>
          <a:xfrm>
            <a:off x="10004816" y="2880360"/>
            <a:ext cx="283464" cy="283464"/>
          </a:xfrm>
          <a:prstGeom prst="roundRect">
            <a:avLst>
              <a:gd name="adj" fmla="val 12903"/>
            </a:avLst>
          </a:prstGeom>
          <a:solidFill>
            <a:srgbClr val="1E5B34"/>
          </a:solidFill>
          <a:ln w="12700">
            <a:solidFill>
              <a:srgbClr val="1E5B34"/>
            </a:solidFill>
            <a:prstDash val="solid"/>
          </a:ln>
        </p:spPr>
      </p:sp>
      <p:sp>
        <p:nvSpPr>
          <p:cNvPr id="202" name="Text 200"/>
          <p:cNvSpPr txBox="1"/>
          <p:nvPr/>
        </p:nvSpPr>
        <p:spPr>
          <a:xfrm>
            <a:off x="10004816" y="2880360"/>
            <a:ext cx="283464" cy="2834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a:t>
            </a:r>
            <a:endParaRPr lang="en-US" sz="900" dirty="0"/>
          </a:p>
        </p:txBody>
      </p:sp>
      <p:sp>
        <p:nvSpPr>
          <p:cNvPr id="203" name="Shape 201"/>
          <p:cNvSpPr/>
          <p:nvPr/>
        </p:nvSpPr>
        <p:spPr>
          <a:xfrm>
            <a:off x="10196840" y="2852928"/>
            <a:ext cx="118872" cy="118872"/>
          </a:xfrm>
          <a:prstGeom prst="ellipse">
            <a:avLst/>
          </a:prstGeom>
          <a:solidFill>
            <a:srgbClr val="E0A31A"/>
          </a:solidFill>
          <a:ln w="12700">
            <a:solidFill>
              <a:srgbClr val="E0A31A"/>
            </a:solidFill>
            <a:prstDash val="solid"/>
          </a:ln>
        </p:spPr>
      </p:sp>
      <p:sp>
        <p:nvSpPr>
          <p:cNvPr id="204" name="Shape 202"/>
          <p:cNvSpPr/>
          <p:nvPr/>
        </p:nvSpPr>
        <p:spPr>
          <a:xfrm>
            <a:off x="10329428" y="2880360"/>
            <a:ext cx="283464" cy="283464"/>
          </a:xfrm>
          <a:prstGeom prst="roundRect">
            <a:avLst>
              <a:gd name="adj" fmla="val 12903"/>
            </a:avLst>
          </a:prstGeom>
          <a:solidFill>
            <a:srgbClr val="1E5B34"/>
          </a:solidFill>
          <a:ln w="12700">
            <a:solidFill>
              <a:srgbClr val="1E5B34"/>
            </a:solidFill>
            <a:prstDash val="solid"/>
          </a:ln>
        </p:spPr>
      </p:sp>
      <p:sp>
        <p:nvSpPr>
          <p:cNvPr id="205" name="Text 203"/>
          <p:cNvSpPr txBox="1"/>
          <p:nvPr/>
        </p:nvSpPr>
        <p:spPr>
          <a:xfrm>
            <a:off x="10329428" y="2880360"/>
            <a:ext cx="283464" cy="2834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a:t>
            </a:r>
            <a:endParaRPr lang="en-US" sz="900" dirty="0"/>
          </a:p>
        </p:txBody>
      </p:sp>
      <p:sp>
        <p:nvSpPr>
          <p:cNvPr id="206" name="Shape 204"/>
          <p:cNvSpPr/>
          <p:nvPr/>
        </p:nvSpPr>
        <p:spPr>
          <a:xfrm>
            <a:off x="10521452" y="2852928"/>
            <a:ext cx="118872" cy="118872"/>
          </a:xfrm>
          <a:prstGeom prst="ellipse">
            <a:avLst/>
          </a:prstGeom>
          <a:solidFill>
            <a:srgbClr val="E0A31A"/>
          </a:solidFill>
          <a:ln w="12700">
            <a:solidFill>
              <a:srgbClr val="E0A31A"/>
            </a:solidFill>
            <a:prstDash val="solid"/>
          </a:ln>
        </p:spPr>
      </p:sp>
      <p:sp>
        <p:nvSpPr>
          <p:cNvPr id="207" name="Shape 205"/>
          <p:cNvSpPr/>
          <p:nvPr/>
        </p:nvSpPr>
        <p:spPr>
          <a:xfrm>
            <a:off x="10654040" y="2880360"/>
            <a:ext cx="283464" cy="283464"/>
          </a:xfrm>
          <a:prstGeom prst="roundRect">
            <a:avLst>
              <a:gd name="adj" fmla="val 12903"/>
            </a:avLst>
          </a:prstGeom>
          <a:solidFill>
            <a:srgbClr val="1E5B34"/>
          </a:solidFill>
          <a:ln w="12700">
            <a:solidFill>
              <a:srgbClr val="1E5B34"/>
            </a:solidFill>
            <a:prstDash val="solid"/>
          </a:ln>
        </p:spPr>
      </p:sp>
      <p:sp>
        <p:nvSpPr>
          <p:cNvPr id="208" name="Text 206"/>
          <p:cNvSpPr txBox="1"/>
          <p:nvPr/>
        </p:nvSpPr>
        <p:spPr>
          <a:xfrm>
            <a:off x="10654040" y="2880360"/>
            <a:ext cx="283464" cy="2834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a:t>
            </a:r>
            <a:endParaRPr lang="en-US" sz="900" dirty="0"/>
          </a:p>
        </p:txBody>
      </p:sp>
      <p:sp>
        <p:nvSpPr>
          <p:cNvPr id="209" name="Shape 207"/>
          <p:cNvSpPr/>
          <p:nvPr/>
        </p:nvSpPr>
        <p:spPr>
          <a:xfrm>
            <a:off x="10846064" y="2852928"/>
            <a:ext cx="118872" cy="118872"/>
          </a:xfrm>
          <a:prstGeom prst="ellipse">
            <a:avLst/>
          </a:prstGeom>
          <a:solidFill>
            <a:srgbClr val="E0A31A"/>
          </a:solidFill>
          <a:ln w="12700">
            <a:solidFill>
              <a:srgbClr val="E0A31A"/>
            </a:solidFill>
            <a:prstDash val="solid"/>
          </a:ln>
        </p:spPr>
      </p:sp>
      <p:sp>
        <p:nvSpPr>
          <p:cNvPr id="210" name="Shape 208"/>
          <p:cNvSpPr/>
          <p:nvPr/>
        </p:nvSpPr>
        <p:spPr>
          <a:xfrm>
            <a:off x="10978652" y="2880360"/>
            <a:ext cx="283464" cy="283464"/>
          </a:xfrm>
          <a:prstGeom prst="roundRect">
            <a:avLst>
              <a:gd name="adj" fmla="val 12903"/>
            </a:avLst>
          </a:prstGeom>
          <a:solidFill>
            <a:srgbClr val="1E5B34"/>
          </a:solidFill>
          <a:ln w="12700">
            <a:solidFill>
              <a:srgbClr val="1E5B34"/>
            </a:solidFill>
            <a:prstDash val="solid"/>
          </a:ln>
        </p:spPr>
      </p:sp>
      <p:sp>
        <p:nvSpPr>
          <p:cNvPr id="211" name="Text 209"/>
          <p:cNvSpPr txBox="1"/>
          <p:nvPr/>
        </p:nvSpPr>
        <p:spPr>
          <a:xfrm>
            <a:off x="10978652" y="2880360"/>
            <a:ext cx="283464" cy="2834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a:t>
            </a:r>
            <a:endParaRPr lang="en-US" sz="900" dirty="0"/>
          </a:p>
        </p:txBody>
      </p:sp>
      <p:sp>
        <p:nvSpPr>
          <p:cNvPr id="212" name="Shape 210"/>
          <p:cNvSpPr/>
          <p:nvPr/>
        </p:nvSpPr>
        <p:spPr>
          <a:xfrm>
            <a:off x="11170676" y="2852928"/>
            <a:ext cx="118872" cy="118872"/>
          </a:xfrm>
          <a:prstGeom prst="ellipse">
            <a:avLst/>
          </a:prstGeom>
          <a:solidFill>
            <a:srgbClr val="E0A31A"/>
          </a:solidFill>
          <a:ln w="12700">
            <a:solidFill>
              <a:srgbClr val="E0A31A"/>
            </a:solidFill>
            <a:prstDash val="solid"/>
          </a:ln>
        </p:spPr>
      </p:sp>
      <p:sp>
        <p:nvSpPr>
          <p:cNvPr id="213" name="Shape 211"/>
          <p:cNvSpPr/>
          <p:nvPr/>
        </p:nvSpPr>
        <p:spPr>
          <a:xfrm>
            <a:off x="11303264" y="2880360"/>
            <a:ext cx="283464" cy="283464"/>
          </a:xfrm>
          <a:prstGeom prst="roundRect">
            <a:avLst>
              <a:gd name="adj" fmla="val 12903"/>
            </a:avLst>
          </a:prstGeom>
          <a:solidFill>
            <a:srgbClr val="1E5B34"/>
          </a:solidFill>
          <a:ln w="12700">
            <a:solidFill>
              <a:srgbClr val="1E5B34"/>
            </a:solidFill>
            <a:prstDash val="solid"/>
          </a:ln>
        </p:spPr>
      </p:sp>
      <p:sp>
        <p:nvSpPr>
          <p:cNvPr id="214" name="Text 212"/>
          <p:cNvSpPr txBox="1"/>
          <p:nvPr/>
        </p:nvSpPr>
        <p:spPr>
          <a:xfrm>
            <a:off x="11303264" y="2880360"/>
            <a:ext cx="283464" cy="2834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a:t>
            </a:r>
            <a:endParaRPr lang="en-US" sz="900" dirty="0"/>
          </a:p>
        </p:txBody>
      </p:sp>
      <p:sp>
        <p:nvSpPr>
          <p:cNvPr id="215" name="Shape 213"/>
          <p:cNvSpPr/>
          <p:nvPr/>
        </p:nvSpPr>
        <p:spPr>
          <a:xfrm>
            <a:off x="11495288" y="2852928"/>
            <a:ext cx="118872" cy="118872"/>
          </a:xfrm>
          <a:prstGeom prst="ellipse">
            <a:avLst/>
          </a:prstGeom>
          <a:solidFill>
            <a:srgbClr val="E0A31A"/>
          </a:solidFill>
          <a:ln w="12700">
            <a:solidFill>
              <a:srgbClr val="E0A31A"/>
            </a:solidFill>
            <a:prstDash val="solid"/>
          </a:ln>
        </p:spPr>
      </p:sp>
      <p:sp>
        <p:nvSpPr>
          <p:cNvPr id="216" name="Shape 214"/>
          <p:cNvSpPr/>
          <p:nvPr/>
        </p:nvSpPr>
        <p:spPr>
          <a:xfrm>
            <a:off x="9680204" y="3204972"/>
            <a:ext cx="283464" cy="283464"/>
          </a:xfrm>
          <a:prstGeom prst="roundRect">
            <a:avLst>
              <a:gd name="adj" fmla="val 12903"/>
            </a:avLst>
          </a:prstGeom>
          <a:solidFill>
            <a:srgbClr val="1E5B34"/>
          </a:solidFill>
          <a:ln w="12700">
            <a:solidFill>
              <a:srgbClr val="1E5B34"/>
            </a:solidFill>
            <a:prstDash val="solid"/>
          </a:ln>
        </p:spPr>
      </p:sp>
      <p:sp>
        <p:nvSpPr>
          <p:cNvPr id="217" name="Text 215"/>
          <p:cNvSpPr txBox="1"/>
          <p:nvPr/>
        </p:nvSpPr>
        <p:spPr>
          <a:xfrm>
            <a:off x="9680204" y="3204972"/>
            <a:ext cx="283464" cy="2834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a:t>
            </a:r>
            <a:endParaRPr lang="en-US" sz="900" dirty="0"/>
          </a:p>
        </p:txBody>
      </p:sp>
      <p:sp>
        <p:nvSpPr>
          <p:cNvPr id="218" name="Shape 216"/>
          <p:cNvSpPr/>
          <p:nvPr/>
        </p:nvSpPr>
        <p:spPr>
          <a:xfrm>
            <a:off x="9872228" y="3177540"/>
            <a:ext cx="118872" cy="118872"/>
          </a:xfrm>
          <a:prstGeom prst="ellipse">
            <a:avLst/>
          </a:prstGeom>
          <a:solidFill>
            <a:srgbClr val="E0A31A"/>
          </a:solidFill>
          <a:ln w="12700">
            <a:solidFill>
              <a:srgbClr val="E0A31A"/>
            </a:solidFill>
            <a:prstDash val="solid"/>
          </a:ln>
        </p:spPr>
      </p:sp>
      <p:sp>
        <p:nvSpPr>
          <p:cNvPr id="219" name="Shape 217"/>
          <p:cNvSpPr/>
          <p:nvPr/>
        </p:nvSpPr>
        <p:spPr>
          <a:xfrm>
            <a:off x="10004816" y="3204972"/>
            <a:ext cx="283464" cy="283464"/>
          </a:xfrm>
          <a:prstGeom prst="roundRect">
            <a:avLst>
              <a:gd name="adj" fmla="val 12903"/>
            </a:avLst>
          </a:prstGeom>
          <a:solidFill>
            <a:srgbClr val="1E5B34"/>
          </a:solidFill>
          <a:ln w="12700">
            <a:solidFill>
              <a:srgbClr val="1E5B34"/>
            </a:solidFill>
            <a:prstDash val="solid"/>
          </a:ln>
        </p:spPr>
      </p:sp>
      <p:sp>
        <p:nvSpPr>
          <p:cNvPr id="220" name="Text 218"/>
          <p:cNvSpPr txBox="1"/>
          <p:nvPr/>
        </p:nvSpPr>
        <p:spPr>
          <a:xfrm>
            <a:off x="10004816" y="3204972"/>
            <a:ext cx="283464" cy="2834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a:t>
            </a:r>
            <a:endParaRPr lang="en-US" sz="900" dirty="0"/>
          </a:p>
        </p:txBody>
      </p:sp>
      <p:sp>
        <p:nvSpPr>
          <p:cNvPr id="221" name="Shape 219"/>
          <p:cNvSpPr/>
          <p:nvPr/>
        </p:nvSpPr>
        <p:spPr>
          <a:xfrm>
            <a:off x="10196840" y="3177540"/>
            <a:ext cx="118872" cy="118872"/>
          </a:xfrm>
          <a:prstGeom prst="ellipse">
            <a:avLst/>
          </a:prstGeom>
          <a:solidFill>
            <a:srgbClr val="E0A31A"/>
          </a:solidFill>
          <a:ln w="12700">
            <a:solidFill>
              <a:srgbClr val="E0A31A"/>
            </a:solidFill>
            <a:prstDash val="solid"/>
          </a:ln>
        </p:spPr>
      </p:sp>
      <p:sp>
        <p:nvSpPr>
          <p:cNvPr id="222" name="Shape 220"/>
          <p:cNvSpPr/>
          <p:nvPr/>
        </p:nvSpPr>
        <p:spPr>
          <a:xfrm>
            <a:off x="10329428" y="3204972"/>
            <a:ext cx="283464" cy="283464"/>
          </a:xfrm>
          <a:prstGeom prst="roundRect">
            <a:avLst>
              <a:gd name="adj" fmla="val 12903"/>
            </a:avLst>
          </a:prstGeom>
          <a:solidFill>
            <a:srgbClr val="1E5B34"/>
          </a:solidFill>
          <a:ln w="12700">
            <a:solidFill>
              <a:srgbClr val="1E5B34"/>
            </a:solidFill>
            <a:prstDash val="solid"/>
          </a:ln>
        </p:spPr>
      </p:sp>
      <p:sp>
        <p:nvSpPr>
          <p:cNvPr id="223" name="Text 221"/>
          <p:cNvSpPr txBox="1"/>
          <p:nvPr/>
        </p:nvSpPr>
        <p:spPr>
          <a:xfrm>
            <a:off x="10329428" y="3204972"/>
            <a:ext cx="283464" cy="2834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a:t>
            </a:r>
            <a:endParaRPr lang="en-US" sz="900" dirty="0"/>
          </a:p>
        </p:txBody>
      </p:sp>
      <p:sp>
        <p:nvSpPr>
          <p:cNvPr id="224" name="Shape 222"/>
          <p:cNvSpPr/>
          <p:nvPr/>
        </p:nvSpPr>
        <p:spPr>
          <a:xfrm>
            <a:off x="10521452" y="3177540"/>
            <a:ext cx="118872" cy="118872"/>
          </a:xfrm>
          <a:prstGeom prst="ellipse">
            <a:avLst/>
          </a:prstGeom>
          <a:solidFill>
            <a:srgbClr val="E0A31A"/>
          </a:solidFill>
          <a:ln w="12700">
            <a:solidFill>
              <a:srgbClr val="E0A31A"/>
            </a:solidFill>
            <a:prstDash val="solid"/>
          </a:ln>
        </p:spPr>
      </p:sp>
      <p:sp>
        <p:nvSpPr>
          <p:cNvPr id="225" name="Shape 223"/>
          <p:cNvSpPr/>
          <p:nvPr/>
        </p:nvSpPr>
        <p:spPr>
          <a:xfrm>
            <a:off x="10654040" y="3204972"/>
            <a:ext cx="283464" cy="283464"/>
          </a:xfrm>
          <a:prstGeom prst="roundRect">
            <a:avLst>
              <a:gd name="adj" fmla="val 12903"/>
            </a:avLst>
          </a:prstGeom>
          <a:solidFill>
            <a:srgbClr val="1E5B34"/>
          </a:solidFill>
          <a:ln w="12700">
            <a:solidFill>
              <a:srgbClr val="1E5B34"/>
            </a:solidFill>
            <a:prstDash val="solid"/>
          </a:ln>
        </p:spPr>
      </p:sp>
      <p:sp>
        <p:nvSpPr>
          <p:cNvPr id="226" name="Text 224"/>
          <p:cNvSpPr txBox="1"/>
          <p:nvPr/>
        </p:nvSpPr>
        <p:spPr>
          <a:xfrm>
            <a:off x="10654040" y="3204972"/>
            <a:ext cx="283464" cy="2834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a:t>
            </a:r>
            <a:endParaRPr lang="en-US" sz="900" dirty="0"/>
          </a:p>
        </p:txBody>
      </p:sp>
      <p:sp>
        <p:nvSpPr>
          <p:cNvPr id="227" name="Shape 225"/>
          <p:cNvSpPr/>
          <p:nvPr/>
        </p:nvSpPr>
        <p:spPr>
          <a:xfrm>
            <a:off x="10846064" y="3177540"/>
            <a:ext cx="118872" cy="118872"/>
          </a:xfrm>
          <a:prstGeom prst="ellipse">
            <a:avLst/>
          </a:prstGeom>
          <a:solidFill>
            <a:srgbClr val="E0A31A"/>
          </a:solidFill>
          <a:ln w="12700">
            <a:solidFill>
              <a:srgbClr val="E0A31A"/>
            </a:solidFill>
            <a:prstDash val="solid"/>
          </a:ln>
        </p:spPr>
      </p:sp>
      <p:sp>
        <p:nvSpPr>
          <p:cNvPr id="228" name="Shape 226"/>
          <p:cNvSpPr/>
          <p:nvPr/>
        </p:nvSpPr>
        <p:spPr>
          <a:xfrm>
            <a:off x="10978652" y="3204972"/>
            <a:ext cx="283464" cy="283464"/>
          </a:xfrm>
          <a:prstGeom prst="roundRect">
            <a:avLst>
              <a:gd name="adj" fmla="val 12903"/>
            </a:avLst>
          </a:prstGeom>
          <a:solidFill>
            <a:srgbClr val="1E5B34"/>
          </a:solidFill>
          <a:ln w="12700">
            <a:solidFill>
              <a:srgbClr val="1E5B34"/>
            </a:solidFill>
            <a:prstDash val="solid"/>
          </a:ln>
        </p:spPr>
      </p:sp>
      <p:sp>
        <p:nvSpPr>
          <p:cNvPr id="229" name="Text 227"/>
          <p:cNvSpPr txBox="1"/>
          <p:nvPr/>
        </p:nvSpPr>
        <p:spPr>
          <a:xfrm>
            <a:off x="10978652" y="3204972"/>
            <a:ext cx="283464" cy="2834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a:t>
            </a:r>
            <a:endParaRPr lang="en-US" sz="900" dirty="0"/>
          </a:p>
        </p:txBody>
      </p:sp>
      <p:sp>
        <p:nvSpPr>
          <p:cNvPr id="230" name="Shape 228"/>
          <p:cNvSpPr/>
          <p:nvPr/>
        </p:nvSpPr>
        <p:spPr>
          <a:xfrm>
            <a:off x="11170676" y="3177540"/>
            <a:ext cx="118872" cy="118872"/>
          </a:xfrm>
          <a:prstGeom prst="ellipse">
            <a:avLst/>
          </a:prstGeom>
          <a:solidFill>
            <a:srgbClr val="E0A31A"/>
          </a:solidFill>
          <a:ln w="12700">
            <a:solidFill>
              <a:srgbClr val="E0A31A"/>
            </a:solidFill>
            <a:prstDash val="solid"/>
          </a:ln>
        </p:spPr>
      </p:sp>
      <p:sp>
        <p:nvSpPr>
          <p:cNvPr id="231" name="Shape 229"/>
          <p:cNvSpPr/>
          <p:nvPr/>
        </p:nvSpPr>
        <p:spPr>
          <a:xfrm>
            <a:off x="11303264" y="3204972"/>
            <a:ext cx="283464" cy="283464"/>
          </a:xfrm>
          <a:prstGeom prst="roundRect">
            <a:avLst>
              <a:gd name="adj" fmla="val 12903"/>
            </a:avLst>
          </a:prstGeom>
          <a:solidFill>
            <a:srgbClr val="1E5B34"/>
          </a:solidFill>
          <a:ln w="12700">
            <a:solidFill>
              <a:srgbClr val="1E5B34"/>
            </a:solidFill>
            <a:prstDash val="solid"/>
          </a:ln>
        </p:spPr>
      </p:sp>
      <p:sp>
        <p:nvSpPr>
          <p:cNvPr id="232" name="Text 230"/>
          <p:cNvSpPr txBox="1"/>
          <p:nvPr/>
        </p:nvSpPr>
        <p:spPr>
          <a:xfrm>
            <a:off x="11303264" y="3204972"/>
            <a:ext cx="283464" cy="2834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a:t>
            </a:r>
            <a:endParaRPr lang="en-US" sz="900" dirty="0"/>
          </a:p>
        </p:txBody>
      </p:sp>
      <p:sp>
        <p:nvSpPr>
          <p:cNvPr id="233" name="Shape 231"/>
          <p:cNvSpPr/>
          <p:nvPr/>
        </p:nvSpPr>
        <p:spPr>
          <a:xfrm>
            <a:off x="11495288" y="3177540"/>
            <a:ext cx="118872" cy="118872"/>
          </a:xfrm>
          <a:prstGeom prst="ellipse">
            <a:avLst/>
          </a:prstGeom>
          <a:solidFill>
            <a:srgbClr val="E0A31A"/>
          </a:solidFill>
          <a:ln w="12700">
            <a:solidFill>
              <a:srgbClr val="E0A31A"/>
            </a:solidFill>
            <a:prstDash val="solid"/>
          </a:ln>
        </p:spPr>
      </p:sp>
      <p:sp>
        <p:nvSpPr>
          <p:cNvPr id="234" name="Shape 232"/>
          <p:cNvSpPr/>
          <p:nvPr/>
        </p:nvSpPr>
        <p:spPr>
          <a:xfrm>
            <a:off x="9680204" y="3529584"/>
            <a:ext cx="283464" cy="283464"/>
          </a:xfrm>
          <a:prstGeom prst="roundRect">
            <a:avLst>
              <a:gd name="adj" fmla="val 12903"/>
            </a:avLst>
          </a:prstGeom>
          <a:solidFill>
            <a:srgbClr val="1E5B34"/>
          </a:solidFill>
          <a:ln w="12700">
            <a:solidFill>
              <a:srgbClr val="1E5B34"/>
            </a:solidFill>
            <a:prstDash val="solid"/>
          </a:ln>
        </p:spPr>
      </p:sp>
      <p:sp>
        <p:nvSpPr>
          <p:cNvPr id="235" name="Text 233"/>
          <p:cNvSpPr txBox="1"/>
          <p:nvPr/>
        </p:nvSpPr>
        <p:spPr>
          <a:xfrm>
            <a:off x="9680204" y="3529584"/>
            <a:ext cx="283464" cy="2834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36" name="Shape 234"/>
          <p:cNvSpPr/>
          <p:nvPr/>
        </p:nvSpPr>
        <p:spPr>
          <a:xfrm>
            <a:off x="10004816" y="3529584"/>
            <a:ext cx="283464" cy="283464"/>
          </a:xfrm>
          <a:prstGeom prst="roundRect">
            <a:avLst>
              <a:gd name="adj" fmla="val 12903"/>
            </a:avLst>
          </a:prstGeom>
          <a:solidFill>
            <a:srgbClr val="1E5B34"/>
          </a:solidFill>
          <a:ln w="12700">
            <a:solidFill>
              <a:srgbClr val="1E5B34"/>
            </a:solidFill>
            <a:prstDash val="solid"/>
          </a:ln>
        </p:spPr>
      </p:sp>
      <p:sp>
        <p:nvSpPr>
          <p:cNvPr id="237" name="Text 235"/>
          <p:cNvSpPr txBox="1"/>
          <p:nvPr/>
        </p:nvSpPr>
        <p:spPr>
          <a:xfrm>
            <a:off x="10004816" y="3529584"/>
            <a:ext cx="283464" cy="2834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38" name="Shape 236"/>
          <p:cNvSpPr/>
          <p:nvPr/>
        </p:nvSpPr>
        <p:spPr>
          <a:xfrm>
            <a:off x="10329428" y="3529584"/>
            <a:ext cx="283464" cy="283464"/>
          </a:xfrm>
          <a:prstGeom prst="roundRect">
            <a:avLst>
              <a:gd name="adj" fmla="val 12903"/>
            </a:avLst>
          </a:prstGeom>
          <a:solidFill>
            <a:srgbClr val="1E5B34"/>
          </a:solidFill>
          <a:ln w="12700">
            <a:solidFill>
              <a:srgbClr val="1E5B34"/>
            </a:solidFill>
            <a:prstDash val="solid"/>
          </a:ln>
        </p:spPr>
      </p:sp>
      <p:sp>
        <p:nvSpPr>
          <p:cNvPr id="239" name="Text 237"/>
          <p:cNvSpPr txBox="1"/>
          <p:nvPr/>
        </p:nvSpPr>
        <p:spPr>
          <a:xfrm>
            <a:off x="10329428" y="3529584"/>
            <a:ext cx="283464" cy="2834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40" name="Shape 238"/>
          <p:cNvSpPr/>
          <p:nvPr/>
        </p:nvSpPr>
        <p:spPr>
          <a:xfrm>
            <a:off x="10654040" y="3529584"/>
            <a:ext cx="283464" cy="283464"/>
          </a:xfrm>
          <a:prstGeom prst="roundRect">
            <a:avLst>
              <a:gd name="adj" fmla="val 12903"/>
            </a:avLst>
          </a:prstGeom>
          <a:solidFill>
            <a:srgbClr val="1E5B34"/>
          </a:solidFill>
          <a:ln w="12700">
            <a:solidFill>
              <a:srgbClr val="1E5B34"/>
            </a:solidFill>
            <a:prstDash val="solid"/>
          </a:ln>
        </p:spPr>
      </p:sp>
      <p:sp>
        <p:nvSpPr>
          <p:cNvPr id="241" name="Text 239"/>
          <p:cNvSpPr txBox="1"/>
          <p:nvPr/>
        </p:nvSpPr>
        <p:spPr>
          <a:xfrm>
            <a:off x="10654040" y="3529584"/>
            <a:ext cx="283464" cy="2834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U</a:t>
            </a:r>
            <a:endParaRPr lang="en-US" sz="900" dirty="0"/>
          </a:p>
        </p:txBody>
      </p:sp>
      <p:sp>
        <p:nvSpPr>
          <p:cNvPr id="242" name="Shape 240"/>
          <p:cNvSpPr/>
          <p:nvPr/>
        </p:nvSpPr>
        <p:spPr>
          <a:xfrm>
            <a:off x="10978652" y="3529584"/>
            <a:ext cx="283464" cy="283464"/>
          </a:xfrm>
          <a:prstGeom prst="roundRect">
            <a:avLst>
              <a:gd name="adj" fmla="val 12903"/>
            </a:avLst>
          </a:prstGeom>
          <a:solidFill>
            <a:srgbClr val="1E5B34"/>
          </a:solidFill>
          <a:ln w="12700">
            <a:solidFill>
              <a:srgbClr val="1E5B34"/>
            </a:solidFill>
            <a:prstDash val="solid"/>
          </a:ln>
        </p:spPr>
      </p:sp>
      <p:sp>
        <p:nvSpPr>
          <p:cNvPr id="243" name="Text 241"/>
          <p:cNvSpPr txBox="1"/>
          <p:nvPr/>
        </p:nvSpPr>
        <p:spPr>
          <a:xfrm>
            <a:off x="10978652" y="3529584"/>
            <a:ext cx="283464" cy="2834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U</a:t>
            </a:r>
            <a:endParaRPr lang="en-US" sz="900" dirty="0"/>
          </a:p>
        </p:txBody>
      </p:sp>
      <p:sp>
        <p:nvSpPr>
          <p:cNvPr id="244" name="Shape 242"/>
          <p:cNvSpPr/>
          <p:nvPr/>
        </p:nvSpPr>
        <p:spPr>
          <a:xfrm>
            <a:off x="11303264" y="3529584"/>
            <a:ext cx="283464" cy="283464"/>
          </a:xfrm>
          <a:prstGeom prst="roundRect">
            <a:avLst>
              <a:gd name="adj" fmla="val 12903"/>
            </a:avLst>
          </a:prstGeom>
          <a:solidFill>
            <a:srgbClr val="1E5B34"/>
          </a:solidFill>
          <a:ln w="12700">
            <a:solidFill>
              <a:srgbClr val="1E5B34"/>
            </a:solidFill>
            <a:prstDash val="solid"/>
          </a:ln>
        </p:spPr>
      </p:sp>
      <p:sp>
        <p:nvSpPr>
          <p:cNvPr id="245" name="Text 243"/>
          <p:cNvSpPr txBox="1"/>
          <p:nvPr/>
        </p:nvSpPr>
        <p:spPr>
          <a:xfrm>
            <a:off x="11303264" y="3529584"/>
            <a:ext cx="283464" cy="2834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46" name="Shape 244"/>
          <p:cNvSpPr/>
          <p:nvPr/>
        </p:nvSpPr>
        <p:spPr>
          <a:xfrm>
            <a:off x="9680204" y="3854196"/>
            <a:ext cx="283464" cy="283464"/>
          </a:xfrm>
          <a:prstGeom prst="roundRect">
            <a:avLst>
              <a:gd name="adj" fmla="val 12903"/>
            </a:avLst>
          </a:prstGeom>
          <a:solidFill>
            <a:srgbClr val="1E5B34"/>
          </a:solidFill>
          <a:ln w="12700">
            <a:solidFill>
              <a:srgbClr val="1E5B34"/>
            </a:solidFill>
            <a:prstDash val="solid"/>
          </a:ln>
        </p:spPr>
      </p:sp>
      <p:sp>
        <p:nvSpPr>
          <p:cNvPr id="247" name="Text 245"/>
          <p:cNvSpPr txBox="1"/>
          <p:nvPr/>
        </p:nvSpPr>
        <p:spPr>
          <a:xfrm>
            <a:off x="9680204" y="3854196"/>
            <a:ext cx="283464" cy="2834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48" name="Shape 246"/>
          <p:cNvSpPr/>
          <p:nvPr/>
        </p:nvSpPr>
        <p:spPr>
          <a:xfrm>
            <a:off x="10004816" y="3854196"/>
            <a:ext cx="283464" cy="283464"/>
          </a:xfrm>
          <a:prstGeom prst="roundRect">
            <a:avLst>
              <a:gd name="adj" fmla="val 12903"/>
            </a:avLst>
          </a:prstGeom>
          <a:solidFill>
            <a:srgbClr val="1E5B34"/>
          </a:solidFill>
          <a:ln w="12700">
            <a:solidFill>
              <a:srgbClr val="1E5B34"/>
            </a:solidFill>
            <a:prstDash val="solid"/>
          </a:ln>
        </p:spPr>
      </p:sp>
      <p:sp>
        <p:nvSpPr>
          <p:cNvPr id="249" name="Text 247"/>
          <p:cNvSpPr txBox="1"/>
          <p:nvPr/>
        </p:nvSpPr>
        <p:spPr>
          <a:xfrm>
            <a:off x="10004816" y="3854196"/>
            <a:ext cx="283464" cy="2834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50" name="Shape 248"/>
          <p:cNvSpPr/>
          <p:nvPr/>
        </p:nvSpPr>
        <p:spPr>
          <a:xfrm>
            <a:off x="10329428" y="3854196"/>
            <a:ext cx="283464" cy="283464"/>
          </a:xfrm>
          <a:prstGeom prst="roundRect">
            <a:avLst>
              <a:gd name="adj" fmla="val 12903"/>
            </a:avLst>
          </a:prstGeom>
          <a:solidFill>
            <a:srgbClr val="6BA55D"/>
          </a:solidFill>
          <a:ln w="12700">
            <a:solidFill>
              <a:srgbClr val="6BA55D"/>
            </a:solidFill>
            <a:prstDash val="solid"/>
          </a:ln>
        </p:spPr>
      </p:sp>
      <p:sp>
        <p:nvSpPr>
          <p:cNvPr id="251" name="Text 249"/>
          <p:cNvSpPr txBox="1"/>
          <p:nvPr/>
        </p:nvSpPr>
        <p:spPr>
          <a:xfrm>
            <a:off x="10329428" y="3854196"/>
            <a:ext cx="283464" cy="283464"/>
          </a:xfrm>
          <a:prstGeom prst="rect">
            <a:avLst/>
          </a:prstGeom>
          <a:noFill/>
          <a:ln/>
        </p:spPr>
        <p:txBody>
          <a:bodyPr wrap="square" lIns="0" tIns="0" rIns="0" bIns="0" rtlCol="0" anchor="ctr"/>
          <a:lstStyle/>
          <a:p>
            <a:pPr algn="ctr" indent="0" marL="0">
              <a:buNone/>
            </a:pPr>
            <a:r>
              <a:rPr lang="en-US" sz="900" b="1" dirty="0">
                <a:solidFill>
                  <a:srgbClr val="12402A"/>
                </a:solidFill>
                <a:latin typeface="Calibri" pitchFamily="34" charset="0"/>
                <a:ea typeface="Calibri" pitchFamily="34" charset="-122"/>
                <a:cs typeface="Calibri" pitchFamily="34" charset="-120"/>
              </a:rPr>
              <a:t>A</a:t>
            </a:r>
            <a:endParaRPr lang="en-US" sz="900" dirty="0"/>
          </a:p>
        </p:txBody>
      </p:sp>
      <p:sp>
        <p:nvSpPr>
          <p:cNvPr id="252" name="Shape 250"/>
          <p:cNvSpPr/>
          <p:nvPr/>
        </p:nvSpPr>
        <p:spPr>
          <a:xfrm>
            <a:off x="10654040" y="3854196"/>
            <a:ext cx="283464" cy="283464"/>
          </a:xfrm>
          <a:prstGeom prst="roundRect">
            <a:avLst>
              <a:gd name="adj" fmla="val 12903"/>
            </a:avLst>
          </a:prstGeom>
          <a:solidFill>
            <a:srgbClr val="6BA55D"/>
          </a:solidFill>
          <a:ln w="12700">
            <a:solidFill>
              <a:srgbClr val="6BA55D"/>
            </a:solidFill>
            <a:prstDash val="solid"/>
          </a:ln>
        </p:spPr>
      </p:sp>
      <p:sp>
        <p:nvSpPr>
          <p:cNvPr id="253" name="Text 251"/>
          <p:cNvSpPr txBox="1"/>
          <p:nvPr/>
        </p:nvSpPr>
        <p:spPr>
          <a:xfrm>
            <a:off x="10654040" y="3854196"/>
            <a:ext cx="283464" cy="283464"/>
          </a:xfrm>
          <a:prstGeom prst="rect">
            <a:avLst/>
          </a:prstGeom>
          <a:noFill/>
          <a:ln/>
        </p:spPr>
        <p:txBody>
          <a:bodyPr wrap="square" lIns="0" tIns="0" rIns="0" bIns="0" rtlCol="0" anchor="ctr"/>
          <a:lstStyle/>
          <a:p>
            <a:pPr algn="ctr" indent="0" marL="0">
              <a:buNone/>
            </a:pPr>
            <a:r>
              <a:rPr lang="en-US" sz="900" b="1" dirty="0">
                <a:solidFill>
                  <a:srgbClr val="12402A"/>
                </a:solidFill>
                <a:latin typeface="Calibri" pitchFamily="34" charset="0"/>
                <a:ea typeface="Calibri" pitchFamily="34" charset="-122"/>
                <a:cs typeface="Calibri" pitchFamily="34" charset="-120"/>
              </a:rPr>
              <a:t>A</a:t>
            </a:r>
            <a:endParaRPr lang="en-US" sz="900" dirty="0"/>
          </a:p>
        </p:txBody>
      </p:sp>
      <p:sp>
        <p:nvSpPr>
          <p:cNvPr id="254" name="Shape 252"/>
          <p:cNvSpPr/>
          <p:nvPr/>
        </p:nvSpPr>
        <p:spPr>
          <a:xfrm>
            <a:off x="10978652" y="3854196"/>
            <a:ext cx="283464" cy="283464"/>
          </a:xfrm>
          <a:prstGeom prst="roundRect">
            <a:avLst>
              <a:gd name="adj" fmla="val 12903"/>
            </a:avLst>
          </a:prstGeom>
          <a:solidFill>
            <a:srgbClr val="6BA55D"/>
          </a:solidFill>
          <a:ln w="12700">
            <a:solidFill>
              <a:srgbClr val="6BA55D"/>
            </a:solidFill>
            <a:prstDash val="solid"/>
          </a:ln>
        </p:spPr>
      </p:sp>
      <p:sp>
        <p:nvSpPr>
          <p:cNvPr id="255" name="Text 253"/>
          <p:cNvSpPr txBox="1"/>
          <p:nvPr/>
        </p:nvSpPr>
        <p:spPr>
          <a:xfrm>
            <a:off x="10978652" y="3854196"/>
            <a:ext cx="283464" cy="283464"/>
          </a:xfrm>
          <a:prstGeom prst="rect">
            <a:avLst/>
          </a:prstGeom>
          <a:noFill/>
          <a:ln/>
        </p:spPr>
        <p:txBody>
          <a:bodyPr wrap="square" lIns="0" tIns="0" rIns="0" bIns="0" rtlCol="0" anchor="ctr"/>
          <a:lstStyle/>
          <a:p>
            <a:pPr algn="ctr" indent="0" marL="0">
              <a:buNone/>
            </a:pPr>
            <a:r>
              <a:rPr lang="en-US" sz="900" b="1" dirty="0">
                <a:solidFill>
                  <a:srgbClr val="12402A"/>
                </a:solidFill>
                <a:latin typeface="Calibri" pitchFamily="34" charset="0"/>
                <a:ea typeface="Calibri" pitchFamily="34" charset="-122"/>
                <a:cs typeface="Calibri" pitchFamily="34" charset="-120"/>
              </a:rPr>
              <a:t>A</a:t>
            </a:r>
            <a:endParaRPr lang="en-US" sz="900" dirty="0"/>
          </a:p>
        </p:txBody>
      </p:sp>
      <p:sp>
        <p:nvSpPr>
          <p:cNvPr id="256" name="Shape 254"/>
          <p:cNvSpPr/>
          <p:nvPr/>
        </p:nvSpPr>
        <p:spPr>
          <a:xfrm>
            <a:off x="11303264" y="3854196"/>
            <a:ext cx="283464" cy="283464"/>
          </a:xfrm>
          <a:prstGeom prst="roundRect">
            <a:avLst>
              <a:gd name="adj" fmla="val 12903"/>
            </a:avLst>
          </a:prstGeom>
          <a:solidFill>
            <a:srgbClr val="6BA55D"/>
          </a:solidFill>
          <a:ln w="12700">
            <a:solidFill>
              <a:srgbClr val="6BA55D"/>
            </a:solidFill>
            <a:prstDash val="solid"/>
          </a:ln>
        </p:spPr>
      </p:sp>
      <p:sp>
        <p:nvSpPr>
          <p:cNvPr id="257" name="Text 255"/>
          <p:cNvSpPr txBox="1"/>
          <p:nvPr/>
        </p:nvSpPr>
        <p:spPr>
          <a:xfrm>
            <a:off x="11303264" y="3854196"/>
            <a:ext cx="283464" cy="283464"/>
          </a:xfrm>
          <a:prstGeom prst="rect">
            <a:avLst/>
          </a:prstGeom>
          <a:noFill/>
          <a:ln/>
        </p:spPr>
        <p:txBody>
          <a:bodyPr wrap="square" lIns="0" tIns="0" rIns="0" bIns="0" rtlCol="0" anchor="ctr"/>
          <a:lstStyle/>
          <a:p>
            <a:pPr algn="ctr" indent="0" marL="0">
              <a:buNone/>
            </a:pPr>
            <a:r>
              <a:rPr lang="en-US" sz="900" b="1" dirty="0">
                <a:solidFill>
                  <a:srgbClr val="12402A"/>
                </a:solidFill>
                <a:latin typeface="Calibri" pitchFamily="34" charset="0"/>
                <a:ea typeface="Calibri" pitchFamily="34" charset="-122"/>
                <a:cs typeface="Calibri" pitchFamily="34" charset="-120"/>
              </a:rPr>
              <a:t>M</a:t>
            </a:r>
            <a:endParaRPr lang="en-US" sz="900" dirty="0"/>
          </a:p>
        </p:txBody>
      </p:sp>
      <p:sp>
        <p:nvSpPr>
          <p:cNvPr id="258" name="Shape 256"/>
          <p:cNvSpPr/>
          <p:nvPr/>
        </p:nvSpPr>
        <p:spPr>
          <a:xfrm>
            <a:off x="9680204" y="4178808"/>
            <a:ext cx="283464" cy="283464"/>
          </a:xfrm>
          <a:prstGeom prst="roundRect">
            <a:avLst>
              <a:gd name="adj" fmla="val 12903"/>
            </a:avLst>
          </a:prstGeom>
          <a:solidFill>
            <a:srgbClr val="6BA55D"/>
          </a:solidFill>
          <a:ln w="12700">
            <a:solidFill>
              <a:srgbClr val="6BA55D"/>
            </a:solidFill>
            <a:prstDash val="solid"/>
          </a:ln>
        </p:spPr>
      </p:sp>
      <p:sp>
        <p:nvSpPr>
          <p:cNvPr id="259" name="Shape 257"/>
          <p:cNvSpPr/>
          <p:nvPr/>
        </p:nvSpPr>
        <p:spPr>
          <a:xfrm>
            <a:off x="10004816" y="4178808"/>
            <a:ext cx="283464" cy="283464"/>
          </a:xfrm>
          <a:prstGeom prst="roundRect">
            <a:avLst>
              <a:gd name="adj" fmla="val 12903"/>
            </a:avLst>
          </a:prstGeom>
          <a:solidFill>
            <a:srgbClr val="A9D08E"/>
          </a:solidFill>
          <a:ln w="12700">
            <a:solidFill>
              <a:srgbClr val="A9D08E"/>
            </a:solidFill>
            <a:prstDash val="solid"/>
          </a:ln>
        </p:spPr>
      </p:sp>
      <p:sp>
        <p:nvSpPr>
          <p:cNvPr id="260" name="Shape 258"/>
          <p:cNvSpPr/>
          <p:nvPr/>
        </p:nvSpPr>
        <p:spPr>
          <a:xfrm>
            <a:off x="10329428" y="4178808"/>
            <a:ext cx="283464" cy="283464"/>
          </a:xfrm>
          <a:prstGeom prst="roundRect">
            <a:avLst>
              <a:gd name="adj" fmla="val 12903"/>
            </a:avLst>
          </a:prstGeom>
          <a:solidFill>
            <a:srgbClr val="A9D08E"/>
          </a:solidFill>
          <a:ln w="12700">
            <a:solidFill>
              <a:srgbClr val="A9D08E"/>
            </a:solidFill>
            <a:prstDash val="solid"/>
          </a:ln>
        </p:spPr>
      </p:sp>
      <p:sp>
        <p:nvSpPr>
          <p:cNvPr id="261" name="Shape 259"/>
          <p:cNvSpPr/>
          <p:nvPr/>
        </p:nvSpPr>
        <p:spPr>
          <a:xfrm>
            <a:off x="10654040" y="4178808"/>
            <a:ext cx="283464" cy="283464"/>
          </a:xfrm>
          <a:prstGeom prst="roundRect">
            <a:avLst>
              <a:gd name="adj" fmla="val 12903"/>
            </a:avLst>
          </a:prstGeom>
          <a:solidFill>
            <a:srgbClr val="A9D08E"/>
          </a:solidFill>
          <a:ln w="12700">
            <a:solidFill>
              <a:srgbClr val="A9D08E"/>
            </a:solidFill>
            <a:prstDash val="solid"/>
          </a:ln>
        </p:spPr>
      </p:sp>
      <p:sp>
        <p:nvSpPr>
          <p:cNvPr id="262" name="Shape 260"/>
          <p:cNvSpPr/>
          <p:nvPr/>
        </p:nvSpPr>
        <p:spPr>
          <a:xfrm>
            <a:off x="10978652" y="4178808"/>
            <a:ext cx="283464" cy="283464"/>
          </a:xfrm>
          <a:prstGeom prst="roundRect">
            <a:avLst>
              <a:gd name="adj" fmla="val 12903"/>
            </a:avLst>
          </a:prstGeom>
          <a:solidFill>
            <a:srgbClr val="A9D08E"/>
          </a:solidFill>
          <a:ln w="12700">
            <a:solidFill>
              <a:srgbClr val="A9D08E"/>
            </a:solidFill>
            <a:prstDash val="solid"/>
          </a:ln>
        </p:spPr>
      </p:sp>
      <p:sp>
        <p:nvSpPr>
          <p:cNvPr id="263" name="Shape 261"/>
          <p:cNvSpPr/>
          <p:nvPr/>
        </p:nvSpPr>
        <p:spPr>
          <a:xfrm>
            <a:off x="11303264" y="4178808"/>
            <a:ext cx="283464" cy="283464"/>
          </a:xfrm>
          <a:prstGeom prst="roundRect">
            <a:avLst>
              <a:gd name="adj" fmla="val 12903"/>
            </a:avLst>
          </a:prstGeom>
          <a:solidFill>
            <a:srgbClr val="A9D08E"/>
          </a:solidFill>
          <a:ln w="12700">
            <a:solidFill>
              <a:srgbClr val="A9D08E"/>
            </a:solidFill>
            <a:prstDash val="solid"/>
          </a:ln>
        </p:spPr>
      </p:sp>
      <p:sp>
        <p:nvSpPr>
          <p:cNvPr id="264" name="Shape 262"/>
          <p:cNvSpPr/>
          <p:nvPr/>
        </p:nvSpPr>
        <p:spPr>
          <a:xfrm>
            <a:off x="9680204" y="4503420"/>
            <a:ext cx="283464" cy="283464"/>
          </a:xfrm>
          <a:prstGeom prst="roundRect">
            <a:avLst>
              <a:gd name="adj" fmla="val 12903"/>
            </a:avLst>
          </a:prstGeom>
          <a:solidFill>
            <a:srgbClr val="A9D08E"/>
          </a:solidFill>
          <a:ln w="12700">
            <a:solidFill>
              <a:srgbClr val="A9D08E"/>
            </a:solidFill>
            <a:prstDash val="solid"/>
          </a:ln>
        </p:spPr>
      </p:sp>
      <p:sp>
        <p:nvSpPr>
          <p:cNvPr id="265" name="Shape 263"/>
          <p:cNvSpPr/>
          <p:nvPr/>
        </p:nvSpPr>
        <p:spPr>
          <a:xfrm>
            <a:off x="10004816" y="4503420"/>
            <a:ext cx="283464" cy="283464"/>
          </a:xfrm>
          <a:prstGeom prst="roundRect">
            <a:avLst>
              <a:gd name="adj" fmla="val 12903"/>
            </a:avLst>
          </a:prstGeom>
          <a:solidFill>
            <a:srgbClr val="A9D08E"/>
          </a:solidFill>
          <a:ln w="12700">
            <a:solidFill>
              <a:srgbClr val="A9D08E"/>
            </a:solidFill>
            <a:prstDash val="solid"/>
          </a:ln>
        </p:spPr>
      </p:sp>
      <p:sp>
        <p:nvSpPr>
          <p:cNvPr id="266" name="Shape 264"/>
          <p:cNvSpPr/>
          <p:nvPr/>
        </p:nvSpPr>
        <p:spPr>
          <a:xfrm>
            <a:off x="10329428" y="4503420"/>
            <a:ext cx="283464" cy="283464"/>
          </a:xfrm>
          <a:prstGeom prst="roundRect">
            <a:avLst>
              <a:gd name="adj" fmla="val 12903"/>
            </a:avLst>
          </a:prstGeom>
          <a:solidFill>
            <a:srgbClr val="A9D08E"/>
          </a:solidFill>
          <a:ln w="12700">
            <a:solidFill>
              <a:srgbClr val="A9D08E"/>
            </a:solidFill>
            <a:prstDash val="solid"/>
          </a:ln>
        </p:spPr>
      </p:sp>
      <p:sp>
        <p:nvSpPr>
          <p:cNvPr id="267" name="Shape 265"/>
          <p:cNvSpPr/>
          <p:nvPr/>
        </p:nvSpPr>
        <p:spPr>
          <a:xfrm>
            <a:off x="10654040" y="4503420"/>
            <a:ext cx="283464" cy="283464"/>
          </a:xfrm>
          <a:prstGeom prst="roundRect">
            <a:avLst>
              <a:gd name="adj" fmla="val 12903"/>
            </a:avLst>
          </a:prstGeom>
          <a:solidFill>
            <a:srgbClr val="A9D08E"/>
          </a:solidFill>
          <a:ln w="12700">
            <a:solidFill>
              <a:srgbClr val="A9D08E"/>
            </a:solidFill>
            <a:prstDash val="solid"/>
          </a:ln>
        </p:spPr>
      </p:sp>
      <p:sp>
        <p:nvSpPr>
          <p:cNvPr id="268" name="Shape 266"/>
          <p:cNvSpPr/>
          <p:nvPr/>
        </p:nvSpPr>
        <p:spPr>
          <a:xfrm>
            <a:off x="10978652" y="4503420"/>
            <a:ext cx="283464" cy="283464"/>
          </a:xfrm>
          <a:prstGeom prst="roundRect">
            <a:avLst>
              <a:gd name="adj" fmla="val 12903"/>
            </a:avLst>
          </a:prstGeom>
          <a:solidFill>
            <a:srgbClr val="A9D08E"/>
          </a:solidFill>
          <a:ln w="12700">
            <a:solidFill>
              <a:srgbClr val="A9D08E"/>
            </a:solidFill>
            <a:prstDash val="solid"/>
          </a:ln>
        </p:spPr>
      </p:sp>
      <p:sp>
        <p:nvSpPr>
          <p:cNvPr id="269" name="Shape 267"/>
          <p:cNvSpPr/>
          <p:nvPr/>
        </p:nvSpPr>
        <p:spPr>
          <a:xfrm>
            <a:off x="11303264" y="4503420"/>
            <a:ext cx="283464" cy="283464"/>
          </a:xfrm>
          <a:prstGeom prst="roundRect">
            <a:avLst>
              <a:gd name="adj" fmla="val 12903"/>
            </a:avLst>
          </a:prstGeom>
          <a:solidFill>
            <a:srgbClr val="A9D08E"/>
          </a:solidFill>
          <a:ln w="12700">
            <a:solidFill>
              <a:srgbClr val="A9D08E"/>
            </a:solidFill>
            <a:prstDash val="solid"/>
          </a:ln>
        </p:spPr>
      </p:sp>
      <p:sp>
        <p:nvSpPr>
          <p:cNvPr id="270" name="Shape 268"/>
          <p:cNvSpPr/>
          <p:nvPr/>
        </p:nvSpPr>
        <p:spPr>
          <a:xfrm>
            <a:off x="9680204" y="4828032"/>
            <a:ext cx="283464" cy="283464"/>
          </a:xfrm>
          <a:prstGeom prst="roundRect">
            <a:avLst>
              <a:gd name="adj" fmla="val 12903"/>
            </a:avLst>
          </a:prstGeom>
          <a:solidFill>
            <a:srgbClr val="A9D08E"/>
          </a:solidFill>
          <a:ln w="12700">
            <a:solidFill>
              <a:srgbClr val="A9D08E"/>
            </a:solidFill>
            <a:prstDash val="solid"/>
          </a:ln>
        </p:spPr>
      </p:sp>
      <p:sp>
        <p:nvSpPr>
          <p:cNvPr id="271" name="Text 269"/>
          <p:cNvSpPr txBox="1"/>
          <p:nvPr/>
        </p:nvSpPr>
        <p:spPr>
          <a:xfrm>
            <a:off x="9680204" y="5244084"/>
            <a:ext cx="1962851" cy="502920"/>
          </a:xfrm>
          <a:prstGeom prst="rect">
            <a:avLst/>
          </a:prstGeom>
          <a:noFill/>
          <a:ln/>
        </p:spPr>
        <p:txBody>
          <a:bodyPr wrap="square" lIns="0" tIns="0" rIns="0" bIns="0" rtlCol="0" anchor="t"/>
          <a:lstStyle/>
          <a:p>
            <a:pPr indent="0" marL="0">
              <a:buNone/>
            </a:pPr>
            <a:r>
              <a:rPr lang="en-US" sz="1100" b="1" dirty="0">
                <a:solidFill>
                  <a:srgbClr val="8A5A00"/>
                </a:solidFill>
                <a:latin typeface="Calibri" pitchFamily="34" charset="0"/>
                <a:ea typeface="Calibri" pitchFamily="34" charset="-122"/>
                <a:cs typeface="Calibri" pitchFamily="34" charset="-120"/>
              </a:rPr>
              <a:t>12</a:t>
            </a:r>
            <a:pPr indent="0" marL="0">
              <a:buNone/>
            </a:pPr>
            <a:r>
              <a:rPr lang="en-US" sz="1100" dirty="0">
                <a:solidFill>
                  <a:srgbClr val="5B6670"/>
                </a:solidFill>
                <a:latin typeface="Calibri" pitchFamily="34" charset="0"/>
                <a:ea typeface="Calibri" pitchFamily="34" charset="-122"/>
                <a:cs typeface="Calibri" pitchFamily="34" charset="-120"/>
              </a:rPr>
              <a:t> EOL   </a:t>
            </a:r>
            <a:pPr indent="0" marL="0">
              <a:buNone/>
            </a:pPr>
            <a:r>
              <a:rPr lang="en-US" sz="1100" b="1" dirty="0">
                <a:solidFill>
                  <a:srgbClr val="C0392B"/>
                </a:solidFill>
                <a:latin typeface="Calibri" pitchFamily="34" charset="0"/>
                <a:ea typeface="Calibri" pitchFamily="34" charset="-122"/>
                <a:cs typeface="Calibri" pitchFamily="34" charset="-120"/>
              </a:rPr>
              <a:t>11</a:t>
            </a:r>
            <a:pPr indent="0" marL="0">
              <a:buNone/>
            </a:pPr>
            <a:r>
              <a:rPr lang="en-US" sz="1100" dirty="0">
                <a:solidFill>
                  <a:srgbClr val="5B6670"/>
                </a:solidFill>
                <a:latin typeface="Calibri" pitchFamily="34" charset="0"/>
                <a:ea typeface="Calibri" pitchFamily="34" charset="-122"/>
                <a:cs typeface="Calibri" pitchFamily="34" charset="-120"/>
              </a:rPr>
              <a:t> secrets</a:t>
            </a:r>
            <a:endParaRPr lang="en-US" sz="1100" dirty="0"/>
          </a:p>
          <a:p>
            <a:pPr indent="0" marL="0">
              <a:buNone/>
            </a:pPr>
            <a:r>
              <a:rPr lang="en-US" sz="1100" b="1" dirty="0">
                <a:solidFill>
                  <a:srgbClr val="1F2933"/>
                </a:solidFill>
                <a:latin typeface="Calibri" pitchFamily="34" charset="0"/>
                <a:ea typeface="Calibri" pitchFamily="34" charset="-122"/>
                <a:cs typeface="Calibri" pitchFamily="34" charset="-120"/>
              </a:rPr>
              <a:t>38%</a:t>
            </a:r>
            <a:pPr indent="0" marL="0">
              <a:buNone/>
            </a:pPr>
            <a:r>
              <a:rPr lang="en-US" sz="1100" dirty="0">
                <a:solidFill>
                  <a:srgbClr val="5B6670"/>
                </a:solidFill>
                <a:latin typeface="Calibri" pitchFamily="34" charset="0"/>
                <a:ea typeface="Calibri" pitchFamily="34" charset="-122"/>
                <a:cs typeface="Calibri" pitchFamily="34" charset="-120"/>
              </a:rPr>
              <a:t> in Sonar   </a:t>
            </a:r>
            <a:pPr indent="0" marL="0">
              <a:buNone/>
            </a:pPr>
            <a:r>
              <a:rPr lang="en-US" sz="1100" b="1" dirty="0">
                <a:solidFill>
                  <a:srgbClr val="1F2933"/>
                </a:solidFill>
                <a:latin typeface="Calibri" pitchFamily="34" charset="0"/>
                <a:ea typeface="Calibri" pitchFamily="34" charset="-122"/>
                <a:cs typeface="Calibri" pitchFamily="34" charset="-120"/>
              </a:rPr>
              <a:t>4.2</a:t>
            </a:r>
            <a:pPr indent="0" marL="0">
              <a:buNone/>
            </a:pPr>
            <a:r>
              <a:rPr lang="en-US" sz="1100" dirty="0">
                <a:solidFill>
                  <a:srgbClr val="5B6670"/>
                </a:solidFill>
                <a:latin typeface="Calibri" pitchFamily="34" charset="0"/>
                <a:ea typeface="Calibri" pitchFamily="34" charset="-122"/>
                <a:cs typeface="Calibri" pitchFamily="34" charset="-120"/>
              </a:rPr>
              <a:t> findings/app</a:t>
            </a:r>
            <a:endParaRPr lang="en-US" sz="1100" dirty="0"/>
          </a:p>
        </p:txBody>
      </p:sp>
      <p:sp>
        <p:nvSpPr>
          <p:cNvPr id="272" name="Shape 270"/>
          <p:cNvSpPr/>
          <p:nvPr/>
        </p:nvSpPr>
        <p:spPr>
          <a:xfrm>
            <a:off x="548640" y="5870448"/>
            <a:ext cx="11094415" cy="457200"/>
          </a:xfrm>
          <a:prstGeom prst="roundRect">
            <a:avLst>
              <a:gd name="adj" fmla="val 16000"/>
            </a:avLst>
          </a:prstGeom>
          <a:solidFill>
            <a:srgbClr val="F1F7EE"/>
          </a:solidFill>
          <a:ln w="12700">
            <a:solidFill>
              <a:srgbClr val="F1F7EE"/>
            </a:solidFill>
            <a:prstDash val="solid"/>
          </a:ln>
        </p:spPr>
      </p:sp>
      <p:sp>
        <p:nvSpPr>
          <p:cNvPr id="273" name="Shape 271"/>
          <p:cNvSpPr/>
          <p:nvPr/>
        </p:nvSpPr>
        <p:spPr>
          <a:xfrm>
            <a:off x="731520" y="5989320"/>
            <a:ext cx="182880" cy="182880"/>
          </a:xfrm>
          <a:prstGeom prst="roundRect">
            <a:avLst>
              <a:gd name="adj" fmla="val 15000"/>
            </a:avLst>
          </a:prstGeom>
          <a:solidFill>
            <a:srgbClr val="1E5B34"/>
          </a:solidFill>
          <a:ln w="12700">
            <a:solidFill>
              <a:srgbClr val="1E5B34"/>
            </a:solidFill>
            <a:prstDash val="solid"/>
          </a:ln>
        </p:spPr>
      </p:sp>
      <p:sp>
        <p:nvSpPr>
          <p:cNvPr id="274" name="Text 272"/>
          <p:cNvSpPr txBox="1"/>
          <p:nvPr/>
        </p:nvSpPr>
        <p:spPr>
          <a:xfrm>
            <a:off x="978408" y="5943600"/>
            <a:ext cx="1280160" cy="274320"/>
          </a:xfrm>
          <a:prstGeom prst="rect">
            <a:avLst/>
          </a:prstGeom>
          <a:noFill/>
          <a:ln/>
        </p:spPr>
        <p:txBody>
          <a:bodyPr wrap="square" lIns="0" tIns="0" rIns="0" bIns="0" rtlCol="0" anchor="ctr"/>
          <a:lstStyle/>
          <a:p>
            <a:pPr indent="0" marL="0">
              <a:buNone/>
            </a:pPr>
            <a:r>
              <a:rPr lang="en-US" sz="1050" dirty="0">
                <a:solidFill>
                  <a:srgbClr val="1F2933"/>
                </a:solidFill>
                <a:latin typeface="Calibri" pitchFamily="34" charset="0"/>
                <a:ea typeface="Calibri" pitchFamily="34" charset="-122"/>
                <a:cs typeface="Calibri" pitchFamily="34" charset="-120"/>
              </a:rPr>
              <a:t>Production</a:t>
            </a:r>
            <a:endParaRPr lang="en-US" sz="1050" dirty="0"/>
          </a:p>
        </p:txBody>
      </p:sp>
      <p:sp>
        <p:nvSpPr>
          <p:cNvPr id="275" name="Shape 273"/>
          <p:cNvSpPr/>
          <p:nvPr/>
        </p:nvSpPr>
        <p:spPr>
          <a:xfrm>
            <a:off x="1737360" y="5989320"/>
            <a:ext cx="182880" cy="182880"/>
          </a:xfrm>
          <a:prstGeom prst="roundRect">
            <a:avLst>
              <a:gd name="adj" fmla="val 15000"/>
            </a:avLst>
          </a:prstGeom>
          <a:solidFill>
            <a:srgbClr val="368727"/>
          </a:solidFill>
          <a:ln w="12700">
            <a:solidFill>
              <a:srgbClr val="368727"/>
            </a:solidFill>
            <a:prstDash val="solid"/>
          </a:ln>
        </p:spPr>
      </p:sp>
      <p:sp>
        <p:nvSpPr>
          <p:cNvPr id="276" name="Text 274"/>
          <p:cNvSpPr txBox="1"/>
          <p:nvPr/>
        </p:nvSpPr>
        <p:spPr>
          <a:xfrm>
            <a:off x="1984248" y="5943600"/>
            <a:ext cx="1280160" cy="274320"/>
          </a:xfrm>
          <a:prstGeom prst="rect">
            <a:avLst/>
          </a:prstGeom>
          <a:noFill/>
          <a:ln/>
        </p:spPr>
        <p:txBody>
          <a:bodyPr wrap="square" lIns="0" tIns="0" rIns="0" bIns="0" rtlCol="0" anchor="ctr"/>
          <a:lstStyle/>
          <a:p>
            <a:pPr indent="0" marL="0">
              <a:buNone/>
            </a:pPr>
            <a:r>
              <a:rPr lang="en-US" sz="1050" dirty="0">
                <a:solidFill>
                  <a:srgbClr val="1F2933"/>
                </a:solidFill>
                <a:latin typeface="Calibri" pitchFamily="34" charset="0"/>
                <a:ea typeface="Calibri" pitchFamily="34" charset="-122"/>
                <a:cs typeface="Calibri" pitchFamily="34" charset="-120"/>
              </a:rPr>
              <a:t>Production Ready</a:t>
            </a:r>
            <a:endParaRPr lang="en-US" sz="1050" dirty="0"/>
          </a:p>
        </p:txBody>
      </p:sp>
      <p:sp>
        <p:nvSpPr>
          <p:cNvPr id="277" name="Shape 275"/>
          <p:cNvSpPr/>
          <p:nvPr/>
        </p:nvSpPr>
        <p:spPr>
          <a:xfrm>
            <a:off x="3154680" y="5989320"/>
            <a:ext cx="182880" cy="182880"/>
          </a:xfrm>
          <a:prstGeom prst="roundRect">
            <a:avLst>
              <a:gd name="adj" fmla="val 15000"/>
            </a:avLst>
          </a:prstGeom>
          <a:solidFill>
            <a:srgbClr val="6BA55D"/>
          </a:solidFill>
          <a:ln w="12700">
            <a:solidFill>
              <a:srgbClr val="6BA55D"/>
            </a:solidFill>
            <a:prstDash val="solid"/>
          </a:ln>
        </p:spPr>
      </p:sp>
      <p:sp>
        <p:nvSpPr>
          <p:cNvPr id="278" name="Text 276"/>
          <p:cNvSpPr txBox="1"/>
          <p:nvPr/>
        </p:nvSpPr>
        <p:spPr>
          <a:xfrm>
            <a:off x="3401568" y="5943600"/>
            <a:ext cx="1280160" cy="274320"/>
          </a:xfrm>
          <a:prstGeom prst="rect">
            <a:avLst/>
          </a:prstGeom>
          <a:noFill/>
          <a:ln/>
        </p:spPr>
        <p:txBody>
          <a:bodyPr wrap="square" lIns="0" tIns="0" rIns="0" bIns="0" rtlCol="0" anchor="ctr"/>
          <a:lstStyle/>
          <a:p>
            <a:pPr indent="0" marL="0">
              <a:buNone/>
            </a:pPr>
            <a:r>
              <a:rPr lang="en-US" sz="1050" dirty="0">
                <a:solidFill>
                  <a:srgbClr val="1F2933"/>
                </a:solidFill>
                <a:latin typeface="Calibri" pitchFamily="34" charset="0"/>
                <a:ea typeface="Calibri" pitchFamily="34" charset="-122"/>
                <a:cs typeface="Calibri" pitchFamily="34" charset="-120"/>
              </a:rPr>
              <a:t>Acquisition / Dev</a:t>
            </a:r>
            <a:endParaRPr lang="en-US" sz="1050" dirty="0"/>
          </a:p>
        </p:txBody>
      </p:sp>
      <p:sp>
        <p:nvSpPr>
          <p:cNvPr id="279" name="Shape 277"/>
          <p:cNvSpPr/>
          <p:nvPr/>
        </p:nvSpPr>
        <p:spPr>
          <a:xfrm>
            <a:off x="4572000" y="5989320"/>
            <a:ext cx="182880" cy="182880"/>
          </a:xfrm>
          <a:prstGeom prst="roundRect">
            <a:avLst>
              <a:gd name="adj" fmla="val 15000"/>
            </a:avLst>
          </a:prstGeom>
          <a:solidFill>
            <a:srgbClr val="A9D08E"/>
          </a:solidFill>
          <a:ln w="12700">
            <a:solidFill>
              <a:srgbClr val="A9D08E"/>
            </a:solidFill>
            <a:prstDash val="solid"/>
          </a:ln>
        </p:spPr>
      </p:sp>
      <p:sp>
        <p:nvSpPr>
          <p:cNvPr id="280" name="Text 278"/>
          <p:cNvSpPr txBox="1"/>
          <p:nvPr/>
        </p:nvSpPr>
        <p:spPr>
          <a:xfrm>
            <a:off x="4818888" y="5943600"/>
            <a:ext cx="1280160" cy="274320"/>
          </a:xfrm>
          <a:prstGeom prst="rect">
            <a:avLst/>
          </a:prstGeom>
          <a:noFill/>
          <a:ln/>
        </p:spPr>
        <p:txBody>
          <a:bodyPr wrap="square" lIns="0" tIns="0" rIns="0" bIns="0" rtlCol="0" anchor="ctr"/>
          <a:lstStyle/>
          <a:p>
            <a:pPr indent="0" marL="0">
              <a:buNone/>
            </a:pPr>
            <a:r>
              <a:rPr lang="en-US" sz="1050" dirty="0">
                <a:solidFill>
                  <a:srgbClr val="1F2933"/>
                </a:solidFill>
                <a:latin typeface="Calibri" pitchFamily="34" charset="0"/>
                <a:ea typeface="Calibri" pitchFamily="34" charset="-122"/>
                <a:cs typeface="Calibri" pitchFamily="34" charset="-120"/>
              </a:rPr>
              <a:t>Concept</a:t>
            </a:r>
            <a:endParaRPr lang="en-US" sz="1050" dirty="0"/>
          </a:p>
        </p:txBody>
      </p:sp>
      <p:sp>
        <p:nvSpPr>
          <p:cNvPr id="281" name="Text 279"/>
          <p:cNvSpPr txBox="1"/>
          <p:nvPr/>
        </p:nvSpPr>
        <p:spPr>
          <a:xfrm>
            <a:off x="5623560" y="5943600"/>
            <a:ext cx="4480560" cy="27432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S Spring Boot · B Batch · U UI · L Library · A Automation · M Misc · blank = no type</a:t>
            </a:r>
            <a:endParaRPr lang="en-US" sz="1000" dirty="0"/>
          </a:p>
        </p:txBody>
      </p:sp>
      <p:sp>
        <p:nvSpPr>
          <p:cNvPr id="282" name="Shape 280"/>
          <p:cNvSpPr/>
          <p:nvPr/>
        </p:nvSpPr>
        <p:spPr>
          <a:xfrm>
            <a:off x="10134295" y="6007608"/>
            <a:ext cx="146304" cy="146304"/>
          </a:xfrm>
          <a:prstGeom prst="ellipse">
            <a:avLst/>
          </a:prstGeom>
          <a:solidFill>
            <a:srgbClr val="E0A31A"/>
          </a:solidFill>
          <a:ln w="12700">
            <a:solidFill>
              <a:srgbClr val="E0A31A"/>
            </a:solidFill>
            <a:prstDash val="solid"/>
          </a:ln>
        </p:spPr>
      </p:sp>
      <p:sp>
        <p:nvSpPr>
          <p:cNvPr id="283" name="Text 281"/>
          <p:cNvSpPr txBox="1"/>
          <p:nvPr/>
        </p:nvSpPr>
        <p:spPr>
          <a:xfrm>
            <a:off x="10344607" y="5943600"/>
            <a:ext cx="1188720" cy="274320"/>
          </a:xfrm>
          <a:prstGeom prst="rect">
            <a:avLst/>
          </a:prstGeom>
          <a:noFill/>
          <a:ln/>
        </p:spPr>
        <p:txBody>
          <a:bodyPr wrap="square" lIns="0" tIns="0" rIns="0" bIns="0" rtlCol="0" anchor="ctr"/>
          <a:lstStyle/>
          <a:p>
            <a:pPr indent="0" marL="0">
              <a:buNone/>
            </a:pPr>
            <a:r>
              <a:rPr lang="en-US" sz="1050" dirty="0">
                <a:solidFill>
                  <a:srgbClr val="1F2933"/>
                </a:solidFill>
                <a:latin typeface="Calibri" pitchFamily="34" charset="0"/>
                <a:ea typeface="Calibri" pitchFamily="34" charset="-122"/>
                <a:cs typeface="Calibri" pitchFamily="34" charset="-120"/>
              </a:rPr>
              <a:t>Approaching EOL</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548640"/>
          </a:xfrm>
          <a:prstGeom prst="rect">
            <a:avLst/>
          </a:prstGeom>
          <a:noFill/>
          <a:ln/>
        </p:spPr>
        <p:txBody>
          <a:bodyPr wrap="square" lIns="0" tIns="0" rIns="0" bIns="0" rtlCol="0" anchor="ctr"/>
          <a:lstStyle/>
          <a:p>
            <a:pPr indent="0" marL="0">
              <a:buNone/>
            </a:pPr>
            <a:r>
              <a:rPr lang="en-US" sz="2800" b="1" dirty="0">
                <a:solidFill>
                  <a:srgbClr val="12402A"/>
                </a:solidFill>
                <a:latin typeface="Calibri" pitchFamily="34" charset="0"/>
                <a:ea typeface="Calibri" pitchFamily="34" charset="-122"/>
                <a:cs typeface="Calibri" pitchFamily="34" charset="-120"/>
              </a:rPr>
              <a:t>Visibility gaps, not vulnerabilities, drive most red flags</a:t>
            </a:r>
            <a:endParaRPr lang="en-US" sz="2800" dirty="0"/>
          </a:p>
        </p:txBody>
      </p:sp>
      <p:sp>
        <p:nvSpPr>
          <p:cNvPr id="3" name="Text 1"/>
          <p:cNvSpPr txBox="1"/>
          <p:nvPr/>
        </p:nvSpPr>
        <p:spPr>
          <a:xfrm>
            <a:off x="548640" y="868680"/>
            <a:ext cx="11094415" cy="320040"/>
          </a:xfrm>
          <a:prstGeom prst="rect">
            <a:avLst/>
          </a:prstGeom>
          <a:noFill/>
          <a:ln/>
        </p:spPr>
        <p:txBody>
          <a:bodyPr wrap="square" lIns="0" tIns="0" rIns="0" bIns="0" rtlCol="0" anchor="ctr"/>
          <a:lstStyle/>
          <a:p>
            <a:pPr indent="0" marL="0">
              <a:buNone/>
            </a:pPr>
            <a:r>
              <a:rPr lang="en-US" sz="1300" dirty="0">
                <a:solidFill>
                  <a:srgbClr val="5B6670"/>
                </a:solidFill>
                <a:latin typeface="Calibri" pitchFamily="34" charset="0"/>
                <a:ea typeface="Calibri" pitchFamily="34" charset="-122"/>
                <a:cs typeface="Calibri" pitchFamily="34" charset="-120"/>
              </a:rPr>
              <a:t>Portfolio health across five dimensions — overall, then by development manager</a:t>
            </a:r>
            <a:endParaRPr lang="en-US" sz="1300" dirty="0"/>
          </a:p>
        </p:txBody>
      </p:sp>
      <p:sp>
        <p:nvSpPr>
          <p:cNvPr id="4" name="Text 2"/>
          <p:cNvSpPr txBox="1"/>
          <p:nvPr/>
        </p:nvSpPr>
        <p:spPr>
          <a:xfrm>
            <a:off x="7040880" y="6473952"/>
            <a:ext cx="4599432" cy="22860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SAMPLE DATA — illustrative  ·  App Inventory, Sep 2026  ·  2</a:t>
            </a:r>
            <a:endParaRPr lang="en-US" sz="900" dirty="0"/>
          </a:p>
        </p:txBody>
      </p:sp>
      <p:sp>
        <p:nvSpPr>
          <p:cNvPr id="5" name="Shape 3"/>
          <p:cNvSpPr/>
          <p:nvPr/>
        </p:nvSpPr>
        <p:spPr>
          <a:xfrm>
            <a:off x="548640" y="1325880"/>
            <a:ext cx="2036003" cy="1417320"/>
          </a:xfrm>
          <a:prstGeom prst="roundRect">
            <a:avLst>
              <a:gd name="adj" fmla="val 6452"/>
            </a:avLst>
          </a:prstGeom>
          <a:solidFill>
            <a:srgbClr val="F1F7EE"/>
          </a:solidFill>
          <a:ln w="12700">
            <a:solidFill>
              <a:srgbClr val="F1F7EE"/>
            </a:solidFill>
            <a:prstDash val="solid"/>
          </a:ln>
        </p:spPr>
      </p:sp>
      <p:pic>
        <p:nvPicPr>
          <p:cNvPr id="6" name="Image 0" descr="preencoded.png">    </p:cNvPr>
          <p:cNvPicPr>
            <a:picLocks noChangeAspect="1"/>
          </p:cNvPicPr>
          <p:nvPr/>
        </p:nvPicPr>
        <p:blipFill>
          <a:blip r:embed="rId1"/>
          <a:stretch>
            <a:fillRect/>
          </a:stretch>
        </p:blipFill>
        <p:spPr>
          <a:xfrm>
            <a:off x="731520" y="1481328"/>
            <a:ext cx="237744" cy="237744"/>
          </a:xfrm>
          <a:prstGeom prst="rect">
            <a:avLst/>
          </a:prstGeom>
        </p:spPr>
      </p:pic>
      <p:sp>
        <p:nvSpPr>
          <p:cNvPr id="7" name="Text 4"/>
          <p:cNvSpPr txBox="1"/>
          <p:nvPr/>
        </p:nvSpPr>
        <p:spPr>
          <a:xfrm>
            <a:off x="1042416" y="1444752"/>
            <a:ext cx="1441643" cy="310896"/>
          </a:xfrm>
          <a:prstGeom prst="rect">
            <a:avLst/>
          </a:prstGeom>
          <a:noFill/>
          <a:ln/>
        </p:spPr>
        <p:txBody>
          <a:bodyPr wrap="square" lIns="0" tIns="0" rIns="0" bIns="0" rtlCol="0" anchor="ctr"/>
          <a:lstStyle/>
          <a:p>
            <a:pPr indent="0" marL="0">
              <a:buNone/>
            </a:pPr>
            <a:r>
              <a:rPr lang="en-US" sz="1400" b="1" dirty="0">
                <a:solidFill>
                  <a:srgbClr val="12402A"/>
                </a:solidFill>
                <a:latin typeface="Calibri" pitchFamily="34" charset="0"/>
                <a:ea typeface="Calibri" pitchFamily="34" charset="-122"/>
                <a:cs typeface="Calibri" pitchFamily="34" charset="-120"/>
              </a:rPr>
              <a:t>Lifecycle</a:t>
            </a:r>
            <a:endParaRPr lang="en-US" sz="1400" dirty="0"/>
          </a:p>
        </p:txBody>
      </p:sp>
      <p:graphicFrame>
        <p:nvGraphicFramePr>
          <p:cNvPr id="8" name="Chart 0" descr=""/>
          <p:cNvGraphicFramePr/>
          <p:nvPr/>
        </p:nvGraphicFramePr>
        <p:xfrm>
          <a:off x="713232" y="1801368"/>
          <a:ext cx="841248" cy="841248"/>
        </p:xfrm>
        <a:graphic xmlns:a="http://schemas.openxmlformats.org/drawingml/2006/main">
          <a:graphicData uri="http://schemas.openxmlformats.org/drawingml/2006/chart">
            <c:chart xmlns:c="http://schemas.openxmlformats.org/drawingml/2006/chart" r:id="rId2"/>
          </a:graphicData>
        </a:graphic>
      </p:graphicFrame>
      <p:sp>
        <p:nvSpPr>
          <p:cNvPr id="9" name="Text 5"/>
          <p:cNvSpPr txBox="1"/>
          <p:nvPr/>
        </p:nvSpPr>
        <p:spPr>
          <a:xfrm>
            <a:off x="713232" y="1801368"/>
            <a:ext cx="841248" cy="841248"/>
          </a:xfrm>
          <a:prstGeom prst="rect">
            <a:avLst/>
          </a:prstGeom>
          <a:noFill/>
          <a:ln/>
        </p:spPr>
        <p:txBody>
          <a:bodyPr wrap="square" lIns="0" tIns="0" rIns="0" bIns="0" rtlCol="0" anchor="ctr"/>
          <a:lstStyle/>
          <a:p>
            <a:pPr algn="ctr" indent="0" marL="0">
              <a:buNone/>
            </a:pPr>
            <a:r>
              <a:rPr lang="en-US" sz="1400" b="1" dirty="0">
                <a:solidFill>
                  <a:srgbClr val="12402A"/>
                </a:solidFill>
                <a:latin typeface="Calibri" pitchFamily="34" charset="0"/>
                <a:ea typeface="Calibri" pitchFamily="34" charset="-122"/>
                <a:cs typeface="Calibri" pitchFamily="34" charset="-120"/>
              </a:rPr>
              <a:t>75%</a:t>
            </a:r>
            <a:endParaRPr lang="en-US" sz="1400" dirty="0"/>
          </a:p>
        </p:txBody>
      </p:sp>
      <p:sp>
        <p:nvSpPr>
          <p:cNvPr id="10" name="Text 6"/>
          <p:cNvSpPr txBox="1"/>
          <p:nvPr/>
        </p:nvSpPr>
        <p:spPr>
          <a:xfrm>
            <a:off x="1664208" y="1911096"/>
            <a:ext cx="847283" cy="640080"/>
          </a:xfrm>
          <a:prstGeom prst="rect">
            <a:avLst/>
          </a:prstGeom>
          <a:noFill/>
          <a:ln/>
        </p:spPr>
        <p:txBody>
          <a:bodyPr wrap="square" lIns="0" tIns="0" rIns="0" bIns="0" rtlCol="0" anchor="ctr"/>
          <a:lstStyle/>
          <a:p>
            <a:pPr indent="0" marL="0">
              <a:buNone/>
            </a:pPr>
            <a:r>
              <a:rPr lang="en-US" sz="1200" dirty="0">
                <a:solidFill>
                  <a:srgbClr val="5B6670"/>
                </a:solidFill>
                <a:latin typeface="Calibri" pitchFamily="34" charset="0"/>
                <a:ea typeface="Calibri" pitchFamily="34" charset="-122"/>
                <a:cs typeface="Calibri" pitchFamily="34" charset="-120"/>
              </a:rPr>
              <a:t>apps not near EOL</a:t>
            </a:r>
            <a:endParaRPr lang="en-US" sz="1200" dirty="0"/>
          </a:p>
        </p:txBody>
      </p:sp>
      <p:sp>
        <p:nvSpPr>
          <p:cNvPr id="11" name="Shape 7"/>
          <p:cNvSpPr/>
          <p:nvPr/>
        </p:nvSpPr>
        <p:spPr>
          <a:xfrm>
            <a:off x="2813243" y="1325880"/>
            <a:ext cx="2036003" cy="1417320"/>
          </a:xfrm>
          <a:prstGeom prst="roundRect">
            <a:avLst>
              <a:gd name="adj" fmla="val 6452"/>
            </a:avLst>
          </a:prstGeom>
          <a:solidFill>
            <a:srgbClr val="F1F7EE"/>
          </a:solidFill>
          <a:ln w="12700">
            <a:solidFill>
              <a:srgbClr val="F1F7EE"/>
            </a:solidFill>
            <a:prstDash val="solid"/>
          </a:ln>
        </p:spPr>
      </p:sp>
      <p:pic>
        <p:nvPicPr>
          <p:cNvPr id="12" name="Image 1" descr="preencoded.png">    </p:cNvPr>
          <p:cNvPicPr>
            <a:picLocks noChangeAspect="1"/>
          </p:cNvPicPr>
          <p:nvPr/>
        </p:nvPicPr>
        <p:blipFill>
          <a:blip r:embed="rId3"/>
          <a:stretch>
            <a:fillRect/>
          </a:stretch>
        </p:blipFill>
        <p:spPr>
          <a:xfrm>
            <a:off x="2996123" y="1481328"/>
            <a:ext cx="237744" cy="237744"/>
          </a:xfrm>
          <a:prstGeom prst="rect">
            <a:avLst/>
          </a:prstGeom>
        </p:spPr>
      </p:pic>
      <p:sp>
        <p:nvSpPr>
          <p:cNvPr id="13" name="Text 8"/>
          <p:cNvSpPr txBox="1"/>
          <p:nvPr/>
        </p:nvSpPr>
        <p:spPr>
          <a:xfrm>
            <a:off x="3307019" y="1444752"/>
            <a:ext cx="1441643" cy="310896"/>
          </a:xfrm>
          <a:prstGeom prst="rect">
            <a:avLst/>
          </a:prstGeom>
          <a:noFill/>
          <a:ln/>
        </p:spPr>
        <p:txBody>
          <a:bodyPr wrap="square" lIns="0" tIns="0" rIns="0" bIns="0" rtlCol="0" anchor="ctr"/>
          <a:lstStyle/>
          <a:p>
            <a:pPr indent="0" marL="0">
              <a:buNone/>
            </a:pPr>
            <a:r>
              <a:rPr lang="en-US" sz="1400" b="1" dirty="0">
                <a:solidFill>
                  <a:srgbClr val="12402A"/>
                </a:solidFill>
                <a:latin typeface="Calibri" pitchFamily="34" charset="0"/>
                <a:ea typeface="Calibri" pitchFamily="34" charset="-122"/>
                <a:cs typeface="Calibri" pitchFamily="34" charset="-120"/>
              </a:rPr>
              <a:t>Security</a:t>
            </a:r>
            <a:endParaRPr lang="en-US" sz="1400" dirty="0"/>
          </a:p>
        </p:txBody>
      </p:sp>
      <p:sp>
        <p:nvSpPr>
          <p:cNvPr id="14" name="Shape 9"/>
          <p:cNvSpPr/>
          <p:nvPr/>
        </p:nvSpPr>
        <p:spPr>
          <a:xfrm>
            <a:off x="3050987" y="1874520"/>
            <a:ext cx="694944" cy="694944"/>
          </a:xfrm>
          <a:prstGeom prst="ellipse">
            <a:avLst/>
          </a:prstGeom>
          <a:solidFill>
            <a:srgbClr val="368727"/>
          </a:solidFill>
          <a:ln w="12700">
            <a:solidFill>
              <a:srgbClr val="368727"/>
            </a:solidFill>
            <a:prstDash val="solid"/>
          </a:ln>
        </p:spPr>
      </p:sp>
      <p:sp>
        <p:nvSpPr>
          <p:cNvPr id="15" name="Text 10"/>
          <p:cNvSpPr txBox="1"/>
          <p:nvPr/>
        </p:nvSpPr>
        <p:spPr>
          <a:xfrm>
            <a:off x="2977835" y="1801368"/>
            <a:ext cx="841248" cy="84124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0</a:t>
            </a:r>
            <a:endParaRPr lang="en-US" sz="2200" dirty="0"/>
          </a:p>
        </p:txBody>
      </p:sp>
      <p:sp>
        <p:nvSpPr>
          <p:cNvPr id="16" name="Text 11"/>
          <p:cNvSpPr txBox="1"/>
          <p:nvPr/>
        </p:nvSpPr>
        <p:spPr>
          <a:xfrm>
            <a:off x="3928811" y="1911096"/>
            <a:ext cx="847283" cy="640080"/>
          </a:xfrm>
          <a:prstGeom prst="rect">
            <a:avLst/>
          </a:prstGeom>
          <a:noFill/>
          <a:ln/>
        </p:spPr>
        <p:txBody>
          <a:bodyPr wrap="square" lIns="0" tIns="0" rIns="0" bIns="0" rtlCol="0" anchor="ctr"/>
          <a:lstStyle/>
          <a:p>
            <a:pPr indent="0" marL="0">
              <a:buNone/>
            </a:pPr>
            <a:r>
              <a:rPr lang="en-US" sz="1200" dirty="0">
                <a:solidFill>
                  <a:srgbClr val="5B6670"/>
                </a:solidFill>
                <a:latin typeface="Calibri" pitchFamily="34" charset="0"/>
                <a:ea typeface="Calibri" pitchFamily="34" charset="-122"/>
                <a:cs typeface="Calibri" pitchFamily="34" charset="-120"/>
              </a:rPr>
              <a:t>critical findings open</a:t>
            </a:r>
            <a:endParaRPr lang="en-US" sz="1200" dirty="0"/>
          </a:p>
        </p:txBody>
      </p:sp>
      <p:sp>
        <p:nvSpPr>
          <p:cNvPr id="17" name="Shape 12"/>
          <p:cNvSpPr/>
          <p:nvPr/>
        </p:nvSpPr>
        <p:spPr>
          <a:xfrm>
            <a:off x="5077846" y="1325880"/>
            <a:ext cx="2036003" cy="1417320"/>
          </a:xfrm>
          <a:prstGeom prst="roundRect">
            <a:avLst>
              <a:gd name="adj" fmla="val 6452"/>
            </a:avLst>
          </a:prstGeom>
          <a:solidFill>
            <a:srgbClr val="F1F7EE"/>
          </a:solidFill>
          <a:ln w="12700">
            <a:solidFill>
              <a:srgbClr val="F1F7EE"/>
            </a:solidFill>
            <a:prstDash val="solid"/>
          </a:ln>
        </p:spPr>
      </p:sp>
      <p:pic>
        <p:nvPicPr>
          <p:cNvPr id="18" name="Image 2" descr="preencoded.png">    </p:cNvPr>
          <p:cNvPicPr>
            <a:picLocks noChangeAspect="1"/>
          </p:cNvPicPr>
          <p:nvPr/>
        </p:nvPicPr>
        <p:blipFill>
          <a:blip r:embed="rId4"/>
          <a:stretch>
            <a:fillRect/>
          </a:stretch>
        </p:blipFill>
        <p:spPr>
          <a:xfrm>
            <a:off x="5260726" y="1481328"/>
            <a:ext cx="237744" cy="237744"/>
          </a:xfrm>
          <a:prstGeom prst="rect">
            <a:avLst/>
          </a:prstGeom>
        </p:spPr>
      </p:pic>
      <p:sp>
        <p:nvSpPr>
          <p:cNvPr id="19" name="Text 13"/>
          <p:cNvSpPr txBox="1"/>
          <p:nvPr/>
        </p:nvSpPr>
        <p:spPr>
          <a:xfrm>
            <a:off x="5571622" y="1444752"/>
            <a:ext cx="1441643" cy="310896"/>
          </a:xfrm>
          <a:prstGeom prst="rect">
            <a:avLst/>
          </a:prstGeom>
          <a:noFill/>
          <a:ln/>
        </p:spPr>
        <p:txBody>
          <a:bodyPr wrap="square" lIns="0" tIns="0" rIns="0" bIns="0" rtlCol="0" anchor="ctr"/>
          <a:lstStyle/>
          <a:p>
            <a:pPr indent="0" marL="0">
              <a:buNone/>
            </a:pPr>
            <a:r>
              <a:rPr lang="en-US" sz="1400" b="1" dirty="0">
                <a:solidFill>
                  <a:srgbClr val="12402A"/>
                </a:solidFill>
                <a:latin typeface="Calibri" pitchFamily="34" charset="0"/>
                <a:ea typeface="Calibri" pitchFamily="34" charset="-122"/>
                <a:cs typeface="Calibri" pitchFamily="34" charset="-120"/>
              </a:rPr>
              <a:t>Visibility</a:t>
            </a:r>
            <a:endParaRPr lang="en-US" sz="1400" dirty="0"/>
          </a:p>
        </p:txBody>
      </p:sp>
      <p:graphicFrame>
        <p:nvGraphicFramePr>
          <p:cNvPr id="20" name="Chart 1" descr=""/>
          <p:cNvGraphicFramePr/>
          <p:nvPr/>
        </p:nvGraphicFramePr>
        <p:xfrm>
          <a:off x="5242438" y="1801368"/>
          <a:ext cx="841248" cy="841248"/>
        </p:xfrm>
        <a:graphic xmlns:a="http://schemas.openxmlformats.org/drawingml/2006/main">
          <a:graphicData uri="http://schemas.openxmlformats.org/drawingml/2006/chart">
            <c:chart xmlns:c="http://schemas.openxmlformats.org/drawingml/2006/chart" r:id="rId5"/>
          </a:graphicData>
        </a:graphic>
      </p:graphicFrame>
      <p:sp>
        <p:nvSpPr>
          <p:cNvPr id="21" name="Text 14"/>
          <p:cNvSpPr txBox="1"/>
          <p:nvPr/>
        </p:nvSpPr>
        <p:spPr>
          <a:xfrm>
            <a:off x="5242438" y="1801368"/>
            <a:ext cx="841248" cy="841248"/>
          </a:xfrm>
          <a:prstGeom prst="rect">
            <a:avLst/>
          </a:prstGeom>
          <a:noFill/>
          <a:ln/>
        </p:spPr>
        <p:txBody>
          <a:bodyPr wrap="square" lIns="0" tIns="0" rIns="0" bIns="0" rtlCol="0" anchor="ctr"/>
          <a:lstStyle/>
          <a:p>
            <a:pPr algn="ctr" indent="0" marL="0">
              <a:buNone/>
            </a:pPr>
            <a:r>
              <a:rPr lang="en-US" sz="1400" b="1" dirty="0">
                <a:solidFill>
                  <a:srgbClr val="12402A"/>
                </a:solidFill>
                <a:latin typeface="Calibri" pitchFamily="34" charset="0"/>
                <a:ea typeface="Calibri" pitchFamily="34" charset="-122"/>
                <a:cs typeface="Calibri" pitchFamily="34" charset="-120"/>
              </a:rPr>
              <a:t>41%</a:t>
            </a:r>
            <a:endParaRPr lang="en-US" sz="1400" dirty="0"/>
          </a:p>
        </p:txBody>
      </p:sp>
      <p:sp>
        <p:nvSpPr>
          <p:cNvPr id="22" name="Text 15"/>
          <p:cNvSpPr txBox="1"/>
          <p:nvPr/>
        </p:nvSpPr>
        <p:spPr>
          <a:xfrm>
            <a:off x="6193414" y="1911096"/>
            <a:ext cx="847283" cy="640080"/>
          </a:xfrm>
          <a:prstGeom prst="rect">
            <a:avLst/>
          </a:prstGeom>
          <a:noFill/>
          <a:ln/>
        </p:spPr>
        <p:txBody>
          <a:bodyPr wrap="square" lIns="0" tIns="0" rIns="0" bIns="0" rtlCol="0" anchor="ctr"/>
          <a:lstStyle/>
          <a:p>
            <a:pPr indent="0" marL="0">
              <a:buNone/>
            </a:pPr>
            <a:r>
              <a:rPr lang="en-US" sz="1200" dirty="0">
                <a:solidFill>
                  <a:srgbClr val="5B6670"/>
                </a:solidFill>
                <a:latin typeface="Calibri" pitchFamily="34" charset="0"/>
                <a:ea typeface="Calibri" pitchFamily="34" charset="-122"/>
                <a:cs typeface="Calibri" pitchFamily="34" charset="-120"/>
              </a:rPr>
              <a:t>apps in Sonar</a:t>
            </a:r>
            <a:endParaRPr lang="en-US" sz="1200" dirty="0"/>
          </a:p>
        </p:txBody>
      </p:sp>
      <p:sp>
        <p:nvSpPr>
          <p:cNvPr id="23" name="Shape 16"/>
          <p:cNvSpPr/>
          <p:nvPr/>
        </p:nvSpPr>
        <p:spPr>
          <a:xfrm>
            <a:off x="7342449" y="1325880"/>
            <a:ext cx="2036003" cy="1417320"/>
          </a:xfrm>
          <a:prstGeom prst="roundRect">
            <a:avLst>
              <a:gd name="adj" fmla="val 6452"/>
            </a:avLst>
          </a:prstGeom>
          <a:solidFill>
            <a:srgbClr val="F1F7EE"/>
          </a:solidFill>
          <a:ln w="12700">
            <a:solidFill>
              <a:srgbClr val="F1F7EE"/>
            </a:solidFill>
            <a:prstDash val="solid"/>
          </a:ln>
        </p:spPr>
      </p:sp>
      <p:pic>
        <p:nvPicPr>
          <p:cNvPr id="24" name="Image 3" descr="preencoded.png">    </p:cNvPr>
          <p:cNvPicPr>
            <a:picLocks noChangeAspect="1"/>
          </p:cNvPicPr>
          <p:nvPr/>
        </p:nvPicPr>
        <p:blipFill>
          <a:blip r:embed="rId6"/>
          <a:stretch>
            <a:fillRect/>
          </a:stretch>
        </p:blipFill>
        <p:spPr>
          <a:xfrm>
            <a:off x="7525329" y="1481328"/>
            <a:ext cx="237744" cy="237744"/>
          </a:xfrm>
          <a:prstGeom prst="rect">
            <a:avLst/>
          </a:prstGeom>
        </p:spPr>
      </p:pic>
      <p:sp>
        <p:nvSpPr>
          <p:cNvPr id="25" name="Text 17"/>
          <p:cNvSpPr txBox="1"/>
          <p:nvPr/>
        </p:nvSpPr>
        <p:spPr>
          <a:xfrm>
            <a:off x="7836225" y="1444752"/>
            <a:ext cx="1441643" cy="310896"/>
          </a:xfrm>
          <a:prstGeom prst="rect">
            <a:avLst/>
          </a:prstGeom>
          <a:noFill/>
          <a:ln/>
        </p:spPr>
        <p:txBody>
          <a:bodyPr wrap="square" lIns="0" tIns="0" rIns="0" bIns="0" rtlCol="0" anchor="ctr"/>
          <a:lstStyle/>
          <a:p>
            <a:pPr indent="0" marL="0">
              <a:buNone/>
            </a:pPr>
            <a:r>
              <a:rPr lang="en-US" sz="1400" b="1" dirty="0">
                <a:solidFill>
                  <a:srgbClr val="12402A"/>
                </a:solidFill>
                <a:latin typeface="Calibri" pitchFamily="34" charset="0"/>
                <a:ea typeface="Calibri" pitchFamily="34" charset="-122"/>
                <a:cs typeface="Calibri" pitchFamily="34" charset="-120"/>
              </a:rPr>
              <a:t>Automation</a:t>
            </a:r>
            <a:endParaRPr lang="en-US" sz="1400" dirty="0"/>
          </a:p>
        </p:txBody>
      </p:sp>
      <p:graphicFrame>
        <p:nvGraphicFramePr>
          <p:cNvPr id="26" name="Chart 2" descr=""/>
          <p:cNvGraphicFramePr/>
          <p:nvPr/>
        </p:nvGraphicFramePr>
        <p:xfrm>
          <a:off x="7507041" y="1801368"/>
          <a:ext cx="841248" cy="841248"/>
        </p:xfrm>
        <a:graphic xmlns:a="http://schemas.openxmlformats.org/drawingml/2006/main">
          <a:graphicData uri="http://schemas.openxmlformats.org/drawingml/2006/chart">
            <c:chart xmlns:c="http://schemas.openxmlformats.org/drawingml/2006/chart" r:id="rId7"/>
          </a:graphicData>
        </a:graphic>
      </p:graphicFrame>
      <p:sp>
        <p:nvSpPr>
          <p:cNvPr id="27" name="Text 18"/>
          <p:cNvSpPr txBox="1"/>
          <p:nvPr/>
        </p:nvSpPr>
        <p:spPr>
          <a:xfrm>
            <a:off x="7507041" y="1801368"/>
            <a:ext cx="841248" cy="841248"/>
          </a:xfrm>
          <a:prstGeom prst="rect">
            <a:avLst/>
          </a:prstGeom>
          <a:noFill/>
          <a:ln/>
        </p:spPr>
        <p:txBody>
          <a:bodyPr wrap="square" lIns="0" tIns="0" rIns="0" bIns="0" rtlCol="0" anchor="ctr"/>
          <a:lstStyle/>
          <a:p>
            <a:pPr algn="ctr" indent="0" marL="0">
              <a:buNone/>
            </a:pPr>
            <a:r>
              <a:rPr lang="en-US" sz="1400" b="1" dirty="0">
                <a:solidFill>
                  <a:srgbClr val="12402A"/>
                </a:solidFill>
                <a:latin typeface="Calibri" pitchFamily="34" charset="0"/>
                <a:ea typeface="Calibri" pitchFamily="34" charset="-122"/>
                <a:cs typeface="Calibri" pitchFamily="34" charset="-120"/>
              </a:rPr>
              <a:t>3%</a:t>
            </a:r>
            <a:endParaRPr lang="en-US" sz="1400" dirty="0"/>
          </a:p>
        </p:txBody>
      </p:sp>
      <p:sp>
        <p:nvSpPr>
          <p:cNvPr id="28" name="Text 19"/>
          <p:cNvSpPr txBox="1"/>
          <p:nvPr/>
        </p:nvSpPr>
        <p:spPr>
          <a:xfrm>
            <a:off x="8458017" y="1911096"/>
            <a:ext cx="847283" cy="640080"/>
          </a:xfrm>
          <a:prstGeom prst="rect">
            <a:avLst/>
          </a:prstGeom>
          <a:noFill/>
          <a:ln/>
        </p:spPr>
        <p:txBody>
          <a:bodyPr wrap="square" lIns="0" tIns="0" rIns="0" bIns="0" rtlCol="0" anchor="ctr"/>
          <a:lstStyle/>
          <a:p>
            <a:pPr indent="0" marL="0">
              <a:buNone/>
            </a:pPr>
            <a:r>
              <a:rPr lang="en-US" sz="1200" dirty="0">
                <a:solidFill>
                  <a:srgbClr val="5B6670"/>
                </a:solidFill>
                <a:latin typeface="Calibri" pitchFamily="34" charset="0"/>
                <a:ea typeface="Calibri" pitchFamily="34" charset="-122"/>
                <a:cs typeface="Calibri" pitchFamily="34" charset="-120"/>
              </a:rPr>
              <a:t>apps with good E2E</a:t>
            </a:r>
            <a:endParaRPr lang="en-US" sz="1200" dirty="0"/>
          </a:p>
        </p:txBody>
      </p:sp>
      <p:sp>
        <p:nvSpPr>
          <p:cNvPr id="29" name="Shape 20"/>
          <p:cNvSpPr/>
          <p:nvPr/>
        </p:nvSpPr>
        <p:spPr>
          <a:xfrm>
            <a:off x="9607052" y="1325880"/>
            <a:ext cx="2036003" cy="1417320"/>
          </a:xfrm>
          <a:prstGeom prst="roundRect">
            <a:avLst>
              <a:gd name="adj" fmla="val 6452"/>
            </a:avLst>
          </a:prstGeom>
          <a:solidFill>
            <a:srgbClr val="F1F7EE"/>
          </a:solidFill>
          <a:ln w="12700">
            <a:solidFill>
              <a:srgbClr val="F1F7EE"/>
            </a:solidFill>
            <a:prstDash val="solid"/>
          </a:ln>
        </p:spPr>
      </p:sp>
      <p:pic>
        <p:nvPicPr>
          <p:cNvPr id="30" name="Image 4" descr="preencoded.png">    </p:cNvPr>
          <p:cNvPicPr>
            <a:picLocks noChangeAspect="1"/>
          </p:cNvPicPr>
          <p:nvPr/>
        </p:nvPicPr>
        <p:blipFill>
          <a:blip r:embed="rId8"/>
          <a:stretch>
            <a:fillRect/>
          </a:stretch>
        </p:blipFill>
        <p:spPr>
          <a:xfrm>
            <a:off x="9789932" y="1481328"/>
            <a:ext cx="237744" cy="237744"/>
          </a:xfrm>
          <a:prstGeom prst="rect">
            <a:avLst/>
          </a:prstGeom>
        </p:spPr>
      </p:pic>
      <p:sp>
        <p:nvSpPr>
          <p:cNvPr id="31" name="Text 21"/>
          <p:cNvSpPr txBox="1"/>
          <p:nvPr/>
        </p:nvSpPr>
        <p:spPr>
          <a:xfrm>
            <a:off x="10100828" y="1444752"/>
            <a:ext cx="1441643" cy="310896"/>
          </a:xfrm>
          <a:prstGeom prst="rect">
            <a:avLst/>
          </a:prstGeom>
          <a:noFill/>
          <a:ln/>
        </p:spPr>
        <p:txBody>
          <a:bodyPr wrap="square" lIns="0" tIns="0" rIns="0" bIns="0" rtlCol="0" anchor="ctr"/>
          <a:lstStyle/>
          <a:p>
            <a:pPr indent="0" marL="0">
              <a:buNone/>
            </a:pPr>
            <a:r>
              <a:rPr lang="en-US" sz="1400" b="1" dirty="0">
                <a:solidFill>
                  <a:srgbClr val="12402A"/>
                </a:solidFill>
                <a:latin typeface="Calibri" pitchFamily="34" charset="0"/>
                <a:ea typeface="Calibri" pitchFamily="34" charset="-122"/>
                <a:cs typeface="Calibri" pitchFamily="34" charset="-120"/>
              </a:rPr>
              <a:t>Data quality</a:t>
            </a:r>
            <a:endParaRPr lang="en-US" sz="1400" dirty="0"/>
          </a:p>
        </p:txBody>
      </p:sp>
      <p:graphicFrame>
        <p:nvGraphicFramePr>
          <p:cNvPr id="32" name="Chart 3" descr=""/>
          <p:cNvGraphicFramePr/>
          <p:nvPr/>
        </p:nvGraphicFramePr>
        <p:xfrm>
          <a:off x="9771644" y="1801368"/>
          <a:ext cx="841248" cy="841248"/>
        </p:xfrm>
        <a:graphic xmlns:a="http://schemas.openxmlformats.org/drawingml/2006/main">
          <a:graphicData uri="http://schemas.openxmlformats.org/drawingml/2006/chart">
            <c:chart xmlns:c="http://schemas.openxmlformats.org/drawingml/2006/chart" r:id="rId9"/>
          </a:graphicData>
        </a:graphic>
      </p:graphicFrame>
      <p:sp>
        <p:nvSpPr>
          <p:cNvPr id="33" name="Text 22"/>
          <p:cNvSpPr txBox="1"/>
          <p:nvPr/>
        </p:nvSpPr>
        <p:spPr>
          <a:xfrm>
            <a:off x="9771644" y="1801368"/>
            <a:ext cx="841248" cy="841248"/>
          </a:xfrm>
          <a:prstGeom prst="rect">
            <a:avLst/>
          </a:prstGeom>
          <a:noFill/>
          <a:ln/>
        </p:spPr>
        <p:txBody>
          <a:bodyPr wrap="square" lIns="0" tIns="0" rIns="0" bIns="0" rtlCol="0" anchor="ctr"/>
          <a:lstStyle/>
          <a:p>
            <a:pPr algn="ctr" indent="0" marL="0">
              <a:buNone/>
            </a:pPr>
            <a:r>
              <a:rPr lang="en-US" sz="1400" b="1" dirty="0">
                <a:solidFill>
                  <a:srgbClr val="12402A"/>
                </a:solidFill>
                <a:latin typeface="Calibri" pitchFamily="34" charset="0"/>
                <a:ea typeface="Calibri" pitchFamily="34" charset="-122"/>
                <a:cs typeface="Calibri" pitchFamily="34" charset="-120"/>
              </a:rPr>
              <a:t>62%</a:t>
            </a:r>
            <a:endParaRPr lang="en-US" sz="1400" dirty="0"/>
          </a:p>
        </p:txBody>
      </p:sp>
      <p:sp>
        <p:nvSpPr>
          <p:cNvPr id="34" name="Text 23"/>
          <p:cNvSpPr txBox="1"/>
          <p:nvPr/>
        </p:nvSpPr>
        <p:spPr>
          <a:xfrm>
            <a:off x="10722620" y="1911096"/>
            <a:ext cx="847283" cy="640080"/>
          </a:xfrm>
          <a:prstGeom prst="rect">
            <a:avLst/>
          </a:prstGeom>
          <a:noFill/>
          <a:ln/>
        </p:spPr>
        <p:txBody>
          <a:bodyPr wrap="square" lIns="0" tIns="0" rIns="0" bIns="0" rtlCol="0" anchor="ctr"/>
          <a:lstStyle/>
          <a:p>
            <a:pPr indent="0" marL="0">
              <a:buNone/>
            </a:pPr>
            <a:r>
              <a:rPr lang="en-US" sz="1200" dirty="0">
                <a:solidFill>
                  <a:srgbClr val="5B6670"/>
                </a:solidFill>
                <a:latin typeface="Calibri" pitchFamily="34" charset="0"/>
                <a:ea typeface="Calibri" pitchFamily="34" charset="-122"/>
                <a:cs typeface="Calibri" pitchFamily="34" charset="-120"/>
              </a:rPr>
              <a:t>apps classified</a:t>
            </a:r>
            <a:endParaRPr lang="en-US" sz="1200" dirty="0"/>
          </a:p>
        </p:txBody>
      </p:sp>
      <p:sp>
        <p:nvSpPr>
          <p:cNvPr id="35" name="Text 24"/>
          <p:cNvSpPr txBox="1"/>
          <p:nvPr/>
        </p:nvSpPr>
        <p:spPr>
          <a:xfrm>
            <a:off x="658368" y="3017520"/>
            <a:ext cx="2148840" cy="365760"/>
          </a:xfrm>
          <a:prstGeom prst="rect">
            <a:avLst/>
          </a:prstGeom>
          <a:noFill/>
          <a:ln/>
        </p:spPr>
        <p:txBody>
          <a:bodyPr wrap="square" lIns="0" tIns="0" rIns="0" bIns="0" rtlCol="0" anchor="b"/>
          <a:lstStyle/>
          <a:p>
            <a:pPr algn="l" indent="0" marL="0">
              <a:buNone/>
            </a:pPr>
            <a:r>
              <a:rPr lang="en-US" sz="1100" b="1" dirty="0">
                <a:solidFill>
                  <a:srgbClr val="5B6670"/>
                </a:solidFill>
                <a:latin typeface="Calibri" pitchFamily="34" charset="0"/>
                <a:ea typeface="Calibri" pitchFamily="34" charset="-122"/>
                <a:cs typeface="Calibri" pitchFamily="34" charset="-120"/>
              </a:rPr>
              <a:t>Development manager</a:t>
            </a:r>
            <a:endParaRPr lang="en-US" sz="1100" dirty="0"/>
          </a:p>
        </p:txBody>
      </p:sp>
      <p:sp>
        <p:nvSpPr>
          <p:cNvPr id="36" name="Text 25"/>
          <p:cNvSpPr txBox="1"/>
          <p:nvPr/>
        </p:nvSpPr>
        <p:spPr>
          <a:xfrm>
            <a:off x="2697480" y="3017520"/>
            <a:ext cx="2514600" cy="365760"/>
          </a:xfrm>
          <a:prstGeom prst="rect">
            <a:avLst/>
          </a:prstGeom>
          <a:noFill/>
          <a:ln/>
        </p:spPr>
        <p:txBody>
          <a:bodyPr wrap="square" lIns="0" tIns="0" rIns="0" bIns="0" rtlCol="0" anchor="b"/>
          <a:lstStyle/>
          <a:p>
            <a:pPr algn="l" indent="0" marL="0">
              <a:buNone/>
            </a:pPr>
            <a:r>
              <a:rPr lang="en-US" sz="1100" b="1" dirty="0">
                <a:solidFill>
                  <a:srgbClr val="5B6670"/>
                </a:solidFill>
                <a:latin typeface="Calibri" pitchFamily="34" charset="0"/>
                <a:ea typeface="Calibri" pitchFamily="34" charset="-122"/>
                <a:cs typeface="Calibri" pitchFamily="34" charset="-120"/>
              </a:rPr>
              <a:t>App type mix</a:t>
            </a:r>
            <a:endParaRPr lang="en-US" sz="1100" dirty="0"/>
          </a:p>
        </p:txBody>
      </p:sp>
      <p:sp>
        <p:nvSpPr>
          <p:cNvPr id="37" name="Text 26"/>
          <p:cNvSpPr txBox="1"/>
          <p:nvPr/>
        </p:nvSpPr>
        <p:spPr>
          <a:xfrm>
            <a:off x="5440680" y="3017520"/>
            <a:ext cx="1078992" cy="365760"/>
          </a:xfrm>
          <a:prstGeom prst="rect">
            <a:avLst/>
          </a:prstGeom>
          <a:noFill/>
          <a:ln/>
        </p:spPr>
        <p:txBody>
          <a:bodyPr wrap="square" lIns="0" tIns="0" rIns="0" bIns="0" rtlCol="0" anchor="b"/>
          <a:lstStyle/>
          <a:p>
            <a:pPr algn="ctr" indent="0" marL="0">
              <a:buNone/>
            </a:pPr>
            <a:r>
              <a:rPr lang="en-US" sz="1100" b="1" dirty="0">
                <a:solidFill>
                  <a:srgbClr val="5B6670"/>
                </a:solidFill>
                <a:latin typeface="Calibri" pitchFamily="34" charset="0"/>
                <a:ea typeface="Calibri" pitchFamily="34" charset="-122"/>
                <a:cs typeface="Calibri" pitchFamily="34" charset="-120"/>
              </a:rPr>
              <a:t>Lifecycle</a:t>
            </a:r>
            <a:endParaRPr lang="en-US" sz="1100" dirty="0"/>
          </a:p>
        </p:txBody>
      </p:sp>
      <p:sp>
        <p:nvSpPr>
          <p:cNvPr id="38" name="Text 27"/>
          <p:cNvSpPr txBox="1"/>
          <p:nvPr/>
        </p:nvSpPr>
        <p:spPr>
          <a:xfrm>
            <a:off x="6519672" y="3017520"/>
            <a:ext cx="1078992" cy="365760"/>
          </a:xfrm>
          <a:prstGeom prst="rect">
            <a:avLst/>
          </a:prstGeom>
          <a:noFill/>
          <a:ln/>
        </p:spPr>
        <p:txBody>
          <a:bodyPr wrap="square" lIns="0" tIns="0" rIns="0" bIns="0" rtlCol="0" anchor="b"/>
          <a:lstStyle/>
          <a:p>
            <a:pPr algn="ctr" indent="0" marL="0">
              <a:buNone/>
            </a:pPr>
            <a:r>
              <a:rPr lang="en-US" sz="1100" b="1" dirty="0">
                <a:solidFill>
                  <a:srgbClr val="5B6670"/>
                </a:solidFill>
                <a:latin typeface="Calibri" pitchFamily="34" charset="0"/>
                <a:ea typeface="Calibri" pitchFamily="34" charset="-122"/>
                <a:cs typeface="Calibri" pitchFamily="34" charset="-120"/>
              </a:rPr>
              <a:t>Security</a:t>
            </a:r>
            <a:endParaRPr lang="en-US" sz="1100" dirty="0"/>
          </a:p>
        </p:txBody>
      </p:sp>
      <p:sp>
        <p:nvSpPr>
          <p:cNvPr id="39" name="Text 28"/>
          <p:cNvSpPr txBox="1"/>
          <p:nvPr/>
        </p:nvSpPr>
        <p:spPr>
          <a:xfrm>
            <a:off x="7598664" y="3017520"/>
            <a:ext cx="1078992" cy="365760"/>
          </a:xfrm>
          <a:prstGeom prst="rect">
            <a:avLst/>
          </a:prstGeom>
          <a:noFill/>
          <a:ln/>
        </p:spPr>
        <p:txBody>
          <a:bodyPr wrap="square" lIns="0" tIns="0" rIns="0" bIns="0" rtlCol="0" anchor="b"/>
          <a:lstStyle/>
          <a:p>
            <a:pPr algn="ctr" indent="0" marL="0">
              <a:buNone/>
            </a:pPr>
            <a:r>
              <a:rPr lang="en-US" sz="1100" b="1" dirty="0">
                <a:solidFill>
                  <a:srgbClr val="5B6670"/>
                </a:solidFill>
                <a:latin typeface="Calibri" pitchFamily="34" charset="0"/>
                <a:ea typeface="Calibri" pitchFamily="34" charset="-122"/>
                <a:cs typeface="Calibri" pitchFamily="34" charset="-120"/>
              </a:rPr>
              <a:t>Visibility</a:t>
            </a:r>
            <a:endParaRPr lang="en-US" sz="1100" dirty="0"/>
          </a:p>
        </p:txBody>
      </p:sp>
      <p:sp>
        <p:nvSpPr>
          <p:cNvPr id="40" name="Text 29"/>
          <p:cNvSpPr txBox="1"/>
          <p:nvPr/>
        </p:nvSpPr>
        <p:spPr>
          <a:xfrm>
            <a:off x="8677656" y="3017520"/>
            <a:ext cx="1078992" cy="365760"/>
          </a:xfrm>
          <a:prstGeom prst="rect">
            <a:avLst/>
          </a:prstGeom>
          <a:noFill/>
          <a:ln/>
        </p:spPr>
        <p:txBody>
          <a:bodyPr wrap="square" lIns="0" tIns="0" rIns="0" bIns="0" rtlCol="0" anchor="b"/>
          <a:lstStyle/>
          <a:p>
            <a:pPr algn="ctr" indent="0" marL="0">
              <a:buNone/>
            </a:pPr>
            <a:r>
              <a:rPr lang="en-US" sz="1100" b="1" dirty="0">
                <a:solidFill>
                  <a:srgbClr val="5B6670"/>
                </a:solidFill>
                <a:latin typeface="Calibri" pitchFamily="34" charset="0"/>
                <a:ea typeface="Calibri" pitchFamily="34" charset="-122"/>
                <a:cs typeface="Calibri" pitchFamily="34" charset="-120"/>
              </a:rPr>
              <a:t>Automation</a:t>
            </a:r>
            <a:endParaRPr lang="en-US" sz="1100" dirty="0"/>
          </a:p>
        </p:txBody>
      </p:sp>
      <p:sp>
        <p:nvSpPr>
          <p:cNvPr id="41" name="Text 30"/>
          <p:cNvSpPr txBox="1"/>
          <p:nvPr/>
        </p:nvSpPr>
        <p:spPr>
          <a:xfrm>
            <a:off x="9756648" y="3017520"/>
            <a:ext cx="1078992" cy="365760"/>
          </a:xfrm>
          <a:prstGeom prst="rect">
            <a:avLst/>
          </a:prstGeom>
          <a:noFill/>
          <a:ln/>
        </p:spPr>
        <p:txBody>
          <a:bodyPr wrap="square" lIns="0" tIns="0" rIns="0" bIns="0" rtlCol="0" anchor="b"/>
          <a:lstStyle/>
          <a:p>
            <a:pPr algn="ctr" indent="0" marL="0">
              <a:buNone/>
            </a:pPr>
            <a:r>
              <a:rPr lang="en-US" sz="1100" b="1" dirty="0">
                <a:solidFill>
                  <a:srgbClr val="5B6670"/>
                </a:solidFill>
                <a:latin typeface="Calibri" pitchFamily="34" charset="0"/>
                <a:ea typeface="Calibri" pitchFamily="34" charset="-122"/>
                <a:cs typeface="Calibri" pitchFamily="34" charset="-120"/>
              </a:rPr>
              <a:t>Data</a:t>
            </a:r>
            <a:endParaRPr lang="en-US" sz="1100" dirty="0"/>
          </a:p>
        </p:txBody>
      </p:sp>
      <p:sp>
        <p:nvSpPr>
          <p:cNvPr id="42" name="Text 31"/>
          <p:cNvSpPr txBox="1"/>
          <p:nvPr/>
        </p:nvSpPr>
        <p:spPr>
          <a:xfrm>
            <a:off x="10927080" y="3017520"/>
            <a:ext cx="715975" cy="365760"/>
          </a:xfrm>
          <a:prstGeom prst="rect">
            <a:avLst/>
          </a:prstGeom>
          <a:noFill/>
          <a:ln/>
        </p:spPr>
        <p:txBody>
          <a:bodyPr wrap="square" lIns="0" tIns="0" rIns="0" bIns="0" rtlCol="0" anchor="b"/>
          <a:lstStyle/>
          <a:p>
            <a:pPr algn="ctr" indent="0" marL="0">
              <a:buNone/>
            </a:pPr>
            <a:r>
              <a:rPr lang="en-US" sz="1100" b="1" dirty="0">
                <a:solidFill>
                  <a:srgbClr val="5B6670"/>
                </a:solidFill>
                <a:latin typeface="Calibri" pitchFamily="34" charset="0"/>
                <a:ea typeface="Calibri" pitchFamily="34" charset="-122"/>
                <a:cs typeface="Calibri" pitchFamily="34" charset="-120"/>
              </a:rPr>
              <a:t>Overall</a:t>
            </a:r>
            <a:endParaRPr lang="en-US" sz="1100" dirty="0"/>
          </a:p>
        </p:txBody>
      </p:sp>
      <p:sp>
        <p:nvSpPr>
          <p:cNvPr id="43" name="Shape 32"/>
          <p:cNvSpPr/>
          <p:nvPr/>
        </p:nvSpPr>
        <p:spPr>
          <a:xfrm>
            <a:off x="548640" y="3456432"/>
            <a:ext cx="11094415" cy="512064"/>
          </a:xfrm>
          <a:prstGeom prst="rect">
            <a:avLst/>
          </a:prstGeom>
          <a:solidFill>
            <a:srgbClr val="F1F7EE"/>
          </a:solidFill>
          <a:ln w="12700">
            <a:solidFill>
              <a:srgbClr val="F1F7EE"/>
            </a:solidFill>
            <a:prstDash val="solid"/>
          </a:ln>
        </p:spPr>
      </p:sp>
      <p:sp>
        <p:nvSpPr>
          <p:cNvPr id="44" name="Text 33"/>
          <p:cNvSpPr txBox="1"/>
          <p:nvPr/>
        </p:nvSpPr>
        <p:spPr>
          <a:xfrm>
            <a:off x="658368" y="3456432"/>
            <a:ext cx="2057400" cy="512064"/>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Siva Velusamy</a:t>
            </a:r>
            <a:endParaRPr lang="en-US" sz="1300" dirty="0"/>
          </a:p>
        </p:txBody>
      </p:sp>
      <p:sp>
        <p:nvSpPr>
          <p:cNvPr id="45" name="Shape 34"/>
          <p:cNvSpPr/>
          <p:nvPr/>
        </p:nvSpPr>
        <p:spPr>
          <a:xfrm>
            <a:off x="2697480" y="3611880"/>
            <a:ext cx="209550" cy="201168"/>
          </a:xfrm>
          <a:prstGeom prst="rect">
            <a:avLst/>
          </a:prstGeom>
          <a:solidFill>
            <a:srgbClr val="1E5B34"/>
          </a:solidFill>
          <a:ln w="9525">
            <a:solidFill>
              <a:srgbClr val="FFFFFF"/>
            </a:solidFill>
            <a:prstDash val="solid"/>
          </a:ln>
        </p:spPr>
      </p:sp>
      <p:sp>
        <p:nvSpPr>
          <p:cNvPr id="46" name="Shape 35"/>
          <p:cNvSpPr/>
          <p:nvPr/>
        </p:nvSpPr>
        <p:spPr>
          <a:xfrm>
            <a:off x="2907030" y="3611880"/>
            <a:ext cx="209550" cy="201168"/>
          </a:xfrm>
          <a:prstGeom prst="rect">
            <a:avLst/>
          </a:prstGeom>
          <a:solidFill>
            <a:srgbClr val="368727"/>
          </a:solidFill>
          <a:ln w="9525">
            <a:solidFill>
              <a:srgbClr val="FFFFFF"/>
            </a:solidFill>
            <a:prstDash val="solid"/>
          </a:ln>
        </p:spPr>
      </p:sp>
      <p:sp>
        <p:nvSpPr>
          <p:cNvPr id="47" name="Shape 36"/>
          <p:cNvSpPr/>
          <p:nvPr/>
        </p:nvSpPr>
        <p:spPr>
          <a:xfrm>
            <a:off x="3116580" y="3611880"/>
            <a:ext cx="838200" cy="201168"/>
          </a:xfrm>
          <a:prstGeom prst="rect">
            <a:avLst/>
          </a:prstGeom>
          <a:solidFill>
            <a:srgbClr val="A9D08E"/>
          </a:solidFill>
          <a:ln w="9525">
            <a:solidFill>
              <a:srgbClr val="FFFFFF"/>
            </a:solidFill>
            <a:prstDash val="solid"/>
          </a:ln>
        </p:spPr>
      </p:sp>
      <p:sp>
        <p:nvSpPr>
          <p:cNvPr id="48" name="Shape 37"/>
          <p:cNvSpPr/>
          <p:nvPr/>
        </p:nvSpPr>
        <p:spPr>
          <a:xfrm>
            <a:off x="3954780" y="3611880"/>
            <a:ext cx="628650" cy="201168"/>
          </a:xfrm>
          <a:prstGeom prst="rect">
            <a:avLst/>
          </a:prstGeom>
          <a:solidFill>
            <a:srgbClr val="4A6572"/>
          </a:solidFill>
          <a:ln w="9525">
            <a:solidFill>
              <a:srgbClr val="FFFFFF"/>
            </a:solidFill>
            <a:prstDash val="solid"/>
          </a:ln>
        </p:spPr>
      </p:sp>
      <p:sp>
        <p:nvSpPr>
          <p:cNvPr id="49" name="Shape 38"/>
          <p:cNvSpPr/>
          <p:nvPr/>
        </p:nvSpPr>
        <p:spPr>
          <a:xfrm>
            <a:off x="4583430" y="3611880"/>
            <a:ext cx="209550" cy="201168"/>
          </a:xfrm>
          <a:prstGeom prst="rect">
            <a:avLst/>
          </a:prstGeom>
          <a:solidFill>
            <a:srgbClr val="8FA3AD"/>
          </a:solidFill>
          <a:ln w="9525">
            <a:solidFill>
              <a:srgbClr val="FFFFFF"/>
            </a:solidFill>
            <a:prstDash val="solid"/>
          </a:ln>
        </p:spPr>
      </p:sp>
      <p:sp>
        <p:nvSpPr>
          <p:cNvPr id="50" name="Shape 39"/>
          <p:cNvSpPr/>
          <p:nvPr/>
        </p:nvSpPr>
        <p:spPr>
          <a:xfrm>
            <a:off x="4792980" y="3611880"/>
            <a:ext cx="419100" cy="201168"/>
          </a:xfrm>
          <a:prstGeom prst="rect">
            <a:avLst/>
          </a:prstGeom>
          <a:solidFill>
            <a:srgbClr val="D5D9DE"/>
          </a:solidFill>
          <a:ln w="9525">
            <a:solidFill>
              <a:srgbClr val="FFFFFF"/>
            </a:solidFill>
            <a:prstDash val="solid"/>
          </a:ln>
        </p:spPr>
      </p:sp>
      <p:sp>
        <p:nvSpPr>
          <p:cNvPr id="51" name="Shape 40"/>
          <p:cNvSpPr/>
          <p:nvPr/>
        </p:nvSpPr>
        <p:spPr>
          <a:xfrm>
            <a:off x="5623560" y="3593592"/>
            <a:ext cx="237744" cy="237744"/>
          </a:xfrm>
          <a:prstGeom prst="ellipse">
            <a:avLst/>
          </a:prstGeom>
          <a:solidFill>
            <a:srgbClr val="C0392B"/>
          </a:solidFill>
          <a:ln w="12700">
            <a:solidFill>
              <a:srgbClr val="C0392B"/>
            </a:solidFill>
            <a:prstDash val="solid"/>
          </a:ln>
        </p:spPr>
      </p:sp>
      <p:sp>
        <p:nvSpPr>
          <p:cNvPr id="52" name="Text 41"/>
          <p:cNvSpPr txBox="1"/>
          <p:nvPr/>
        </p:nvSpPr>
        <p:spPr>
          <a:xfrm>
            <a:off x="5916168" y="3456432"/>
            <a:ext cx="594360" cy="512064"/>
          </a:xfrm>
          <a:prstGeom prst="rect">
            <a:avLst/>
          </a:prstGeom>
          <a:noFill/>
          <a:ln/>
        </p:spPr>
        <p:txBody>
          <a:bodyPr wrap="square" lIns="0" tIns="0" rIns="0" bIns="0" rtlCol="0" anchor="ctr"/>
          <a:lstStyle/>
          <a:p>
            <a:pPr indent="0" marL="0">
              <a:buNone/>
            </a:pPr>
            <a:r>
              <a:rPr lang="en-US" sz="1200" b="1" dirty="0">
                <a:solidFill>
                  <a:srgbClr val="1F2933"/>
                </a:solidFill>
                <a:latin typeface="Calibri" pitchFamily="34" charset="0"/>
                <a:ea typeface="Calibri" pitchFamily="34" charset="-122"/>
                <a:cs typeface="Calibri" pitchFamily="34" charset="-120"/>
              </a:rPr>
              <a:t>42%</a:t>
            </a:r>
            <a:endParaRPr lang="en-US" sz="1200" dirty="0"/>
          </a:p>
        </p:txBody>
      </p:sp>
      <p:sp>
        <p:nvSpPr>
          <p:cNvPr id="53" name="Shape 42"/>
          <p:cNvSpPr/>
          <p:nvPr/>
        </p:nvSpPr>
        <p:spPr>
          <a:xfrm>
            <a:off x="6702552" y="3593592"/>
            <a:ext cx="237744" cy="237744"/>
          </a:xfrm>
          <a:prstGeom prst="ellipse">
            <a:avLst/>
          </a:prstGeom>
          <a:solidFill>
            <a:srgbClr val="C0392B"/>
          </a:solidFill>
          <a:ln w="12700">
            <a:solidFill>
              <a:srgbClr val="C0392B"/>
            </a:solidFill>
            <a:prstDash val="solid"/>
          </a:ln>
        </p:spPr>
      </p:sp>
      <p:sp>
        <p:nvSpPr>
          <p:cNvPr id="54" name="Text 43"/>
          <p:cNvSpPr txBox="1"/>
          <p:nvPr/>
        </p:nvSpPr>
        <p:spPr>
          <a:xfrm>
            <a:off x="6995160" y="3456432"/>
            <a:ext cx="594360" cy="512064"/>
          </a:xfrm>
          <a:prstGeom prst="rect">
            <a:avLst/>
          </a:prstGeom>
          <a:noFill/>
          <a:ln/>
        </p:spPr>
        <p:txBody>
          <a:bodyPr wrap="square" lIns="0" tIns="0" rIns="0" bIns="0" rtlCol="0" anchor="ctr"/>
          <a:lstStyle/>
          <a:p>
            <a:pPr indent="0" marL="0">
              <a:buNone/>
            </a:pPr>
            <a:r>
              <a:rPr lang="en-US" sz="1200" b="1" dirty="0">
                <a:solidFill>
                  <a:srgbClr val="1F2933"/>
                </a:solidFill>
                <a:latin typeface="Calibri" pitchFamily="34" charset="0"/>
                <a:ea typeface="Calibri" pitchFamily="34" charset="-122"/>
                <a:cs typeface="Calibri" pitchFamily="34" charset="-120"/>
              </a:rPr>
              <a:t>14.6</a:t>
            </a:r>
            <a:endParaRPr lang="en-US" sz="1200" dirty="0"/>
          </a:p>
        </p:txBody>
      </p:sp>
      <p:sp>
        <p:nvSpPr>
          <p:cNvPr id="55" name="Shape 44"/>
          <p:cNvSpPr/>
          <p:nvPr/>
        </p:nvSpPr>
        <p:spPr>
          <a:xfrm>
            <a:off x="7781544" y="3593592"/>
            <a:ext cx="237744" cy="237744"/>
          </a:xfrm>
          <a:prstGeom prst="ellipse">
            <a:avLst/>
          </a:prstGeom>
          <a:solidFill>
            <a:srgbClr val="E0A31A"/>
          </a:solidFill>
          <a:ln w="12700">
            <a:solidFill>
              <a:srgbClr val="E0A31A"/>
            </a:solidFill>
            <a:prstDash val="solid"/>
          </a:ln>
        </p:spPr>
      </p:sp>
      <p:sp>
        <p:nvSpPr>
          <p:cNvPr id="56" name="Text 45"/>
          <p:cNvSpPr txBox="1"/>
          <p:nvPr/>
        </p:nvSpPr>
        <p:spPr>
          <a:xfrm>
            <a:off x="8074152" y="3456432"/>
            <a:ext cx="594360" cy="512064"/>
          </a:xfrm>
          <a:prstGeom prst="rect">
            <a:avLst/>
          </a:prstGeom>
          <a:noFill/>
          <a:ln/>
        </p:spPr>
        <p:txBody>
          <a:bodyPr wrap="square" lIns="0" tIns="0" rIns="0" bIns="0" rtlCol="0" anchor="ctr"/>
          <a:lstStyle/>
          <a:p>
            <a:pPr indent="0" marL="0">
              <a:buNone/>
            </a:pPr>
            <a:r>
              <a:rPr lang="en-US" sz="1200" b="1" dirty="0">
                <a:solidFill>
                  <a:srgbClr val="1F2933"/>
                </a:solidFill>
                <a:latin typeface="Calibri" pitchFamily="34" charset="0"/>
                <a:ea typeface="Calibri" pitchFamily="34" charset="-122"/>
                <a:cs typeface="Calibri" pitchFamily="34" charset="-120"/>
              </a:rPr>
              <a:t>50%</a:t>
            </a:r>
            <a:endParaRPr lang="en-US" sz="1200" dirty="0"/>
          </a:p>
        </p:txBody>
      </p:sp>
      <p:sp>
        <p:nvSpPr>
          <p:cNvPr id="57" name="Shape 46"/>
          <p:cNvSpPr/>
          <p:nvPr/>
        </p:nvSpPr>
        <p:spPr>
          <a:xfrm>
            <a:off x="8860536" y="3593592"/>
            <a:ext cx="237744" cy="237744"/>
          </a:xfrm>
          <a:prstGeom prst="ellipse">
            <a:avLst/>
          </a:prstGeom>
          <a:solidFill>
            <a:srgbClr val="C0392B"/>
          </a:solidFill>
          <a:ln w="12700">
            <a:solidFill>
              <a:srgbClr val="C0392B"/>
            </a:solidFill>
            <a:prstDash val="solid"/>
          </a:ln>
        </p:spPr>
      </p:sp>
      <p:sp>
        <p:nvSpPr>
          <p:cNvPr id="58" name="Text 47"/>
          <p:cNvSpPr txBox="1"/>
          <p:nvPr/>
        </p:nvSpPr>
        <p:spPr>
          <a:xfrm>
            <a:off x="9153144" y="3456432"/>
            <a:ext cx="594360" cy="512064"/>
          </a:xfrm>
          <a:prstGeom prst="rect">
            <a:avLst/>
          </a:prstGeom>
          <a:noFill/>
          <a:ln/>
        </p:spPr>
        <p:txBody>
          <a:bodyPr wrap="square" lIns="0" tIns="0" rIns="0" bIns="0" rtlCol="0" anchor="ctr"/>
          <a:lstStyle/>
          <a:p>
            <a:pPr indent="0" marL="0">
              <a:buNone/>
            </a:pPr>
            <a:r>
              <a:rPr lang="en-US" sz="1200" b="1" dirty="0">
                <a:solidFill>
                  <a:srgbClr val="1F2933"/>
                </a:solidFill>
                <a:latin typeface="Calibri" pitchFamily="34" charset="0"/>
                <a:ea typeface="Calibri" pitchFamily="34" charset="-122"/>
                <a:cs typeface="Calibri" pitchFamily="34" charset="-120"/>
              </a:rPr>
              <a:t>8%</a:t>
            </a:r>
            <a:endParaRPr lang="en-US" sz="1200" dirty="0"/>
          </a:p>
        </p:txBody>
      </p:sp>
      <p:sp>
        <p:nvSpPr>
          <p:cNvPr id="59" name="Shape 48"/>
          <p:cNvSpPr/>
          <p:nvPr/>
        </p:nvSpPr>
        <p:spPr>
          <a:xfrm>
            <a:off x="9939528" y="3593592"/>
            <a:ext cx="237744" cy="237744"/>
          </a:xfrm>
          <a:prstGeom prst="ellipse">
            <a:avLst/>
          </a:prstGeom>
          <a:solidFill>
            <a:srgbClr val="E0A31A"/>
          </a:solidFill>
          <a:ln w="12700">
            <a:solidFill>
              <a:srgbClr val="E0A31A"/>
            </a:solidFill>
            <a:prstDash val="solid"/>
          </a:ln>
        </p:spPr>
      </p:sp>
      <p:sp>
        <p:nvSpPr>
          <p:cNvPr id="60" name="Text 49"/>
          <p:cNvSpPr txBox="1"/>
          <p:nvPr/>
        </p:nvSpPr>
        <p:spPr>
          <a:xfrm>
            <a:off x="10232136" y="3456432"/>
            <a:ext cx="594360" cy="512064"/>
          </a:xfrm>
          <a:prstGeom prst="rect">
            <a:avLst/>
          </a:prstGeom>
          <a:noFill/>
          <a:ln/>
        </p:spPr>
        <p:txBody>
          <a:bodyPr wrap="square" lIns="0" tIns="0" rIns="0" bIns="0" rtlCol="0" anchor="ctr"/>
          <a:lstStyle/>
          <a:p>
            <a:pPr indent="0" marL="0">
              <a:buNone/>
            </a:pPr>
            <a:r>
              <a:rPr lang="en-US" sz="1200" b="1" dirty="0">
                <a:solidFill>
                  <a:srgbClr val="1F2933"/>
                </a:solidFill>
                <a:latin typeface="Calibri" pitchFamily="34" charset="0"/>
                <a:ea typeface="Calibri" pitchFamily="34" charset="-122"/>
                <a:cs typeface="Calibri" pitchFamily="34" charset="-120"/>
              </a:rPr>
              <a:t>83%</a:t>
            </a:r>
            <a:endParaRPr lang="en-US" sz="1200" dirty="0"/>
          </a:p>
        </p:txBody>
      </p:sp>
      <p:sp>
        <p:nvSpPr>
          <p:cNvPr id="61" name="Shape 50"/>
          <p:cNvSpPr/>
          <p:nvPr/>
        </p:nvSpPr>
        <p:spPr>
          <a:xfrm>
            <a:off x="11018520" y="3566160"/>
            <a:ext cx="533095" cy="292608"/>
          </a:xfrm>
          <a:prstGeom prst="roundRect">
            <a:avLst>
              <a:gd name="adj" fmla="val 50000"/>
            </a:avLst>
          </a:prstGeom>
          <a:solidFill>
            <a:srgbClr val="C0392B"/>
          </a:solidFill>
          <a:ln w="12700">
            <a:solidFill>
              <a:srgbClr val="C0392B"/>
            </a:solidFill>
            <a:prstDash val="solid"/>
          </a:ln>
        </p:spPr>
      </p:sp>
      <p:sp>
        <p:nvSpPr>
          <p:cNvPr id="62" name="Text 51"/>
          <p:cNvSpPr txBox="1"/>
          <p:nvPr/>
        </p:nvSpPr>
        <p:spPr>
          <a:xfrm>
            <a:off x="11018520" y="3566160"/>
            <a:ext cx="533095"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Act</a:t>
            </a:r>
            <a:endParaRPr lang="en-US" sz="1100" dirty="0"/>
          </a:p>
        </p:txBody>
      </p:sp>
      <p:sp>
        <p:nvSpPr>
          <p:cNvPr id="63" name="Text 52"/>
          <p:cNvSpPr txBox="1"/>
          <p:nvPr/>
        </p:nvSpPr>
        <p:spPr>
          <a:xfrm>
            <a:off x="658368" y="3968496"/>
            <a:ext cx="2057400" cy="512064"/>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Pratap Anchuri</a:t>
            </a:r>
            <a:endParaRPr lang="en-US" sz="1300" dirty="0"/>
          </a:p>
        </p:txBody>
      </p:sp>
      <p:sp>
        <p:nvSpPr>
          <p:cNvPr id="64" name="Shape 53"/>
          <p:cNvSpPr/>
          <p:nvPr/>
        </p:nvSpPr>
        <p:spPr>
          <a:xfrm>
            <a:off x="2697480" y="4123944"/>
            <a:ext cx="402336" cy="201168"/>
          </a:xfrm>
          <a:prstGeom prst="rect">
            <a:avLst/>
          </a:prstGeom>
          <a:solidFill>
            <a:srgbClr val="1E5B34"/>
          </a:solidFill>
          <a:ln w="9525">
            <a:solidFill>
              <a:srgbClr val="FFFFFF"/>
            </a:solidFill>
            <a:prstDash val="solid"/>
          </a:ln>
        </p:spPr>
      </p:sp>
      <p:sp>
        <p:nvSpPr>
          <p:cNvPr id="65" name="Shape 54"/>
          <p:cNvSpPr/>
          <p:nvPr/>
        </p:nvSpPr>
        <p:spPr>
          <a:xfrm>
            <a:off x="3099816" y="4123944"/>
            <a:ext cx="402336" cy="201168"/>
          </a:xfrm>
          <a:prstGeom prst="rect">
            <a:avLst/>
          </a:prstGeom>
          <a:solidFill>
            <a:srgbClr val="368727"/>
          </a:solidFill>
          <a:ln w="9525">
            <a:solidFill>
              <a:srgbClr val="FFFFFF"/>
            </a:solidFill>
            <a:prstDash val="solid"/>
          </a:ln>
        </p:spPr>
      </p:sp>
      <p:sp>
        <p:nvSpPr>
          <p:cNvPr id="66" name="Shape 55"/>
          <p:cNvSpPr/>
          <p:nvPr/>
        </p:nvSpPr>
        <p:spPr>
          <a:xfrm>
            <a:off x="3502152" y="4123944"/>
            <a:ext cx="301752" cy="201168"/>
          </a:xfrm>
          <a:prstGeom prst="rect">
            <a:avLst/>
          </a:prstGeom>
          <a:solidFill>
            <a:srgbClr val="A9D08E"/>
          </a:solidFill>
          <a:ln w="9525">
            <a:solidFill>
              <a:srgbClr val="FFFFFF"/>
            </a:solidFill>
            <a:prstDash val="solid"/>
          </a:ln>
        </p:spPr>
      </p:sp>
      <p:sp>
        <p:nvSpPr>
          <p:cNvPr id="67" name="Shape 56"/>
          <p:cNvSpPr/>
          <p:nvPr/>
        </p:nvSpPr>
        <p:spPr>
          <a:xfrm>
            <a:off x="3803904" y="4123944"/>
            <a:ext cx="804672" cy="201168"/>
          </a:xfrm>
          <a:prstGeom prst="rect">
            <a:avLst/>
          </a:prstGeom>
          <a:solidFill>
            <a:srgbClr val="6BA55D"/>
          </a:solidFill>
          <a:ln w="9525">
            <a:solidFill>
              <a:srgbClr val="FFFFFF"/>
            </a:solidFill>
            <a:prstDash val="solid"/>
          </a:ln>
        </p:spPr>
      </p:sp>
      <p:sp>
        <p:nvSpPr>
          <p:cNvPr id="68" name="Shape 57"/>
          <p:cNvSpPr/>
          <p:nvPr/>
        </p:nvSpPr>
        <p:spPr>
          <a:xfrm>
            <a:off x="4608576" y="4123944"/>
            <a:ext cx="603504" cy="201168"/>
          </a:xfrm>
          <a:prstGeom prst="rect">
            <a:avLst/>
          </a:prstGeom>
          <a:solidFill>
            <a:srgbClr val="D5D9DE"/>
          </a:solidFill>
          <a:ln w="9525">
            <a:solidFill>
              <a:srgbClr val="FFFFFF"/>
            </a:solidFill>
            <a:prstDash val="solid"/>
          </a:ln>
        </p:spPr>
      </p:sp>
      <p:sp>
        <p:nvSpPr>
          <p:cNvPr id="69" name="Shape 58"/>
          <p:cNvSpPr/>
          <p:nvPr/>
        </p:nvSpPr>
        <p:spPr>
          <a:xfrm>
            <a:off x="5623560" y="4105656"/>
            <a:ext cx="237744" cy="237744"/>
          </a:xfrm>
          <a:prstGeom prst="ellipse">
            <a:avLst/>
          </a:prstGeom>
          <a:solidFill>
            <a:srgbClr val="E0A31A"/>
          </a:solidFill>
          <a:ln w="12700">
            <a:solidFill>
              <a:srgbClr val="E0A31A"/>
            </a:solidFill>
            <a:prstDash val="solid"/>
          </a:ln>
        </p:spPr>
      </p:sp>
      <p:sp>
        <p:nvSpPr>
          <p:cNvPr id="70" name="Text 59"/>
          <p:cNvSpPr txBox="1"/>
          <p:nvPr/>
        </p:nvSpPr>
        <p:spPr>
          <a:xfrm>
            <a:off x="5916168" y="3968496"/>
            <a:ext cx="594360" cy="512064"/>
          </a:xfrm>
          <a:prstGeom prst="rect">
            <a:avLst/>
          </a:prstGeom>
          <a:noFill/>
          <a:ln/>
        </p:spPr>
        <p:txBody>
          <a:bodyPr wrap="square" lIns="0" tIns="0" rIns="0" bIns="0" rtlCol="0" anchor="ctr"/>
          <a:lstStyle/>
          <a:p>
            <a:pPr indent="0" marL="0">
              <a:buNone/>
            </a:pPr>
            <a:r>
              <a:rPr lang="en-US" sz="1200" b="1" dirty="0">
                <a:solidFill>
                  <a:srgbClr val="1F2933"/>
                </a:solidFill>
                <a:latin typeface="Calibri" pitchFamily="34" charset="0"/>
                <a:ea typeface="Calibri" pitchFamily="34" charset="-122"/>
                <a:cs typeface="Calibri" pitchFamily="34" charset="-120"/>
              </a:rPr>
              <a:t>24%</a:t>
            </a:r>
            <a:endParaRPr lang="en-US" sz="1200" dirty="0"/>
          </a:p>
        </p:txBody>
      </p:sp>
      <p:sp>
        <p:nvSpPr>
          <p:cNvPr id="71" name="Shape 60"/>
          <p:cNvSpPr/>
          <p:nvPr/>
        </p:nvSpPr>
        <p:spPr>
          <a:xfrm>
            <a:off x="6702552" y="4105656"/>
            <a:ext cx="237744" cy="237744"/>
          </a:xfrm>
          <a:prstGeom prst="ellipse">
            <a:avLst/>
          </a:prstGeom>
          <a:solidFill>
            <a:srgbClr val="E0A31A"/>
          </a:solidFill>
          <a:ln w="12700">
            <a:solidFill>
              <a:srgbClr val="E0A31A"/>
            </a:solidFill>
            <a:prstDash val="solid"/>
          </a:ln>
        </p:spPr>
      </p:sp>
      <p:sp>
        <p:nvSpPr>
          <p:cNvPr id="72" name="Text 61"/>
          <p:cNvSpPr txBox="1"/>
          <p:nvPr/>
        </p:nvSpPr>
        <p:spPr>
          <a:xfrm>
            <a:off x="6995160" y="3968496"/>
            <a:ext cx="594360" cy="512064"/>
          </a:xfrm>
          <a:prstGeom prst="rect">
            <a:avLst/>
          </a:prstGeom>
          <a:noFill/>
          <a:ln/>
        </p:spPr>
        <p:txBody>
          <a:bodyPr wrap="square" lIns="0" tIns="0" rIns="0" bIns="0" rtlCol="0" anchor="ctr"/>
          <a:lstStyle/>
          <a:p>
            <a:pPr indent="0" marL="0">
              <a:buNone/>
            </a:pPr>
            <a:r>
              <a:rPr lang="en-US" sz="1200" b="1" dirty="0">
                <a:solidFill>
                  <a:srgbClr val="1F2933"/>
                </a:solidFill>
                <a:latin typeface="Calibri" pitchFamily="34" charset="0"/>
                <a:ea typeface="Calibri" pitchFamily="34" charset="-122"/>
                <a:cs typeface="Calibri" pitchFamily="34" charset="-120"/>
              </a:rPr>
              <a:t>5.3</a:t>
            </a:r>
            <a:endParaRPr lang="en-US" sz="1200" dirty="0"/>
          </a:p>
        </p:txBody>
      </p:sp>
      <p:sp>
        <p:nvSpPr>
          <p:cNvPr id="73" name="Shape 62"/>
          <p:cNvSpPr/>
          <p:nvPr/>
        </p:nvSpPr>
        <p:spPr>
          <a:xfrm>
            <a:off x="7781544" y="4105656"/>
            <a:ext cx="237744" cy="237744"/>
          </a:xfrm>
          <a:prstGeom prst="ellipse">
            <a:avLst/>
          </a:prstGeom>
          <a:solidFill>
            <a:srgbClr val="C0392B"/>
          </a:solidFill>
          <a:ln w="12700">
            <a:solidFill>
              <a:srgbClr val="C0392B"/>
            </a:solidFill>
            <a:prstDash val="solid"/>
          </a:ln>
        </p:spPr>
      </p:sp>
      <p:sp>
        <p:nvSpPr>
          <p:cNvPr id="74" name="Text 63"/>
          <p:cNvSpPr txBox="1"/>
          <p:nvPr/>
        </p:nvSpPr>
        <p:spPr>
          <a:xfrm>
            <a:off x="8074152" y="3968496"/>
            <a:ext cx="594360" cy="512064"/>
          </a:xfrm>
          <a:prstGeom prst="rect">
            <a:avLst/>
          </a:prstGeom>
          <a:noFill/>
          <a:ln/>
        </p:spPr>
        <p:txBody>
          <a:bodyPr wrap="square" lIns="0" tIns="0" rIns="0" bIns="0" rtlCol="0" anchor="ctr"/>
          <a:lstStyle/>
          <a:p>
            <a:pPr indent="0" marL="0">
              <a:buNone/>
            </a:pPr>
            <a:r>
              <a:rPr lang="en-US" sz="1200" b="1" dirty="0">
                <a:solidFill>
                  <a:srgbClr val="1F2933"/>
                </a:solidFill>
                <a:latin typeface="Calibri" pitchFamily="34" charset="0"/>
                <a:ea typeface="Calibri" pitchFamily="34" charset="-122"/>
                <a:cs typeface="Calibri" pitchFamily="34" charset="-120"/>
              </a:rPr>
              <a:t>48%</a:t>
            </a:r>
            <a:endParaRPr lang="en-US" sz="1200" dirty="0"/>
          </a:p>
        </p:txBody>
      </p:sp>
      <p:sp>
        <p:nvSpPr>
          <p:cNvPr id="75" name="Shape 64"/>
          <p:cNvSpPr/>
          <p:nvPr/>
        </p:nvSpPr>
        <p:spPr>
          <a:xfrm>
            <a:off x="8860536" y="4105656"/>
            <a:ext cx="237744" cy="237744"/>
          </a:xfrm>
          <a:prstGeom prst="ellipse">
            <a:avLst/>
          </a:prstGeom>
          <a:solidFill>
            <a:srgbClr val="C0392B"/>
          </a:solidFill>
          <a:ln w="12700">
            <a:solidFill>
              <a:srgbClr val="C0392B"/>
            </a:solidFill>
            <a:prstDash val="solid"/>
          </a:ln>
        </p:spPr>
      </p:sp>
      <p:sp>
        <p:nvSpPr>
          <p:cNvPr id="76" name="Text 65"/>
          <p:cNvSpPr txBox="1"/>
          <p:nvPr/>
        </p:nvSpPr>
        <p:spPr>
          <a:xfrm>
            <a:off x="9153144" y="3968496"/>
            <a:ext cx="594360" cy="512064"/>
          </a:xfrm>
          <a:prstGeom prst="rect">
            <a:avLst/>
          </a:prstGeom>
          <a:noFill/>
          <a:ln/>
        </p:spPr>
        <p:txBody>
          <a:bodyPr wrap="square" lIns="0" tIns="0" rIns="0" bIns="0" rtlCol="0" anchor="ctr"/>
          <a:lstStyle/>
          <a:p>
            <a:pPr indent="0" marL="0">
              <a:buNone/>
            </a:pPr>
            <a:r>
              <a:rPr lang="en-US" sz="1200" b="1" dirty="0">
                <a:solidFill>
                  <a:srgbClr val="1F2933"/>
                </a:solidFill>
                <a:latin typeface="Calibri" pitchFamily="34" charset="0"/>
                <a:ea typeface="Calibri" pitchFamily="34" charset="-122"/>
                <a:cs typeface="Calibri" pitchFamily="34" charset="-120"/>
              </a:rPr>
              <a:t>0%</a:t>
            </a:r>
            <a:endParaRPr lang="en-US" sz="1200" dirty="0"/>
          </a:p>
        </p:txBody>
      </p:sp>
      <p:sp>
        <p:nvSpPr>
          <p:cNvPr id="77" name="Shape 66"/>
          <p:cNvSpPr/>
          <p:nvPr/>
        </p:nvSpPr>
        <p:spPr>
          <a:xfrm>
            <a:off x="9939528" y="4105656"/>
            <a:ext cx="237744" cy="237744"/>
          </a:xfrm>
          <a:prstGeom prst="ellipse">
            <a:avLst/>
          </a:prstGeom>
          <a:solidFill>
            <a:srgbClr val="E0A31A"/>
          </a:solidFill>
          <a:ln w="12700">
            <a:solidFill>
              <a:srgbClr val="E0A31A"/>
            </a:solidFill>
            <a:prstDash val="solid"/>
          </a:ln>
        </p:spPr>
      </p:sp>
      <p:sp>
        <p:nvSpPr>
          <p:cNvPr id="78" name="Text 67"/>
          <p:cNvSpPr txBox="1"/>
          <p:nvPr/>
        </p:nvSpPr>
        <p:spPr>
          <a:xfrm>
            <a:off x="10232136" y="3968496"/>
            <a:ext cx="594360" cy="512064"/>
          </a:xfrm>
          <a:prstGeom prst="rect">
            <a:avLst/>
          </a:prstGeom>
          <a:noFill/>
          <a:ln/>
        </p:spPr>
        <p:txBody>
          <a:bodyPr wrap="square" lIns="0" tIns="0" rIns="0" bIns="0" rtlCol="0" anchor="ctr"/>
          <a:lstStyle/>
          <a:p>
            <a:pPr indent="0" marL="0">
              <a:buNone/>
            </a:pPr>
            <a:r>
              <a:rPr lang="en-US" sz="1200" b="1" dirty="0">
                <a:solidFill>
                  <a:srgbClr val="1F2933"/>
                </a:solidFill>
                <a:latin typeface="Calibri" pitchFamily="34" charset="0"/>
                <a:ea typeface="Calibri" pitchFamily="34" charset="-122"/>
                <a:cs typeface="Calibri" pitchFamily="34" charset="-120"/>
              </a:rPr>
              <a:t>76%</a:t>
            </a:r>
            <a:endParaRPr lang="en-US" sz="1200" dirty="0"/>
          </a:p>
        </p:txBody>
      </p:sp>
      <p:sp>
        <p:nvSpPr>
          <p:cNvPr id="79" name="Shape 68"/>
          <p:cNvSpPr/>
          <p:nvPr/>
        </p:nvSpPr>
        <p:spPr>
          <a:xfrm>
            <a:off x="11018520" y="4078224"/>
            <a:ext cx="533095" cy="292608"/>
          </a:xfrm>
          <a:prstGeom prst="roundRect">
            <a:avLst>
              <a:gd name="adj" fmla="val 50000"/>
            </a:avLst>
          </a:prstGeom>
          <a:solidFill>
            <a:srgbClr val="E0A31A"/>
          </a:solidFill>
          <a:ln w="12700">
            <a:solidFill>
              <a:srgbClr val="E0A31A"/>
            </a:solidFill>
            <a:prstDash val="solid"/>
          </a:ln>
        </p:spPr>
      </p:sp>
      <p:sp>
        <p:nvSpPr>
          <p:cNvPr id="80" name="Text 69"/>
          <p:cNvSpPr txBox="1"/>
          <p:nvPr/>
        </p:nvSpPr>
        <p:spPr>
          <a:xfrm>
            <a:off x="11018520" y="4078224"/>
            <a:ext cx="533095"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Watch</a:t>
            </a:r>
            <a:endParaRPr lang="en-US" sz="1100" dirty="0"/>
          </a:p>
        </p:txBody>
      </p:sp>
      <p:sp>
        <p:nvSpPr>
          <p:cNvPr id="81" name="Shape 70"/>
          <p:cNvSpPr/>
          <p:nvPr/>
        </p:nvSpPr>
        <p:spPr>
          <a:xfrm>
            <a:off x="548640" y="4480560"/>
            <a:ext cx="11094415" cy="512064"/>
          </a:xfrm>
          <a:prstGeom prst="rect">
            <a:avLst/>
          </a:prstGeom>
          <a:solidFill>
            <a:srgbClr val="F1F7EE"/>
          </a:solidFill>
          <a:ln w="12700">
            <a:solidFill>
              <a:srgbClr val="F1F7EE"/>
            </a:solidFill>
            <a:prstDash val="solid"/>
          </a:ln>
        </p:spPr>
      </p:sp>
      <p:sp>
        <p:nvSpPr>
          <p:cNvPr id="82" name="Text 71"/>
          <p:cNvSpPr txBox="1"/>
          <p:nvPr/>
        </p:nvSpPr>
        <p:spPr>
          <a:xfrm>
            <a:off x="658368" y="4480560"/>
            <a:ext cx="2057400" cy="512064"/>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Asim Siddiqi</a:t>
            </a:r>
            <a:endParaRPr lang="en-US" sz="1300" dirty="0"/>
          </a:p>
        </p:txBody>
      </p:sp>
      <p:sp>
        <p:nvSpPr>
          <p:cNvPr id="83" name="Shape 72"/>
          <p:cNvSpPr/>
          <p:nvPr/>
        </p:nvSpPr>
        <p:spPr>
          <a:xfrm>
            <a:off x="2697480" y="4636008"/>
            <a:ext cx="558800" cy="201168"/>
          </a:xfrm>
          <a:prstGeom prst="rect">
            <a:avLst/>
          </a:prstGeom>
          <a:solidFill>
            <a:srgbClr val="1E5B34"/>
          </a:solidFill>
          <a:ln w="9525">
            <a:solidFill>
              <a:srgbClr val="FFFFFF"/>
            </a:solidFill>
            <a:prstDash val="solid"/>
          </a:ln>
        </p:spPr>
      </p:sp>
      <p:sp>
        <p:nvSpPr>
          <p:cNvPr id="84" name="Shape 73"/>
          <p:cNvSpPr/>
          <p:nvPr/>
        </p:nvSpPr>
        <p:spPr>
          <a:xfrm>
            <a:off x="3256280" y="4636008"/>
            <a:ext cx="279400" cy="201168"/>
          </a:xfrm>
          <a:prstGeom prst="rect">
            <a:avLst/>
          </a:prstGeom>
          <a:solidFill>
            <a:srgbClr val="368727"/>
          </a:solidFill>
          <a:ln w="9525">
            <a:solidFill>
              <a:srgbClr val="FFFFFF"/>
            </a:solidFill>
            <a:prstDash val="solid"/>
          </a:ln>
        </p:spPr>
      </p:sp>
      <p:sp>
        <p:nvSpPr>
          <p:cNvPr id="85" name="Shape 74"/>
          <p:cNvSpPr/>
          <p:nvPr/>
        </p:nvSpPr>
        <p:spPr>
          <a:xfrm>
            <a:off x="3535680" y="4636008"/>
            <a:ext cx="698500" cy="201168"/>
          </a:xfrm>
          <a:prstGeom prst="rect">
            <a:avLst/>
          </a:prstGeom>
          <a:solidFill>
            <a:srgbClr val="6BA55D"/>
          </a:solidFill>
          <a:ln w="9525">
            <a:solidFill>
              <a:srgbClr val="FFFFFF"/>
            </a:solidFill>
            <a:prstDash val="solid"/>
          </a:ln>
        </p:spPr>
      </p:sp>
      <p:sp>
        <p:nvSpPr>
          <p:cNvPr id="86" name="Shape 75"/>
          <p:cNvSpPr/>
          <p:nvPr/>
        </p:nvSpPr>
        <p:spPr>
          <a:xfrm>
            <a:off x="4234180" y="4636008"/>
            <a:ext cx="69850" cy="201168"/>
          </a:xfrm>
          <a:prstGeom prst="rect">
            <a:avLst/>
          </a:prstGeom>
          <a:solidFill>
            <a:srgbClr val="4A6572"/>
          </a:solidFill>
          <a:ln w="9525">
            <a:solidFill>
              <a:srgbClr val="FFFFFF"/>
            </a:solidFill>
            <a:prstDash val="solid"/>
          </a:ln>
        </p:spPr>
      </p:sp>
      <p:sp>
        <p:nvSpPr>
          <p:cNvPr id="87" name="Shape 76"/>
          <p:cNvSpPr/>
          <p:nvPr/>
        </p:nvSpPr>
        <p:spPr>
          <a:xfrm>
            <a:off x="4304030" y="4636008"/>
            <a:ext cx="908050" cy="201168"/>
          </a:xfrm>
          <a:prstGeom prst="rect">
            <a:avLst/>
          </a:prstGeom>
          <a:solidFill>
            <a:srgbClr val="D5D9DE"/>
          </a:solidFill>
          <a:ln w="9525">
            <a:solidFill>
              <a:srgbClr val="FFFFFF"/>
            </a:solidFill>
            <a:prstDash val="solid"/>
          </a:ln>
        </p:spPr>
      </p:sp>
      <p:sp>
        <p:nvSpPr>
          <p:cNvPr id="88" name="Shape 77"/>
          <p:cNvSpPr/>
          <p:nvPr/>
        </p:nvSpPr>
        <p:spPr>
          <a:xfrm>
            <a:off x="5623560" y="4617720"/>
            <a:ext cx="237744" cy="237744"/>
          </a:xfrm>
          <a:prstGeom prst="ellipse">
            <a:avLst/>
          </a:prstGeom>
          <a:solidFill>
            <a:srgbClr val="E0A31A"/>
          </a:solidFill>
          <a:ln w="12700">
            <a:solidFill>
              <a:srgbClr val="E0A31A"/>
            </a:solidFill>
            <a:prstDash val="solid"/>
          </a:ln>
        </p:spPr>
      </p:sp>
      <p:sp>
        <p:nvSpPr>
          <p:cNvPr id="89" name="Text 78"/>
          <p:cNvSpPr txBox="1"/>
          <p:nvPr/>
        </p:nvSpPr>
        <p:spPr>
          <a:xfrm>
            <a:off x="5916168" y="4480560"/>
            <a:ext cx="594360" cy="512064"/>
          </a:xfrm>
          <a:prstGeom prst="rect">
            <a:avLst/>
          </a:prstGeom>
          <a:noFill/>
          <a:ln/>
        </p:spPr>
        <p:txBody>
          <a:bodyPr wrap="square" lIns="0" tIns="0" rIns="0" bIns="0" rtlCol="0" anchor="ctr"/>
          <a:lstStyle/>
          <a:p>
            <a:pPr indent="0" marL="0">
              <a:buNone/>
            </a:pPr>
            <a:r>
              <a:rPr lang="en-US" sz="1200" b="1" dirty="0">
                <a:solidFill>
                  <a:srgbClr val="1F2933"/>
                </a:solidFill>
                <a:latin typeface="Calibri" pitchFamily="34" charset="0"/>
                <a:ea typeface="Calibri" pitchFamily="34" charset="-122"/>
                <a:cs typeface="Calibri" pitchFamily="34" charset="-120"/>
              </a:rPr>
              <a:t>25%</a:t>
            </a:r>
            <a:endParaRPr lang="en-US" sz="1200" dirty="0"/>
          </a:p>
        </p:txBody>
      </p:sp>
      <p:sp>
        <p:nvSpPr>
          <p:cNvPr id="90" name="Shape 79"/>
          <p:cNvSpPr/>
          <p:nvPr/>
        </p:nvSpPr>
        <p:spPr>
          <a:xfrm>
            <a:off x="6702552" y="4617720"/>
            <a:ext cx="237744" cy="237744"/>
          </a:xfrm>
          <a:prstGeom prst="ellipse">
            <a:avLst/>
          </a:prstGeom>
          <a:solidFill>
            <a:srgbClr val="E0A31A"/>
          </a:solidFill>
          <a:ln w="12700">
            <a:solidFill>
              <a:srgbClr val="E0A31A"/>
            </a:solidFill>
            <a:prstDash val="solid"/>
          </a:ln>
        </p:spPr>
      </p:sp>
      <p:sp>
        <p:nvSpPr>
          <p:cNvPr id="91" name="Text 80"/>
          <p:cNvSpPr txBox="1"/>
          <p:nvPr/>
        </p:nvSpPr>
        <p:spPr>
          <a:xfrm>
            <a:off x="6995160" y="4480560"/>
            <a:ext cx="594360" cy="512064"/>
          </a:xfrm>
          <a:prstGeom prst="rect">
            <a:avLst/>
          </a:prstGeom>
          <a:noFill/>
          <a:ln/>
        </p:spPr>
        <p:txBody>
          <a:bodyPr wrap="square" lIns="0" tIns="0" rIns="0" bIns="0" rtlCol="0" anchor="ctr"/>
          <a:lstStyle/>
          <a:p>
            <a:pPr indent="0" marL="0">
              <a:buNone/>
            </a:pPr>
            <a:r>
              <a:rPr lang="en-US" sz="1200" b="1" dirty="0">
                <a:solidFill>
                  <a:srgbClr val="1F2933"/>
                </a:solidFill>
                <a:latin typeface="Calibri" pitchFamily="34" charset="0"/>
                <a:ea typeface="Calibri" pitchFamily="34" charset="-122"/>
                <a:cs typeface="Calibri" pitchFamily="34" charset="-120"/>
              </a:rPr>
              <a:t>3.6</a:t>
            </a:r>
            <a:endParaRPr lang="en-US" sz="1200" dirty="0"/>
          </a:p>
        </p:txBody>
      </p:sp>
      <p:sp>
        <p:nvSpPr>
          <p:cNvPr id="92" name="Shape 81"/>
          <p:cNvSpPr/>
          <p:nvPr/>
        </p:nvSpPr>
        <p:spPr>
          <a:xfrm>
            <a:off x="7781544" y="4617720"/>
            <a:ext cx="237744" cy="237744"/>
          </a:xfrm>
          <a:prstGeom prst="ellipse">
            <a:avLst/>
          </a:prstGeom>
          <a:solidFill>
            <a:srgbClr val="C0392B"/>
          </a:solidFill>
          <a:ln w="12700">
            <a:solidFill>
              <a:srgbClr val="C0392B"/>
            </a:solidFill>
            <a:prstDash val="solid"/>
          </a:ln>
        </p:spPr>
      </p:sp>
      <p:sp>
        <p:nvSpPr>
          <p:cNvPr id="93" name="Text 82"/>
          <p:cNvSpPr txBox="1"/>
          <p:nvPr/>
        </p:nvSpPr>
        <p:spPr>
          <a:xfrm>
            <a:off x="8074152" y="4480560"/>
            <a:ext cx="594360" cy="512064"/>
          </a:xfrm>
          <a:prstGeom prst="rect">
            <a:avLst/>
          </a:prstGeom>
          <a:noFill/>
          <a:ln/>
        </p:spPr>
        <p:txBody>
          <a:bodyPr wrap="square" lIns="0" tIns="0" rIns="0" bIns="0" rtlCol="0" anchor="ctr"/>
          <a:lstStyle/>
          <a:p>
            <a:pPr indent="0" marL="0">
              <a:buNone/>
            </a:pPr>
            <a:r>
              <a:rPr lang="en-US" sz="1200" b="1" dirty="0">
                <a:solidFill>
                  <a:srgbClr val="1F2933"/>
                </a:solidFill>
                <a:latin typeface="Calibri" pitchFamily="34" charset="0"/>
                <a:ea typeface="Calibri" pitchFamily="34" charset="-122"/>
                <a:cs typeface="Calibri" pitchFamily="34" charset="-120"/>
              </a:rPr>
              <a:t>39%</a:t>
            </a:r>
            <a:endParaRPr lang="en-US" sz="1200" dirty="0"/>
          </a:p>
        </p:txBody>
      </p:sp>
      <p:sp>
        <p:nvSpPr>
          <p:cNvPr id="94" name="Shape 83"/>
          <p:cNvSpPr/>
          <p:nvPr/>
        </p:nvSpPr>
        <p:spPr>
          <a:xfrm>
            <a:off x="8860536" y="4617720"/>
            <a:ext cx="237744" cy="237744"/>
          </a:xfrm>
          <a:prstGeom prst="ellipse">
            <a:avLst/>
          </a:prstGeom>
          <a:solidFill>
            <a:srgbClr val="C0392B"/>
          </a:solidFill>
          <a:ln w="12700">
            <a:solidFill>
              <a:srgbClr val="C0392B"/>
            </a:solidFill>
            <a:prstDash val="solid"/>
          </a:ln>
        </p:spPr>
      </p:sp>
      <p:sp>
        <p:nvSpPr>
          <p:cNvPr id="95" name="Text 84"/>
          <p:cNvSpPr txBox="1"/>
          <p:nvPr/>
        </p:nvSpPr>
        <p:spPr>
          <a:xfrm>
            <a:off x="9153144" y="4480560"/>
            <a:ext cx="594360" cy="512064"/>
          </a:xfrm>
          <a:prstGeom prst="rect">
            <a:avLst/>
          </a:prstGeom>
          <a:noFill/>
          <a:ln/>
        </p:spPr>
        <p:txBody>
          <a:bodyPr wrap="square" lIns="0" tIns="0" rIns="0" bIns="0" rtlCol="0" anchor="ctr"/>
          <a:lstStyle/>
          <a:p>
            <a:pPr indent="0" marL="0">
              <a:buNone/>
            </a:pPr>
            <a:r>
              <a:rPr lang="en-US" sz="1200" b="1" dirty="0">
                <a:solidFill>
                  <a:srgbClr val="1F2933"/>
                </a:solidFill>
                <a:latin typeface="Calibri" pitchFamily="34" charset="0"/>
                <a:ea typeface="Calibri" pitchFamily="34" charset="-122"/>
                <a:cs typeface="Calibri" pitchFamily="34" charset="-120"/>
              </a:rPr>
              <a:t>3%</a:t>
            </a:r>
            <a:endParaRPr lang="en-US" sz="1200" dirty="0"/>
          </a:p>
        </p:txBody>
      </p:sp>
      <p:sp>
        <p:nvSpPr>
          <p:cNvPr id="96" name="Shape 85"/>
          <p:cNvSpPr/>
          <p:nvPr/>
        </p:nvSpPr>
        <p:spPr>
          <a:xfrm>
            <a:off x="9939528" y="4617720"/>
            <a:ext cx="237744" cy="237744"/>
          </a:xfrm>
          <a:prstGeom prst="ellipse">
            <a:avLst/>
          </a:prstGeom>
          <a:solidFill>
            <a:srgbClr val="C0392B"/>
          </a:solidFill>
          <a:ln w="12700">
            <a:solidFill>
              <a:srgbClr val="C0392B"/>
            </a:solidFill>
            <a:prstDash val="solid"/>
          </a:ln>
        </p:spPr>
      </p:sp>
      <p:sp>
        <p:nvSpPr>
          <p:cNvPr id="97" name="Text 86"/>
          <p:cNvSpPr txBox="1"/>
          <p:nvPr/>
        </p:nvSpPr>
        <p:spPr>
          <a:xfrm>
            <a:off x="10232136" y="4480560"/>
            <a:ext cx="594360" cy="512064"/>
          </a:xfrm>
          <a:prstGeom prst="rect">
            <a:avLst/>
          </a:prstGeom>
          <a:noFill/>
          <a:ln/>
        </p:spPr>
        <p:txBody>
          <a:bodyPr wrap="square" lIns="0" tIns="0" rIns="0" bIns="0" rtlCol="0" anchor="ctr"/>
          <a:lstStyle/>
          <a:p>
            <a:pPr indent="0" marL="0">
              <a:buNone/>
            </a:pPr>
            <a:r>
              <a:rPr lang="en-US" sz="1200" b="1" dirty="0">
                <a:solidFill>
                  <a:srgbClr val="1F2933"/>
                </a:solidFill>
                <a:latin typeface="Calibri" pitchFamily="34" charset="0"/>
                <a:ea typeface="Calibri" pitchFamily="34" charset="-122"/>
                <a:cs typeface="Calibri" pitchFamily="34" charset="-120"/>
              </a:rPr>
              <a:t>64%</a:t>
            </a:r>
            <a:endParaRPr lang="en-US" sz="1200" dirty="0"/>
          </a:p>
        </p:txBody>
      </p:sp>
      <p:sp>
        <p:nvSpPr>
          <p:cNvPr id="98" name="Shape 87"/>
          <p:cNvSpPr/>
          <p:nvPr/>
        </p:nvSpPr>
        <p:spPr>
          <a:xfrm>
            <a:off x="11018520" y="4590288"/>
            <a:ext cx="533095" cy="292608"/>
          </a:xfrm>
          <a:prstGeom prst="roundRect">
            <a:avLst>
              <a:gd name="adj" fmla="val 50000"/>
            </a:avLst>
          </a:prstGeom>
          <a:solidFill>
            <a:srgbClr val="C0392B"/>
          </a:solidFill>
          <a:ln w="12700">
            <a:solidFill>
              <a:srgbClr val="C0392B"/>
            </a:solidFill>
            <a:prstDash val="solid"/>
          </a:ln>
        </p:spPr>
      </p:sp>
      <p:sp>
        <p:nvSpPr>
          <p:cNvPr id="99" name="Text 88"/>
          <p:cNvSpPr txBox="1"/>
          <p:nvPr/>
        </p:nvSpPr>
        <p:spPr>
          <a:xfrm>
            <a:off x="11018520" y="4590288"/>
            <a:ext cx="533095"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Act</a:t>
            </a:r>
            <a:endParaRPr lang="en-US" sz="1100" dirty="0"/>
          </a:p>
        </p:txBody>
      </p:sp>
      <p:sp>
        <p:nvSpPr>
          <p:cNvPr id="100" name="Text 89"/>
          <p:cNvSpPr txBox="1"/>
          <p:nvPr/>
        </p:nvSpPr>
        <p:spPr>
          <a:xfrm>
            <a:off x="658368" y="4992624"/>
            <a:ext cx="2057400" cy="512064"/>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Pushkala Venkataraman</a:t>
            </a:r>
            <a:endParaRPr lang="en-US" sz="1300" dirty="0"/>
          </a:p>
        </p:txBody>
      </p:sp>
      <p:sp>
        <p:nvSpPr>
          <p:cNvPr id="101" name="Shape 90"/>
          <p:cNvSpPr/>
          <p:nvPr/>
        </p:nvSpPr>
        <p:spPr>
          <a:xfrm>
            <a:off x="2697480" y="5148072"/>
            <a:ext cx="279400" cy="201168"/>
          </a:xfrm>
          <a:prstGeom prst="rect">
            <a:avLst/>
          </a:prstGeom>
          <a:solidFill>
            <a:srgbClr val="1E5B34"/>
          </a:solidFill>
          <a:ln w="9525">
            <a:solidFill>
              <a:srgbClr val="FFFFFF"/>
            </a:solidFill>
            <a:prstDash val="solid"/>
          </a:ln>
        </p:spPr>
      </p:sp>
      <p:sp>
        <p:nvSpPr>
          <p:cNvPr id="102" name="Shape 91"/>
          <p:cNvSpPr/>
          <p:nvPr/>
        </p:nvSpPr>
        <p:spPr>
          <a:xfrm>
            <a:off x="2976880" y="5148072"/>
            <a:ext cx="139700" cy="201168"/>
          </a:xfrm>
          <a:prstGeom prst="rect">
            <a:avLst/>
          </a:prstGeom>
          <a:solidFill>
            <a:srgbClr val="368727"/>
          </a:solidFill>
          <a:ln w="9525">
            <a:solidFill>
              <a:srgbClr val="FFFFFF"/>
            </a:solidFill>
            <a:prstDash val="solid"/>
          </a:ln>
        </p:spPr>
      </p:sp>
      <p:sp>
        <p:nvSpPr>
          <p:cNvPr id="103" name="Shape 92"/>
          <p:cNvSpPr/>
          <p:nvPr/>
        </p:nvSpPr>
        <p:spPr>
          <a:xfrm>
            <a:off x="3116580" y="5148072"/>
            <a:ext cx="2095500" cy="201168"/>
          </a:xfrm>
          <a:prstGeom prst="rect">
            <a:avLst/>
          </a:prstGeom>
          <a:solidFill>
            <a:srgbClr val="D5D9DE"/>
          </a:solidFill>
          <a:ln w="9525">
            <a:solidFill>
              <a:srgbClr val="FFFFFF"/>
            </a:solidFill>
            <a:prstDash val="solid"/>
          </a:ln>
        </p:spPr>
      </p:sp>
      <p:sp>
        <p:nvSpPr>
          <p:cNvPr id="104" name="Shape 93"/>
          <p:cNvSpPr/>
          <p:nvPr/>
        </p:nvSpPr>
        <p:spPr>
          <a:xfrm>
            <a:off x="5623560" y="5129784"/>
            <a:ext cx="237744" cy="237744"/>
          </a:xfrm>
          <a:prstGeom prst="ellipse">
            <a:avLst/>
          </a:prstGeom>
          <a:solidFill>
            <a:srgbClr val="368727"/>
          </a:solidFill>
          <a:ln w="12700">
            <a:solidFill>
              <a:srgbClr val="368727"/>
            </a:solidFill>
            <a:prstDash val="solid"/>
          </a:ln>
        </p:spPr>
      </p:sp>
      <p:sp>
        <p:nvSpPr>
          <p:cNvPr id="105" name="Text 94"/>
          <p:cNvSpPr txBox="1"/>
          <p:nvPr/>
        </p:nvSpPr>
        <p:spPr>
          <a:xfrm>
            <a:off x="5916168" y="4992624"/>
            <a:ext cx="594360" cy="512064"/>
          </a:xfrm>
          <a:prstGeom prst="rect">
            <a:avLst/>
          </a:prstGeom>
          <a:noFill/>
          <a:ln/>
        </p:spPr>
        <p:txBody>
          <a:bodyPr wrap="square" lIns="0" tIns="0" rIns="0" bIns="0" rtlCol="0" anchor="ctr"/>
          <a:lstStyle/>
          <a:p>
            <a:pPr indent="0" marL="0">
              <a:buNone/>
            </a:pPr>
            <a:r>
              <a:rPr lang="en-US" sz="1200" b="1" dirty="0">
                <a:solidFill>
                  <a:srgbClr val="1F2933"/>
                </a:solidFill>
                <a:latin typeface="Calibri" pitchFamily="34" charset="0"/>
                <a:ea typeface="Calibri" pitchFamily="34" charset="-122"/>
                <a:cs typeface="Calibri" pitchFamily="34" charset="-120"/>
              </a:rPr>
              <a:t>0%</a:t>
            </a:r>
            <a:endParaRPr lang="en-US" sz="1200" dirty="0"/>
          </a:p>
        </p:txBody>
      </p:sp>
      <p:sp>
        <p:nvSpPr>
          <p:cNvPr id="106" name="Shape 95"/>
          <p:cNvSpPr/>
          <p:nvPr/>
        </p:nvSpPr>
        <p:spPr>
          <a:xfrm>
            <a:off x="6702552" y="5129784"/>
            <a:ext cx="237744" cy="237744"/>
          </a:xfrm>
          <a:prstGeom prst="ellipse">
            <a:avLst/>
          </a:prstGeom>
          <a:solidFill>
            <a:srgbClr val="368727"/>
          </a:solidFill>
          <a:ln w="12700">
            <a:solidFill>
              <a:srgbClr val="368727"/>
            </a:solidFill>
            <a:prstDash val="solid"/>
          </a:ln>
        </p:spPr>
      </p:sp>
      <p:sp>
        <p:nvSpPr>
          <p:cNvPr id="107" name="Text 96"/>
          <p:cNvSpPr txBox="1"/>
          <p:nvPr/>
        </p:nvSpPr>
        <p:spPr>
          <a:xfrm>
            <a:off x="6995160" y="4992624"/>
            <a:ext cx="594360" cy="512064"/>
          </a:xfrm>
          <a:prstGeom prst="rect">
            <a:avLst/>
          </a:prstGeom>
          <a:noFill/>
          <a:ln/>
        </p:spPr>
        <p:txBody>
          <a:bodyPr wrap="square" lIns="0" tIns="0" rIns="0" bIns="0" rtlCol="0" anchor="ctr"/>
          <a:lstStyle/>
          <a:p>
            <a:pPr indent="0" marL="0">
              <a:buNone/>
            </a:pPr>
            <a:r>
              <a:rPr lang="en-US" sz="1200" b="1" dirty="0">
                <a:solidFill>
                  <a:srgbClr val="1F2933"/>
                </a:solidFill>
                <a:latin typeface="Calibri" pitchFamily="34" charset="0"/>
                <a:ea typeface="Calibri" pitchFamily="34" charset="-122"/>
                <a:cs typeface="Calibri" pitchFamily="34" charset="-120"/>
              </a:rPr>
              <a:t>0.1</a:t>
            </a:r>
            <a:endParaRPr lang="en-US" sz="1200" dirty="0"/>
          </a:p>
        </p:txBody>
      </p:sp>
      <p:sp>
        <p:nvSpPr>
          <p:cNvPr id="108" name="Shape 97"/>
          <p:cNvSpPr/>
          <p:nvPr/>
        </p:nvSpPr>
        <p:spPr>
          <a:xfrm>
            <a:off x="7781544" y="5129784"/>
            <a:ext cx="237744" cy="237744"/>
          </a:xfrm>
          <a:prstGeom prst="ellipse">
            <a:avLst/>
          </a:prstGeom>
          <a:solidFill>
            <a:srgbClr val="C0392B"/>
          </a:solidFill>
          <a:ln w="12700">
            <a:solidFill>
              <a:srgbClr val="C0392B"/>
            </a:solidFill>
            <a:prstDash val="solid"/>
          </a:ln>
        </p:spPr>
      </p:sp>
      <p:sp>
        <p:nvSpPr>
          <p:cNvPr id="109" name="Text 98"/>
          <p:cNvSpPr txBox="1"/>
          <p:nvPr/>
        </p:nvSpPr>
        <p:spPr>
          <a:xfrm>
            <a:off x="8074152" y="4992624"/>
            <a:ext cx="594360" cy="512064"/>
          </a:xfrm>
          <a:prstGeom prst="rect">
            <a:avLst/>
          </a:prstGeom>
          <a:noFill/>
          <a:ln/>
        </p:spPr>
        <p:txBody>
          <a:bodyPr wrap="square" lIns="0" tIns="0" rIns="0" bIns="0" rtlCol="0" anchor="ctr"/>
          <a:lstStyle/>
          <a:p>
            <a:pPr indent="0" marL="0">
              <a:buNone/>
            </a:pPr>
            <a:r>
              <a:rPr lang="en-US" sz="1200" b="1" dirty="0">
                <a:solidFill>
                  <a:srgbClr val="1F2933"/>
                </a:solidFill>
                <a:latin typeface="Calibri" pitchFamily="34" charset="0"/>
                <a:ea typeface="Calibri" pitchFamily="34" charset="-122"/>
                <a:cs typeface="Calibri" pitchFamily="34" charset="-120"/>
              </a:rPr>
              <a:t>33%</a:t>
            </a:r>
            <a:endParaRPr lang="en-US" sz="1200" dirty="0"/>
          </a:p>
        </p:txBody>
      </p:sp>
      <p:sp>
        <p:nvSpPr>
          <p:cNvPr id="110" name="Shape 99"/>
          <p:cNvSpPr/>
          <p:nvPr/>
        </p:nvSpPr>
        <p:spPr>
          <a:xfrm>
            <a:off x="8860536" y="5129784"/>
            <a:ext cx="237744" cy="237744"/>
          </a:xfrm>
          <a:prstGeom prst="ellipse">
            <a:avLst/>
          </a:prstGeom>
          <a:solidFill>
            <a:srgbClr val="C0392B"/>
          </a:solidFill>
          <a:ln w="12700">
            <a:solidFill>
              <a:srgbClr val="C0392B"/>
            </a:solidFill>
            <a:prstDash val="solid"/>
          </a:ln>
        </p:spPr>
      </p:sp>
      <p:sp>
        <p:nvSpPr>
          <p:cNvPr id="111" name="Text 100"/>
          <p:cNvSpPr txBox="1"/>
          <p:nvPr/>
        </p:nvSpPr>
        <p:spPr>
          <a:xfrm>
            <a:off x="9153144" y="4992624"/>
            <a:ext cx="594360" cy="512064"/>
          </a:xfrm>
          <a:prstGeom prst="rect">
            <a:avLst/>
          </a:prstGeom>
          <a:noFill/>
          <a:ln/>
        </p:spPr>
        <p:txBody>
          <a:bodyPr wrap="square" lIns="0" tIns="0" rIns="0" bIns="0" rtlCol="0" anchor="ctr"/>
          <a:lstStyle/>
          <a:p>
            <a:pPr indent="0" marL="0">
              <a:buNone/>
            </a:pPr>
            <a:r>
              <a:rPr lang="en-US" sz="1200" b="1" dirty="0">
                <a:solidFill>
                  <a:srgbClr val="1F2933"/>
                </a:solidFill>
                <a:latin typeface="Calibri" pitchFamily="34" charset="0"/>
                <a:ea typeface="Calibri" pitchFamily="34" charset="-122"/>
                <a:cs typeface="Calibri" pitchFamily="34" charset="-120"/>
              </a:rPr>
              <a:t>0%</a:t>
            </a:r>
            <a:endParaRPr lang="en-US" sz="1200" dirty="0"/>
          </a:p>
        </p:txBody>
      </p:sp>
      <p:sp>
        <p:nvSpPr>
          <p:cNvPr id="112" name="Shape 101"/>
          <p:cNvSpPr/>
          <p:nvPr/>
        </p:nvSpPr>
        <p:spPr>
          <a:xfrm>
            <a:off x="9939528" y="5129784"/>
            <a:ext cx="237744" cy="237744"/>
          </a:xfrm>
          <a:prstGeom prst="ellipse">
            <a:avLst/>
          </a:prstGeom>
          <a:solidFill>
            <a:srgbClr val="C0392B"/>
          </a:solidFill>
          <a:ln w="12700">
            <a:solidFill>
              <a:srgbClr val="C0392B"/>
            </a:solidFill>
            <a:prstDash val="solid"/>
          </a:ln>
        </p:spPr>
      </p:sp>
      <p:sp>
        <p:nvSpPr>
          <p:cNvPr id="113" name="Text 102"/>
          <p:cNvSpPr txBox="1"/>
          <p:nvPr/>
        </p:nvSpPr>
        <p:spPr>
          <a:xfrm>
            <a:off x="10232136" y="4992624"/>
            <a:ext cx="594360" cy="512064"/>
          </a:xfrm>
          <a:prstGeom prst="rect">
            <a:avLst/>
          </a:prstGeom>
          <a:noFill/>
          <a:ln/>
        </p:spPr>
        <p:txBody>
          <a:bodyPr wrap="square" lIns="0" tIns="0" rIns="0" bIns="0" rtlCol="0" anchor="ctr"/>
          <a:lstStyle/>
          <a:p>
            <a:pPr indent="0" marL="0">
              <a:buNone/>
            </a:pPr>
            <a:r>
              <a:rPr lang="en-US" sz="1200" b="1" dirty="0">
                <a:solidFill>
                  <a:srgbClr val="1F2933"/>
                </a:solidFill>
                <a:latin typeface="Calibri" pitchFamily="34" charset="0"/>
                <a:ea typeface="Calibri" pitchFamily="34" charset="-122"/>
                <a:cs typeface="Calibri" pitchFamily="34" charset="-120"/>
              </a:rPr>
              <a:t>17%</a:t>
            </a:r>
            <a:endParaRPr lang="en-US" sz="1200" dirty="0"/>
          </a:p>
        </p:txBody>
      </p:sp>
      <p:sp>
        <p:nvSpPr>
          <p:cNvPr id="114" name="Shape 103"/>
          <p:cNvSpPr/>
          <p:nvPr/>
        </p:nvSpPr>
        <p:spPr>
          <a:xfrm>
            <a:off x="11018520" y="5102352"/>
            <a:ext cx="533095" cy="292608"/>
          </a:xfrm>
          <a:prstGeom prst="roundRect">
            <a:avLst>
              <a:gd name="adj" fmla="val 50000"/>
            </a:avLst>
          </a:prstGeom>
          <a:solidFill>
            <a:srgbClr val="C0392B"/>
          </a:solidFill>
          <a:ln w="12700">
            <a:solidFill>
              <a:srgbClr val="C0392B"/>
            </a:solidFill>
            <a:prstDash val="solid"/>
          </a:ln>
        </p:spPr>
      </p:sp>
      <p:sp>
        <p:nvSpPr>
          <p:cNvPr id="115" name="Text 104"/>
          <p:cNvSpPr txBox="1"/>
          <p:nvPr/>
        </p:nvSpPr>
        <p:spPr>
          <a:xfrm>
            <a:off x="11018520" y="5102352"/>
            <a:ext cx="533095"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Act</a:t>
            </a:r>
            <a:endParaRPr lang="en-US" sz="1100" dirty="0"/>
          </a:p>
        </p:txBody>
      </p:sp>
      <p:sp>
        <p:nvSpPr>
          <p:cNvPr id="116" name="Shape 105"/>
          <p:cNvSpPr/>
          <p:nvPr/>
        </p:nvSpPr>
        <p:spPr>
          <a:xfrm>
            <a:off x="548640" y="5504688"/>
            <a:ext cx="11094415" cy="512064"/>
          </a:xfrm>
          <a:prstGeom prst="rect">
            <a:avLst/>
          </a:prstGeom>
          <a:solidFill>
            <a:srgbClr val="F1F7EE"/>
          </a:solidFill>
          <a:ln w="12700">
            <a:solidFill>
              <a:srgbClr val="F1F7EE"/>
            </a:solidFill>
            <a:prstDash val="solid"/>
          </a:ln>
        </p:spPr>
      </p:sp>
      <p:sp>
        <p:nvSpPr>
          <p:cNvPr id="117" name="Text 106"/>
          <p:cNvSpPr txBox="1"/>
          <p:nvPr/>
        </p:nvSpPr>
        <p:spPr>
          <a:xfrm>
            <a:off x="658368" y="5504688"/>
            <a:ext cx="2057400" cy="512064"/>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Saikiran Nadella</a:t>
            </a:r>
            <a:endParaRPr lang="en-US" sz="1300" dirty="0"/>
          </a:p>
        </p:txBody>
      </p:sp>
      <p:sp>
        <p:nvSpPr>
          <p:cNvPr id="118" name="Shape 107"/>
          <p:cNvSpPr/>
          <p:nvPr/>
        </p:nvSpPr>
        <p:spPr>
          <a:xfrm>
            <a:off x="2697480" y="5660136"/>
            <a:ext cx="815546" cy="201168"/>
          </a:xfrm>
          <a:prstGeom prst="rect">
            <a:avLst/>
          </a:prstGeom>
          <a:solidFill>
            <a:srgbClr val="1E5B34"/>
          </a:solidFill>
          <a:ln w="9525">
            <a:solidFill>
              <a:srgbClr val="FFFFFF"/>
            </a:solidFill>
            <a:prstDash val="solid"/>
          </a:ln>
        </p:spPr>
      </p:sp>
      <p:sp>
        <p:nvSpPr>
          <p:cNvPr id="119" name="Shape 108"/>
          <p:cNvSpPr/>
          <p:nvPr/>
        </p:nvSpPr>
        <p:spPr>
          <a:xfrm>
            <a:off x="3513026" y="5660136"/>
            <a:ext cx="203886" cy="201168"/>
          </a:xfrm>
          <a:prstGeom prst="rect">
            <a:avLst/>
          </a:prstGeom>
          <a:solidFill>
            <a:srgbClr val="368727"/>
          </a:solidFill>
          <a:ln w="9525">
            <a:solidFill>
              <a:srgbClr val="FFFFFF"/>
            </a:solidFill>
            <a:prstDash val="solid"/>
          </a:ln>
        </p:spPr>
      </p:sp>
      <p:sp>
        <p:nvSpPr>
          <p:cNvPr id="120" name="Shape 109"/>
          <p:cNvSpPr/>
          <p:nvPr/>
        </p:nvSpPr>
        <p:spPr>
          <a:xfrm>
            <a:off x="3716912" y="5660136"/>
            <a:ext cx="135924" cy="201168"/>
          </a:xfrm>
          <a:prstGeom prst="rect">
            <a:avLst/>
          </a:prstGeom>
          <a:solidFill>
            <a:srgbClr val="A9D08E"/>
          </a:solidFill>
          <a:ln w="9525">
            <a:solidFill>
              <a:srgbClr val="FFFFFF"/>
            </a:solidFill>
            <a:prstDash val="solid"/>
          </a:ln>
        </p:spPr>
      </p:sp>
      <p:sp>
        <p:nvSpPr>
          <p:cNvPr id="121" name="Shape 110"/>
          <p:cNvSpPr/>
          <p:nvPr/>
        </p:nvSpPr>
        <p:spPr>
          <a:xfrm>
            <a:off x="3852837" y="5660136"/>
            <a:ext cx="407773" cy="201168"/>
          </a:xfrm>
          <a:prstGeom prst="rect">
            <a:avLst/>
          </a:prstGeom>
          <a:solidFill>
            <a:srgbClr val="4A6572"/>
          </a:solidFill>
          <a:ln w="9525">
            <a:solidFill>
              <a:srgbClr val="FFFFFF"/>
            </a:solidFill>
            <a:prstDash val="solid"/>
          </a:ln>
        </p:spPr>
      </p:sp>
      <p:sp>
        <p:nvSpPr>
          <p:cNvPr id="122" name="Shape 111"/>
          <p:cNvSpPr/>
          <p:nvPr/>
        </p:nvSpPr>
        <p:spPr>
          <a:xfrm>
            <a:off x="4260610" y="5660136"/>
            <a:ext cx="67962" cy="201168"/>
          </a:xfrm>
          <a:prstGeom prst="rect">
            <a:avLst/>
          </a:prstGeom>
          <a:solidFill>
            <a:srgbClr val="8FA3AD"/>
          </a:solidFill>
          <a:ln w="9525">
            <a:solidFill>
              <a:srgbClr val="FFFFFF"/>
            </a:solidFill>
            <a:prstDash val="solid"/>
          </a:ln>
        </p:spPr>
      </p:sp>
      <p:sp>
        <p:nvSpPr>
          <p:cNvPr id="123" name="Shape 112"/>
          <p:cNvSpPr/>
          <p:nvPr/>
        </p:nvSpPr>
        <p:spPr>
          <a:xfrm>
            <a:off x="4328572" y="5660136"/>
            <a:ext cx="883508" cy="201168"/>
          </a:xfrm>
          <a:prstGeom prst="rect">
            <a:avLst/>
          </a:prstGeom>
          <a:solidFill>
            <a:srgbClr val="D5D9DE"/>
          </a:solidFill>
          <a:ln w="9525">
            <a:solidFill>
              <a:srgbClr val="FFFFFF"/>
            </a:solidFill>
            <a:prstDash val="solid"/>
          </a:ln>
        </p:spPr>
      </p:sp>
      <p:sp>
        <p:nvSpPr>
          <p:cNvPr id="124" name="Shape 113"/>
          <p:cNvSpPr/>
          <p:nvPr/>
        </p:nvSpPr>
        <p:spPr>
          <a:xfrm>
            <a:off x="5623560" y="5641848"/>
            <a:ext cx="237744" cy="237744"/>
          </a:xfrm>
          <a:prstGeom prst="ellipse">
            <a:avLst/>
          </a:prstGeom>
          <a:solidFill>
            <a:srgbClr val="C0392B"/>
          </a:solidFill>
          <a:ln w="12700">
            <a:solidFill>
              <a:srgbClr val="C0392B"/>
            </a:solidFill>
            <a:prstDash val="solid"/>
          </a:ln>
        </p:spPr>
      </p:sp>
      <p:sp>
        <p:nvSpPr>
          <p:cNvPr id="125" name="Text 114"/>
          <p:cNvSpPr txBox="1"/>
          <p:nvPr/>
        </p:nvSpPr>
        <p:spPr>
          <a:xfrm>
            <a:off x="5916168" y="5504688"/>
            <a:ext cx="594360" cy="512064"/>
          </a:xfrm>
          <a:prstGeom prst="rect">
            <a:avLst/>
          </a:prstGeom>
          <a:noFill/>
          <a:ln/>
        </p:spPr>
        <p:txBody>
          <a:bodyPr wrap="square" lIns="0" tIns="0" rIns="0" bIns="0" rtlCol="0" anchor="ctr"/>
          <a:lstStyle/>
          <a:p>
            <a:pPr indent="0" marL="0">
              <a:buNone/>
            </a:pPr>
            <a:r>
              <a:rPr lang="en-US" sz="1200" b="1" dirty="0">
                <a:solidFill>
                  <a:srgbClr val="1F2933"/>
                </a:solidFill>
                <a:latin typeface="Calibri" pitchFamily="34" charset="0"/>
                <a:ea typeface="Calibri" pitchFamily="34" charset="-122"/>
                <a:cs typeface="Calibri" pitchFamily="34" charset="-120"/>
              </a:rPr>
              <a:t>32%</a:t>
            </a:r>
            <a:endParaRPr lang="en-US" sz="1200" dirty="0"/>
          </a:p>
        </p:txBody>
      </p:sp>
      <p:sp>
        <p:nvSpPr>
          <p:cNvPr id="126" name="Shape 115"/>
          <p:cNvSpPr/>
          <p:nvPr/>
        </p:nvSpPr>
        <p:spPr>
          <a:xfrm>
            <a:off x="6702552" y="5641848"/>
            <a:ext cx="237744" cy="237744"/>
          </a:xfrm>
          <a:prstGeom prst="ellipse">
            <a:avLst/>
          </a:prstGeom>
          <a:solidFill>
            <a:srgbClr val="E0A31A"/>
          </a:solidFill>
          <a:ln w="12700">
            <a:solidFill>
              <a:srgbClr val="E0A31A"/>
            </a:solidFill>
            <a:prstDash val="solid"/>
          </a:ln>
        </p:spPr>
      </p:sp>
      <p:sp>
        <p:nvSpPr>
          <p:cNvPr id="127" name="Text 116"/>
          <p:cNvSpPr txBox="1"/>
          <p:nvPr/>
        </p:nvSpPr>
        <p:spPr>
          <a:xfrm>
            <a:off x="6995160" y="5504688"/>
            <a:ext cx="594360" cy="512064"/>
          </a:xfrm>
          <a:prstGeom prst="rect">
            <a:avLst/>
          </a:prstGeom>
          <a:noFill/>
          <a:ln/>
        </p:spPr>
        <p:txBody>
          <a:bodyPr wrap="square" lIns="0" tIns="0" rIns="0" bIns="0" rtlCol="0" anchor="ctr"/>
          <a:lstStyle/>
          <a:p>
            <a:pPr indent="0" marL="0">
              <a:buNone/>
            </a:pPr>
            <a:r>
              <a:rPr lang="en-US" sz="1200" b="1" dirty="0">
                <a:solidFill>
                  <a:srgbClr val="1F2933"/>
                </a:solidFill>
                <a:latin typeface="Calibri" pitchFamily="34" charset="0"/>
                <a:ea typeface="Calibri" pitchFamily="34" charset="-122"/>
                <a:cs typeface="Calibri" pitchFamily="34" charset="-120"/>
              </a:rPr>
              <a:t>4.2</a:t>
            </a:r>
            <a:endParaRPr lang="en-US" sz="1200" dirty="0"/>
          </a:p>
        </p:txBody>
      </p:sp>
      <p:sp>
        <p:nvSpPr>
          <p:cNvPr id="128" name="Shape 117"/>
          <p:cNvSpPr/>
          <p:nvPr/>
        </p:nvSpPr>
        <p:spPr>
          <a:xfrm>
            <a:off x="7781544" y="5641848"/>
            <a:ext cx="237744" cy="237744"/>
          </a:xfrm>
          <a:prstGeom prst="ellipse">
            <a:avLst/>
          </a:prstGeom>
          <a:solidFill>
            <a:srgbClr val="C0392B"/>
          </a:solidFill>
          <a:ln w="12700">
            <a:solidFill>
              <a:srgbClr val="C0392B"/>
            </a:solidFill>
            <a:prstDash val="solid"/>
          </a:ln>
        </p:spPr>
      </p:sp>
      <p:sp>
        <p:nvSpPr>
          <p:cNvPr id="129" name="Text 118"/>
          <p:cNvSpPr txBox="1"/>
          <p:nvPr/>
        </p:nvSpPr>
        <p:spPr>
          <a:xfrm>
            <a:off x="8074152" y="5504688"/>
            <a:ext cx="594360" cy="512064"/>
          </a:xfrm>
          <a:prstGeom prst="rect">
            <a:avLst/>
          </a:prstGeom>
          <a:noFill/>
          <a:ln/>
        </p:spPr>
        <p:txBody>
          <a:bodyPr wrap="square" lIns="0" tIns="0" rIns="0" bIns="0" rtlCol="0" anchor="ctr"/>
          <a:lstStyle/>
          <a:p>
            <a:pPr indent="0" marL="0">
              <a:buNone/>
            </a:pPr>
            <a:r>
              <a:rPr lang="en-US" sz="1200" b="1" dirty="0">
                <a:solidFill>
                  <a:srgbClr val="1F2933"/>
                </a:solidFill>
                <a:latin typeface="Calibri" pitchFamily="34" charset="0"/>
                <a:ea typeface="Calibri" pitchFamily="34" charset="-122"/>
                <a:cs typeface="Calibri" pitchFamily="34" charset="-120"/>
              </a:rPr>
              <a:t>38%</a:t>
            </a:r>
            <a:endParaRPr lang="en-US" sz="1200" dirty="0"/>
          </a:p>
        </p:txBody>
      </p:sp>
      <p:sp>
        <p:nvSpPr>
          <p:cNvPr id="130" name="Shape 119"/>
          <p:cNvSpPr/>
          <p:nvPr/>
        </p:nvSpPr>
        <p:spPr>
          <a:xfrm>
            <a:off x="8860536" y="5641848"/>
            <a:ext cx="237744" cy="237744"/>
          </a:xfrm>
          <a:prstGeom prst="ellipse">
            <a:avLst/>
          </a:prstGeom>
          <a:solidFill>
            <a:srgbClr val="C0392B"/>
          </a:solidFill>
          <a:ln w="12700">
            <a:solidFill>
              <a:srgbClr val="C0392B"/>
            </a:solidFill>
            <a:prstDash val="solid"/>
          </a:ln>
        </p:spPr>
      </p:sp>
      <p:sp>
        <p:nvSpPr>
          <p:cNvPr id="131" name="Text 120"/>
          <p:cNvSpPr txBox="1"/>
          <p:nvPr/>
        </p:nvSpPr>
        <p:spPr>
          <a:xfrm>
            <a:off x="9153144" y="5504688"/>
            <a:ext cx="594360" cy="512064"/>
          </a:xfrm>
          <a:prstGeom prst="rect">
            <a:avLst/>
          </a:prstGeom>
          <a:noFill/>
          <a:ln/>
        </p:spPr>
        <p:txBody>
          <a:bodyPr wrap="square" lIns="0" tIns="0" rIns="0" bIns="0" rtlCol="0" anchor="ctr"/>
          <a:lstStyle/>
          <a:p>
            <a:pPr indent="0" marL="0">
              <a:buNone/>
            </a:pPr>
            <a:r>
              <a:rPr lang="en-US" sz="1200" b="1" dirty="0">
                <a:solidFill>
                  <a:srgbClr val="1F2933"/>
                </a:solidFill>
                <a:latin typeface="Calibri" pitchFamily="34" charset="0"/>
                <a:ea typeface="Calibri" pitchFamily="34" charset="-122"/>
                <a:cs typeface="Calibri" pitchFamily="34" charset="-120"/>
              </a:rPr>
              <a:t>5%</a:t>
            </a:r>
            <a:endParaRPr lang="en-US" sz="1200" dirty="0"/>
          </a:p>
        </p:txBody>
      </p:sp>
      <p:sp>
        <p:nvSpPr>
          <p:cNvPr id="132" name="Shape 121"/>
          <p:cNvSpPr/>
          <p:nvPr/>
        </p:nvSpPr>
        <p:spPr>
          <a:xfrm>
            <a:off x="9939528" y="5641848"/>
            <a:ext cx="237744" cy="237744"/>
          </a:xfrm>
          <a:prstGeom prst="ellipse">
            <a:avLst/>
          </a:prstGeom>
          <a:solidFill>
            <a:srgbClr val="C0392B"/>
          </a:solidFill>
          <a:ln w="12700">
            <a:solidFill>
              <a:srgbClr val="C0392B"/>
            </a:solidFill>
            <a:prstDash val="solid"/>
          </a:ln>
        </p:spPr>
      </p:sp>
      <p:sp>
        <p:nvSpPr>
          <p:cNvPr id="133" name="Text 122"/>
          <p:cNvSpPr txBox="1"/>
          <p:nvPr/>
        </p:nvSpPr>
        <p:spPr>
          <a:xfrm>
            <a:off x="10232136" y="5504688"/>
            <a:ext cx="594360" cy="512064"/>
          </a:xfrm>
          <a:prstGeom prst="rect">
            <a:avLst/>
          </a:prstGeom>
          <a:noFill/>
          <a:ln/>
        </p:spPr>
        <p:txBody>
          <a:bodyPr wrap="square" lIns="0" tIns="0" rIns="0" bIns="0" rtlCol="0" anchor="ctr"/>
          <a:lstStyle/>
          <a:p>
            <a:pPr indent="0" marL="0">
              <a:buNone/>
            </a:pPr>
            <a:r>
              <a:rPr lang="en-US" sz="1200" b="1" dirty="0">
                <a:solidFill>
                  <a:srgbClr val="1F2933"/>
                </a:solidFill>
                <a:latin typeface="Calibri" pitchFamily="34" charset="0"/>
                <a:ea typeface="Calibri" pitchFamily="34" charset="-122"/>
                <a:cs typeface="Calibri" pitchFamily="34" charset="-120"/>
              </a:rPr>
              <a:t>65%</a:t>
            </a:r>
            <a:endParaRPr lang="en-US" sz="1200" dirty="0"/>
          </a:p>
        </p:txBody>
      </p:sp>
      <p:sp>
        <p:nvSpPr>
          <p:cNvPr id="134" name="Shape 123"/>
          <p:cNvSpPr/>
          <p:nvPr/>
        </p:nvSpPr>
        <p:spPr>
          <a:xfrm>
            <a:off x="11018520" y="5614416"/>
            <a:ext cx="533095" cy="292608"/>
          </a:xfrm>
          <a:prstGeom prst="roundRect">
            <a:avLst>
              <a:gd name="adj" fmla="val 50000"/>
            </a:avLst>
          </a:prstGeom>
          <a:solidFill>
            <a:srgbClr val="C0392B"/>
          </a:solidFill>
          <a:ln w="12700">
            <a:solidFill>
              <a:srgbClr val="C0392B"/>
            </a:solidFill>
            <a:prstDash val="solid"/>
          </a:ln>
        </p:spPr>
      </p:sp>
      <p:sp>
        <p:nvSpPr>
          <p:cNvPr id="135" name="Text 124"/>
          <p:cNvSpPr txBox="1"/>
          <p:nvPr/>
        </p:nvSpPr>
        <p:spPr>
          <a:xfrm>
            <a:off x="11018520" y="5614416"/>
            <a:ext cx="533095"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Act</a:t>
            </a:r>
            <a:endParaRPr lang="en-US" sz="1100" dirty="0"/>
          </a:p>
        </p:txBody>
      </p:sp>
      <p:sp>
        <p:nvSpPr>
          <p:cNvPr id="136" name="Shape 125"/>
          <p:cNvSpPr/>
          <p:nvPr/>
        </p:nvSpPr>
        <p:spPr>
          <a:xfrm>
            <a:off x="548640" y="6190488"/>
            <a:ext cx="146304" cy="146304"/>
          </a:xfrm>
          <a:prstGeom prst="rect">
            <a:avLst/>
          </a:prstGeom>
          <a:solidFill>
            <a:srgbClr val="1E5B34"/>
          </a:solidFill>
          <a:ln w="12700">
            <a:solidFill>
              <a:srgbClr val="1E5B34"/>
            </a:solidFill>
            <a:prstDash val="solid"/>
          </a:ln>
        </p:spPr>
      </p:sp>
      <p:sp>
        <p:nvSpPr>
          <p:cNvPr id="137" name="Text 126"/>
          <p:cNvSpPr txBox="1"/>
          <p:nvPr/>
        </p:nvSpPr>
        <p:spPr>
          <a:xfrm>
            <a:off x="749808" y="6126480"/>
            <a:ext cx="1005840" cy="27432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Spring Boot</a:t>
            </a:r>
            <a:endParaRPr lang="en-US" sz="1000" dirty="0"/>
          </a:p>
        </p:txBody>
      </p:sp>
      <p:sp>
        <p:nvSpPr>
          <p:cNvPr id="138" name="Shape 127"/>
          <p:cNvSpPr/>
          <p:nvPr/>
        </p:nvSpPr>
        <p:spPr>
          <a:xfrm>
            <a:off x="1645920" y="6190488"/>
            <a:ext cx="146304" cy="146304"/>
          </a:xfrm>
          <a:prstGeom prst="rect">
            <a:avLst/>
          </a:prstGeom>
          <a:solidFill>
            <a:srgbClr val="368727"/>
          </a:solidFill>
          <a:ln w="12700">
            <a:solidFill>
              <a:srgbClr val="368727"/>
            </a:solidFill>
            <a:prstDash val="solid"/>
          </a:ln>
        </p:spPr>
      </p:sp>
      <p:sp>
        <p:nvSpPr>
          <p:cNvPr id="139" name="Text 128"/>
          <p:cNvSpPr txBox="1"/>
          <p:nvPr/>
        </p:nvSpPr>
        <p:spPr>
          <a:xfrm>
            <a:off x="1847088" y="6126480"/>
            <a:ext cx="1005840" cy="27432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Batch</a:t>
            </a:r>
            <a:endParaRPr lang="en-US" sz="1000" dirty="0"/>
          </a:p>
        </p:txBody>
      </p:sp>
      <p:sp>
        <p:nvSpPr>
          <p:cNvPr id="140" name="Shape 129"/>
          <p:cNvSpPr/>
          <p:nvPr/>
        </p:nvSpPr>
        <p:spPr>
          <a:xfrm>
            <a:off x="2487168" y="6190488"/>
            <a:ext cx="146304" cy="146304"/>
          </a:xfrm>
          <a:prstGeom prst="rect">
            <a:avLst/>
          </a:prstGeom>
          <a:solidFill>
            <a:srgbClr val="A9D08E"/>
          </a:solidFill>
          <a:ln w="12700">
            <a:solidFill>
              <a:srgbClr val="A9D08E"/>
            </a:solidFill>
            <a:prstDash val="solid"/>
          </a:ln>
        </p:spPr>
      </p:sp>
      <p:sp>
        <p:nvSpPr>
          <p:cNvPr id="141" name="Text 130"/>
          <p:cNvSpPr txBox="1"/>
          <p:nvPr/>
        </p:nvSpPr>
        <p:spPr>
          <a:xfrm>
            <a:off x="2688336" y="6126480"/>
            <a:ext cx="1005840" cy="27432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UI / Angular</a:t>
            </a:r>
            <a:endParaRPr lang="en-US" sz="1000" dirty="0"/>
          </a:p>
        </p:txBody>
      </p:sp>
      <p:sp>
        <p:nvSpPr>
          <p:cNvPr id="142" name="Shape 131"/>
          <p:cNvSpPr/>
          <p:nvPr/>
        </p:nvSpPr>
        <p:spPr>
          <a:xfrm>
            <a:off x="3584448" y="6190488"/>
            <a:ext cx="146304" cy="146304"/>
          </a:xfrm>
          <a:prstGeom prst="rect">
            <a:avLst/>
          </a:prstGeom>
          <a:solidFill>
            <a:srgbClr val="6BA55D"/>
          </a:solidFill>
          <a:ln w="12700">
            <a:solidFill>
              <a:srgbClr val="6BA55D"/>
            </a:solidFill>
            <a:prstDash val="solid"/>
          </a:ln>
        </p:spPr>
      </p:sp>
      <p:sp>
        <p:nvSpPr>
          <p:cNvPr id="143" name="Text 132"/>
          <p:cNvSpPr txBox="1"/>
          <p:nvPr/>
        </p:nvSpPr>
        <p:spPr>
          <a:xfrm>
            <a:off x="3785616" y="6126480"/>
            <a:ext cx="1005840" cy="27432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Library</a:t>
            </a:r>
            <a:endParaRPr lang="en-US" sz="1000" dirty="0"/>
          </a:p>
        </p:txBody>
      </p:sp>
      <p:sp>
        <p:nvSpPr>
          <p:cNvPr id="144" name="Shape 133"/>
          <p:cNvSpPr/>
          <p:nvPr/>
        </p:nvSpPr>
        <p:spPr>
          <a:xfrm>
            <a:off x="4425696" y="6190488"/>
            <a:ext cx="146304" cy="146304"/>
          </a:xfrm>
          <a:prstGeom prst="rect">
            <a:avLst/>
          </a:prstGeom>
          <a:solidFill>
            <a:srgbClr val="4A6572"/>
          </a:solidFill>
          <a:ln w="12700">
            <a:solidFill>
              <a:srgbClr val="4A6572"/>
            </a:solidFill>
            <a:prstDash val="solid"/>
          </a:ln>
        </p:spPr>
      </p:sp>
      <p:sp>
        <p:nvSpPr>
          <p:cNvPr id="145" name="Text 134"/>
          <p:cNvSpPr txBox="1"/>
          <p:nvPr/>
        </p:nvSpPr>
        <p:spPr>
          <a:xfrm>
            <a:off x="4626864" y="6126480"/>
            <a:ext cx="1005840" cy="27432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Automation</a:t>
            </a:r>
            <a:endParaRPr lang="en-US" sz="1000" dirty="0"/>
          </a:p>
        </p:txBody>
      </p:sp>
      <p:sp>
        <p:nvSpPr>
          <p:cNvPr id="146" name="Shape 135"/>
          <p:cNvSpPr/>
          <p:nvPr/>
        </p:nvSpPr>
        <p:spPr>
          <a:xfrm>
            <a:off x="5522976" y="6190488"/>
            <a:ext cx="146304" cy="146304"/>
          </a:xfrm>
          <a:prstGeom prst="rect">
            <a:avLst/>
          </a:prstGeom>
          <a:solidFill>
            <a:srgbClr val="8FA3AD"/>
          </a:solidFill>
          <a:ln w="12700">
            <a:solidFill>
              <a:srgbClr val="8FA3AD"/>
            </a:solidFill>
            <a:prstDash val="solid"/>
          </a:ln>
        </p:spPr>
      </p:sp>
      <p:sp>
        <p:nvSpPr>
          <p:cNvPr id="147" name="Text 136"/>
          <p:cNvSpPr txBox="1"/>
          <p:nvPr/>
        </p:nvSpPr>
        <p:spPr>
          <a:xfrm>
            <a:off x="5724144" y="6126480"/>
            <a:ext cx="1005840" cy="27432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Misc</a:t>
            </a:r>
            <a:endParaRPr lang="en-US" sz="1000" dirty="0"/>
          </a:p>
        </p:txBody>
      </p:sp>
      <p:sp>
        <p:nvSpPr>
          <p:cNvPr id="148" name="Shape 137"/>
          <p:cNvSpPr/>
          <p:nvPr/>
        </p:nvSpPr>
        <p:spPr>
          <a:xfrm>
            <a:off x="6364224" y="6190488"/>
            <a:ext cx="146304" cy="146304"/>
          </a:xfrm>
          <a:prstGeom prst="rect">
            <a:avLst/>
          </a:prstGeom>
          <a:solidFill>
            <a:srgbClr val="D5D9DE"/>
          </a:solidFill>
          <a:ln w="12700">
            <a:solidFill>
              <a:srgbClr val="D5D9DE"/>
            </a:solidFill>
            <a:prstDash val="solid"/>
          </a:ln>
        </p:spPr>
      </p:sp>
      <p:sp>
        <p:nvSpPr>
          <p:cNvPr id="149" name="Text 138"/>
          <p:cNvSpPr txBox="1"/>
          <p:nvPr/>
        </p:nvSpPr>
        <p:spPr>
          <a:xfrm>
            <a:off x="6565392" y="6126480"/>
            <a:ext cx="1005840" cy="27432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Unclassified</a:t>
            </a:r>
            <a:endParaRPr lang="en-US" sz="1000" dirty="0"/>
          </a:p>
        </p:txBody>
      </p:sp>
      <p:sp>
        <p:nvSpPr>
          <p:cNvPr id="150" name="Shape 139"/>
          <p:cNvSpPr/>
          <p:nvPr/>
        </p:nvSpPr>
        <p:spPr>
          <a:xfrm>
            <a:off x="7735824" y="6181344"/>
            <a:ext cx="164592" cy="164592"/>
          </a:xfrm>
          <a:prstGeom prst="ellipse">
            <a:avLst/>
          </a:prstGeom>
          <a:solidFill>
            <a:srgbClr val="368727"/>
          </a:solidFill>
          <a:ln w="12700">
            <a:solidFill>
              <a:srgbClr val="368727"/>
            </a:solidFill>
            <a:prstDash val="solid"/>
          </a:ln>
        </p:spPr>
      </p:sp>
      <p:sp>
        <p:nvSpPr>
          <p:cNvPr id="151" name="Text 140"/>
          <p:cNvSpPr txBox="1"/>
          <p:nvPr/>
        </p:nvSpPr>
        <p:spPr>
          <a:xfrm>
            <a:off x="7964424" y="6126480"/>
            <a:ext cx="731520" cy="27432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On track</a:t>
            </a:r>
            <a:endParaRPr lang="en-US" sz="1000" dirty="0"/>
          </a:p>
        </p:txBody>
      </p:sp>
      <p:sp>
        <p:nvSpPr>
          <p:cNvPr id="152" name="Shape 141"/>
          <p:cNvSpPr/>
          <p:nvPr/>
        </p:nvSpPr>
        <p:spPr>
          <a:xfrm>
            <a:off x="8604504" y="6181344"/>
            <a:ext cx="164592" cy="164592"/>
          </a:xfrm>
          <a:prstGeom prst="ellipse">
            <a:avLst/>
          </a:prstGeom>
          <a:solidFill>
            <a:srgbClr val="E0A31A"/>
          </a:solidFill>
          <a:ln w="12700">
            <a:solidFill>
              <a:srgbClr val="E0A31A"/>
            </a:solidFill>
            <a:prstDash val="solid"/>
          </a:ln>
        </p:spPr>
      </p:sp>
      <p:sp>
        <p:nvSpPr>
          <p:cNvPr id="153" name="Text 142"/>
          <p:cNvSpPr txBox="1"/>
          <p:nvPr/>
        </p:nvSpPr>
        <p:spPr>
          <a:xfrm>
            <a:off x="8833104" y="6126480"/>
            <a:ext cx="731520" cy="27432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Watch</a:t>
            </a:r>
            <a:endParaRPr lang="en-US" sz="1000" dirty="0"/>
          </a:p>
        </p:txBody>
      </p:sp>
      <p:sp>
        <p:nvSpPr>
          <p:cNvPr id="154" name="Shape 143"/>
          <p:cNvSpPr/>
          <p:nvPr/>
        </p:nvSpPr>
        <p:spPr>
          <a:xfrm>
            <a:off x="9473184" y="6181344"/>
            <a:ext cx="164592" cy="164592"/>
          </a:xfrm>
          <a:prstGeom prst="ellipse">
            <a:avLst/>
          </a:prstGeom>
          <a:solidFill>
            <a:srgbClr val="C0392B"/>
          </a:solidFill>
          <a:ln w="12700">
            <a:solidFill>
              <a:srgbClr val="C0392B"/>
            </a:solidFill>
            <a:prstDash val="solid"/>
          </a:ln>
        </p:spPr>
      </p:sp>
      <p:sp>
        <p:nvSpPr>
          <p:cNvPr id="155" name="Text 144"/>
          <p:cNvSpPr txBox="1"/>
          <p:nvPr/>
        </p:nvSpPr>
        <p:spPr>
          <a:xfrm>
            <a:off x="9701784" y="6126480"/>
            <a:ext cx="731520" cy="27432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Act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548640"/>
          </a:xfrm>
          <a:prstGeom prst="rect">
            <a:avLst/>
          </a:prstGeom>
          <a:noFill/>
          <a:ln/>
        </p:spPr>
        <p:txBody>
          <a:bodyPr wrap="square" lIns="0" tIns="0" rIns="0" bIns="0" rtlCol="0" anchor="ctr"/>
          <a:lstStyle/>
          <a:p>
            <a:pPr indent="0" marL="0">
              <a:buNone/>
            </a:pPr>
            <a:r>
              <a:rPr lang="en-US" sz="2800" b="1" dirty="0">
                <a:solidFill>
                  <a:srgbClr val="12402A"/>
                </a:solidFill>
                <a:latin typeface="Calibri" pitchFamily="34" charset="0"/>
                <a:ea typeface="Calibri" pitchFamily="34" charset="-122"/>
                <a:cs typeface="Calibri" pitchFamily="34" charset="-120"/>
              </a:rPr>
              <a:t>Nine weeks to the EOL wave: four moves to make first</a:t>
            </a:r>
            <a:endParaRPr lang="en-US" sz="2800" dirty="0"/>
          </a:p>
        </p:txBody>
      </p:sp>
      <p:sp>
        <p:nvSpPr>
          <p:cNvPr id="3" name="Text 1"/>
          <p:cNvSpPr txBox="1"/>
          <p:nvPr/>
        </p:nvSpPr>
        <p:spPr>
          <a:xfrm>
            <a:off x="548640" y="868680"/>
            <a:ext cx="11094415" cy="320040"/>
          </a:xfrm>
          <a:prstGeom prst="rect">
            <a:avLst/>
          </a:prstGeom>
          <a:noFill/>
          <a:ln/>
        </p:spPr>
        <p:txBody>
          <a:bodyPr wrap="square" lIns="0" tIns="0" rIns="0" bIns="0" rtlCol="0" anchor="ctr"/>
          <a:lstStyle/>
          <a:p>
            <a:pPr indent="0" marL="0">
              <a:buNone/>
            </a:pPr>
            <a:r>
              <a:rPr lang="en-US" sz="1300" dirty="0">
                <a:solidFill>
                  <a:srgbClr val="5B6670"/>
                </a:solidFill>
                <a:latin typeface="Calibri" pitchFamily="34" charset="0"/>
                <a:ea typeface="Calibri" pitchFamily="34" charset="-122"/>
                <a:cs typeface="Calibri" pitchFamily="34" charset="-120"/>
              </a:rPr>
              <a:t>Action roadmap from today to 1 Dec 2026, and where the exposure sits</a:t>
            </a:r>
            <a:endParaRPr lang="en-US" sz="1300" dirty="0"/>
          </a:p>
        </p:txBody>
      </p:sp>
      <p:sp>
        <p:nvSpPr>
          <p:cNvPr id="4" name="Text 2"/>
          <p:cNvSpPr txBox="1"/>
          <p:nvPr/>
        </p:nvSpPr>
        <p:spPr>
          <a:xfrm>
            <a:off x="7040880" y="6473952"/>
            <a:ext cx="4599432" cy="22860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SAMPLE DATA — illustrative  ·  App Inventory, Sep 2026  ·  3</a:t>
            </a:r>
            <a:endParaRPr lang="en-US" sz="900" dirty="0"/>
          </a:p>
        </p:txBody>
      </p:sp>
      <p:sp>
        <p:nvSpPr>
          <p:cNvPr id="5" name="Shape 3"/>
          <p:cNvSpPr/>
          <p:nvPr/>
        </p:nvSpPr>
        <p:spPr>
          <a:xfrm>
            <a:off x="548640" y="1325880"/>
            <a:ext cx="11094415" cy="2423160"/>
          </a:xfrm>
          <a:prstGeom prst="roundRect">
            <a:avLst>
              <a:gd name="adj" fmla="val 3774"/>
            </a:avLst>
          </a:prstGeom>
          <a:solidFill>
            <a:srgbClr val="F1F7EE"/>
          </a:solidFill>
          <a:ln w="12700">
            <a:solidFill>
              <a:srgbClr val="F1F7EE"/>
            </a:solidFill>
            <a:prstDash val="solid"/>
          </a:ln>
        </p:spPr>
      </p:sp>
      <p:sp>
        <p:nvSpPr>
          <p:cNvPr id="6" name="Shape 4"/>
          <p:cNvSpPr/>
          <p:nvPr/>
        </p:nvSpPr>
        <p:spPr>
          <a:xfrm>
            <a:off x="822960" y="2487168"/>
            <a:ext cx="9997135" cy="54864"/>
          </a:xfrm>
          <a:prstGeom prst="rect">
            <a:avLst/>
          </a:prstGeom>
          <a:solidFill>
            <a:srgbClr val="A9D08E"/>
          </a:solidFill>
          <a:ln w="12700">
            <a:solidFill>
              <a:srgbClr val="A9D08E"/>
            </a:solidFill>
            <a:prstDash val="solid"/>
          </a:ln>
        </p:spPr>
      </p:sp>
      <p:sp>
        <p:nvSpPr>
          <p:cNvPr id="7" name="Shape 5"/>
          <p:cNvSpPr/>
          <p:nvPr/>
        </p:nvSpPr>
        <p:spPr>
          <a:xfrm>
            <a:off x="731520" y="2423160"/>
            <a:ext cx="182880" cy="182880"/>
          </a:xfrm>
          <a:prstGeom prst="ellipse">
            <a:avLst/>
          </a:prstGeom>
          <a:solidFill>
            <a:srgbClr val="12402A"/>
          </a:solidFill>
          <a:ln w="12700">
            <a:solidFill>
              <a:srgbClr val="12402A"/>
            </a:solidFill>
            <a:prstDash val="solid"/>
          </a:ln>
        </p:spPr>
      </p:sp>
      <p:sp>
        <p:nvSpPr>
          <p:cNvPr id="8" name="Text 6"/>
          <p:cNvSpPr txBox="1"/>
          <p:nvPr/>
        </p:nvSpPr>
        <p:spPr>
          <a:xfrm>
            <a:off x="502920" y="2697480"/>
            <a:ext cx="822960" cy="457200"/>
          </a:xfrm>
          <a:prstGeom prst="rect">
            <a:avLst/>
          </a:prstGeom>
          <a:noFill/>
          <a:ln/>
        </p:spPr>
        <p:txBody>
          <a:bodyPr wrap="square" lIns="0" tIns="0" rIns="0" bIns="0" rtlCol="0" anchor="ctr"/>
          <a:lstStyle/>
          <a:p>
            <a:pPr algn="l" indent="0" marL="0">
              <a:buNone/>
            </a:pPr>
            <a:r>
              <a:rPr lang="en-US" sz="1100" b="1" dirty="0">
                <a:solidFill>
                  <a:srgbClr val="12402A"/>
                </a:solidFill>
                <a:latin typeface="Calibri" pitchFamily="34" charset="0"/>
                <a:ea typeface="Calibri" pitchFamily="34" charset="-122"/>
                <a:cs typeface="Calibri" pitchFamily="34" charset="-120"/>
              </a:rPr>
              <a:t>Today</a:t>
            </a:r>
            <a:endParaRPr lang="en-US" sz="1100" dirty="0"/>
          </a:p>
          <a:p>
            <a:pPr algn="l" indent="0" marL="0">
              <a:buNone/>
            </a:pPr>
            <a:r>
              <a:rPr lang="en-US" sz="1100" dirty="0">
                <a:solidFill>
                  <a:srgbClr val="12402A"/>
                </a:solidFill>
                <a:latin typeface="Calibri" pitchFamily="34" charset="0"/>
                <a:ea typeface="Calibri" pitchFamily="34" charset="-122"/>
                <a:cs typeface="Calibri" pitchFamily="34" charset="-120"/>
              </a:rPr>
              <a:t>Sep 29</a:t>
            </a:r>
            <a:endParaRPr lang="en-US" sz="1100" dirty="0"/>
          </a:p>
        </p:txBody>
      </p:sp>
      <p:sp>
        <p:nvSpPr>
          <p:cNvPr id="9" name="Shape 7"/>
          <p:cNvSpPr/>
          <p:nvPr/>
        </p:nvSpPr>
        <p:spPr>
          <a:xfrm>
            <a:off x="2467908" y="2414016"/>
            <a:ext cx="201168" cy="201168"/>
          </a:xfrm>
          <a:prstGeom prst="ellipse">
            <a:avLst/>
          </a:prstGeom>
          <a:solidFill>
            <a:srgbClr val="368727"/>
          </a:solidFill>
          <a:ln w="12700">
            <a:solidFill>
              <a:srgbClr val="368727"/>
            </a:solidFill>
            <a:prstDash val="solid"/>
          </a:ln>
        </p:spPr>
      </p:sp>
      <p:sp>
        <p:nvSpPr>
          <p:cNvPr id="10" name="Shape 8"/>
          <p:cNvSpPr/>
          <p:nvPr/>
        </p:nvSpPr>
        <p:spPr>
          <a:xfrm>
            <a:off x="2561176" y="2340864"/>
            <a:ext cx="14630" cy="73152"/>
          </a:xfrm>
          <a:prstGeom prst="rect">
            <a:avLst/>
          </a:prstGeom>
          <a:solidFill>
            <a:srgbClr val="368727"/>
          </a:solidFill>
          <a:ln w="12700">
            <a:solidFill>
              <a:srgbClr val="368727"/>
            </a:solidFill>
            <a:prstDash val="solid"/>
          </a:ln>
        </p:spPr>
      </p:sp>
      <p:sp>
        <p:nvSpPr>
          <p:cNvPr id="11" name="Text 9"/>
          <p:cNvSpPr txBox="1"/>
          <p:nvPr/>
        </p:nvSpPr>
        <p:spPr>
          <a:xfrm>
            <a:off x="2477052" y="1444752"/>
            <a:ext cx="2377440" cy="896112"/>
          </a:xfrm>
          <a:prstGeom prst="rect">
            <a:avLst/>
          </a:prstGeom>
          <a:noFill/>
          <a:ln/>
        </p:spPr>
        <p:txBody>
          <a:bodyPr wrap="square" lIns="0" tIns="0" rIns="0" bIns="0" rtlCol="0" anchor="b"/>
          <a:lstStyle/>
          <a:p>
            <a:pPr indent="0" marL="0">
              <a:buNone/>
            </a:pPr>
            <a:r>
              <a:rPr lang="en-US" sz="1150" b="1" dirty="0">
                <a:solidFill>
                  <a:srgbClr val="368727"/>
                </a:solidFill>
                <a:latin typeface="Calibri" pitchFamily="34" charset="0"/>
                <a:ea typeface="Calibri" pitchFamily="34" charset="-122"/>
                <a:cs typeface="Calibri" pitchFamily="34" charset="-120"/>
              </a:rPr>
              <a:t>Oct 10</a:t>
            </a:r>
            <a:endParaRPr lang="en-US" sz="1150" dirty="0"/>
          </a:p>
          <a:p>
            <a:pPr indent="0" marL="0">
              <a:buNone/>
            </a:pPr>
            <a:r>
              <a:rPr lang="en-US" sz="1150" b="1" dirty="0">
                <a:solidFill>
                  <a:srgbClr val="1F2933"/>
                </a:solidFill>
                <a:latin typeface="Calibri" pitchFamily="34" charset="0"/>
                <a:ea typeface="Calibri" pitchFamily="34" charset="-122"/>
                <a:cs typeface="Calibri" pitchFamily="34" charset="-120"/>
              </a:rPr>
              <a:t>Rotate 23 exposed secrets</a:t>
            </a:r>
            <a:endParaRPr lang="en-US" sz="1150" dirty="0"/>
          </a:p>
          <a:p>
            <a:pPr indent="0" marL="0">
              <a:buNone/>
            </a:pPr>
            <a:r>
              <a:rPr lang="en-US" sz="1150" dirty="0">
                <a:solidFill>
                  <a:srgbClr val="5B6670"/>
                </a:solidFill>
                <a:latin typeface="Calibri" pitchFamily="34" charset="0"/>
                <a:ea typeface="Calibri" pitchFamily="34" charset="-122"/>
                <a:cs typeface="Calibri" pitchFamily="34" charset="-120"/>
              </a:rPr>
              <a:t>Saikiran, Siva, Pratap</a:t>
            </a:r>
            <a:endParaRPr lang="en-US" sz="1150" dirty="0"/>
          </a:p>
        </p:txBody>
      </p:sp>
      <p:sp>
        <p:nvSpPr>
          <p:cNvPr id="12" name="Shape 10"/>
          <p:cNvSpPr/>
          <p:nvPr/>
        </p:nvSpPr>
        <p:spPr>
          <a:xfrm>
            <a:off x="3261331" y="2414016"/>
            <a:ext cx="201168" cy="201168"/>
          </a:xfrm>
          <a:prstGeom prst="ellipse">
            <a:avLst/>
          </a:prstGeom>
          <a:solidFill>
            <a:srgbClr val="368727"/>
          </a:solidFill>
          <a:ln w="12700">
            <a:solidFill>
              <a:srgbClr val="368727"/>
            </a:solidFill>
            <a:prstDash val="solid"/>
          </a:ln>
        </p:spPr>
      </p:sp>
      <p:sp>
        <p:nvSpPr>
          <p:cNvPr id="13" name="Shape 11"/>
          <p:cNvSpPr/>
          <p:nvPr/>
        </p:nvSpPr>
        <p:spPr>
          <a:xfrm>
            <a:off x="3354600" y="2615184"/>
            <a:ext cx="14630" cy="128016"/>
          </a:xfrm>
          <a:prstGeom prst="rect">
            <a:avLst/>
          </a:prstGeom>
          <a:solidFill>
            <a:srgbClr val="368727"/>
          </a:solidFill>
          <a:ln w="12700">
            <a:solidFill>
              <a:srgbClr val="368727"/>
            </a:solidFill>
            <a:prstDash val="solid"/>
          </a:ln>
        </p:spPr>
      </p:sp>
      <p:sp>
        <p:nvSpPr>
          <p:cNvPr id="14" name="Text 12"/>
          <p:cNvSpPr txBox="1"/>
          <p:nvPr/>
        </p:nvSpPr>
        <p:spPr>
          <a:xfrm>
            <a:off x="3270475" y="2743200"/>
            <a:ext cx="2377440" cy="896112"/>
          </a:xfrm>
          <a:prstGeom prst="rect">
            <a:avLst/>
          </a:prstGeom>
          <a:noFill/>
          <a:ln/>
        </p:spPr>
        <p:txBody>
          <a:bodyPr wrap="square" lIns="0" tIns="0" rIns="0" bIns="0" rtlCol="0" anchor="t"/>
          <a:lstStyle/>
          <a:p>
            <a:pPr indent="0" marL="0">
              <a:buNone/>
            </a:pPr>
            <a:r>
              <a:rPr lang="en-US" sz="1150" b="1" dirty="0">
                <a:solidFill>
                  <a:srgbClr val="368727"/>
                </a:solidFill>
                <a:latin typeface="Calibri" pitchFamily="34" charset="0"/>
                <a:ea typeface="Calibri" pitchFamily="34" charset="-122"/>
                <a:cs typeface="Calibri" pitchFamily="34" charset="-120"/>
              </a:rPr>
              <a:t>Oct 15</a:t>
            </a:r>
            <a:endParaRPr lang="en-US" sz="1150" dirty="0"/>
          </a:p>
          <a:p>
            <a:pPr indent="0" marL="0">
              <a:buNone/>
            </a:pPr>
            <a:r>
              <a:rPr lang="en-US" sz="1150" b="1" dirty="0">
                <a:solidFill>
                  <a:srgbClr val="1F2933"/>
                </a:solidFill>
                <a:latin typeface="Calibri" pitchFamily="34" charset="0"/>
                <a:ea typeface="Calibri" pitchFamily="34" charset="-122"/>
                <a:cs typeface="Calibri" pitchFamily="34" charset="-120"/>
              </a:rPr>
              <a:t>EOL plan + owner for all 32 apps</a:t>
            </a:r>
            <a:endParaRPr lang="en-US" sz="1150" dirty="0"/>
          </a:p>
          <a:p>
            <a:pPr indent="0" marL="0">
              <a:buNone/>
            </a:pPr>
            <a:r>
              <a:rPr lang="en-US" sz="1150" dirty="0">
                <a:solidFill>
                  <a:srgbClr val="5B6670"/>
                </a:solidFill>
                <a:latin typeface="Calibri" pitchFamily="34" charset="0"/>
                <a:ea typeface="Calibri" pitchFamily="34" charset="-122"/>
                <a:cs typeface="Calibri" pitchFamily="34" charset="-120"/>
              </a:rPr>
              <a:t>All managers</a:t>
            </a:r>
            <a:endParaRPr lang="en-US" sz="1150" dirty="0"/>
          </a:p>
        </p:txBody>
      </p:sp>
      <p:sp>
        <p:nvSpPr>
          <p:cNvPr id="15" name="Shape 13"/>
          <p:cNvSpPr/>
          <p:nvPr/>
        </p:nvSpPr>
        <p:spPr>
          <a:xfrm>
            <a:off x="5800286" y="2414016"/>
            <a:ext cx="201168" cy="201168"/>
          </a:xfrm>
          <a:prstGeom prst="ellipse">
            <a:avLst/>
          </a:prstGeom>
          <a:solidFill>
            <a:srgbClr val="368727"/>
          </a:solidFill>
          <a:ln w="12700">
            <a:solidFill>
              <a:srgbClr val="368727"/>
            </a:solidFill>
            <a:prstDash val="solid"/>
          </a:ln>
        </p:spPr>
      </p:sp>
      <p:sp>
        <p:nvSpPr>
          <p:cNvPr id="16" name="Shape 14"/>
          <p:cNvSpPr/>
          <p:nvPr/>
        </p:nvSpPr>
        <p:spPr>
          <a:xfrm>
            <a:off x="5893555" y="2340864"/>
            <a:ext cx="14630" cy="73152"/>
          </a:xfrm>
          <a:prstGeom prst="rect">
            <a:avLst/>
          </a:prstGeom>
          <a:solidFill>
            <a:srgbClr val="368727"/>
          </a:solidFill>
          <a:ln w="12700">
            <a:solidFill>
              <a:srgbClr val="368727"/>
            </a:solidFill>
            <a:prstDash val="solid"/>
          </a:ln>
        </p:spPr>
      </p:sp>
      <p:sp>
        <p:nvSpPr>
          <p:cNvPr id="17" name="Text 15"/>
          <p:cNvSpPr txBox="1"/>
          <p:nvPr/>
        </p:nvSpPr>
        <p:spPr>
          <a:xfrm>
            <a:off x="5809430" y="1444752"/>
            <a:ext cx="2377440" cy="896112"/>
          </a:xfrm>
          <a:prstGeom prst="rect">
            <a:avLst/>
          </a:prstGeom>
          <a:noFill/>
          <a:ln/>
        </p:spPr>
        <p:txBody>
          <a:bodyPr wrap="square" lIns="0" tIns="0" rIns="0" bIns="0" rtlCol="0" anchor="b"/>
          <a:lstStyle/>
          <a:p>
            <a:pPr indent="0" marL="0">
              <a:buNone/>
            </a:pPr>
            <a:r>
              <a:rPr lang="en-US" sz="1150" b="1" dirty="0">
                <a:solidFill>
                  <a:srgbClr val="368727"/>
                </a:solidFill>
                <a:latin typeface="Calibri" pitchFamily="34" charset="0"/>
                <a:ea typeface="Calibri" pitchFamily="34" charset="-122"/>
                <a:cs typeface="Calibri" pitchFamily="34" charset="-120"/>
              </a:rPr>
              <a:t>Oct 31</a:t>
            </a:r>
            <a:endParaRPr lang="en-US" sz="1150" dirty="0"/>
          </a:p>
          <a:p>
            <a:pPr indent="0" marL="0">
              <a:buNone/>
            </a:pPr>
            <a:r>
              <a:rPr lang="en-US" sz="1150" b="1" dirty="0">
                <a:solidFill>
                  <a:srgbClr val="1F2933"/>
                </a:solidFill>
                <a:latin typeface="Calibri" pitchFamily="34" charset="0"/>
                <a:ea typeface="Calibri" pitchFamily="34" charset="-122"/>
                <a:cs typeface="Calibri" pitchFamily="34" charset="-120"/>
              </a:rPr>
              <a:t>Classify 49 apps; confirm 51 Concept apps</a:t>
            </a:r>
            <a:endParaRPr lang="en-US" sz="1150" dirty="0"/>
          </a:p>
          <a:p>
            <a:pPr indent="0" marL="0">
              <a:buNone/>
            </a:pPr>
            <a:r>
              <a:rPr lang="en-US" sz="1150" dirty="0">
                <a:solidFill>
                  <a:srgbClr val="5B6670"/>
                </a:solidFill>
                <a:latin typeface="Calibri" pitchFamily="34" charset="0"/>
                <a:ea typeface="Calibri" pitchFamily="34" charset="-122"/>
                <a:cs typeface="Calibri" pitchFamily="34" charset="-120"/>
              </a:rPr>
              <a:t>Pushkala, Asim</a:t>
            </a:r>
            <a:endParaRPr lang="en-US" sz="1150" dirty="0"/>
          </a:p>
        </p:txBody>
      </p:sp>
      <p:sp>
        <p:nvSpPr>
          <p:cNvPr id="18" name="Shape 16"/>
          <p:cNvSpPr/>
          <p:nvPr/>
        </p:nvSpPr>
        <p:spPr>
          <a:xfrm>
            <a:off x="8339241" y="2414016"/>
            <a:ext cx="201168" cy="201168"/>
          </a:xfrm>
          <a:prstGeom prst="ellipse">
            <a:avLst/>
          </a:prstGeom>
          <a:solidFill>
            <a:srgbClr val="368727"/>
          </a:solidFill>
          <a:ln w="12700">
            <a:solidFill>
              <a:srgbClr val="368727"/>
            </a:solidFill>
            <a:prstDash val="solid"/>
          </a:ln>
        </p:spPr>
      </p:sp>
      <p:sp>
        <p:nvSpPr>
          <p:cNvPr id="19" name="Shape 17"/>
          <p:cNvSpPr/>
          <p:nvPr/>
        </p:nvSpPr>
        <p:spPr>
          <a:xfrm>
            <a:off x="8432510" y="2615184"/>
            <a:ext cx="14630" cy="128016"/>
          </a:xfrm>
          <a:prstGeom prst="rect">
            <a:avLst/>
          </a:prstGeom>
          <a:solidFill>
            <a:srgbClr val="368727"/>
          </a:solidFill>
          <a:ln w="12700">
            <a:solidFill>
              <a:srgbClr val="368727"/>
            </a:solidFill>
            <a:prstDash val="solid"/>
          </a:ln>
        </p:spPr>
      </p:sp>
      <p:sp>
        <p:nvSpPr>
          <p:cNvPr id="20" name="Text 18"/>
          <p:cNvSpPr txBox="1"/>
          <p:nvPr/>
        </p:nvSpPr>
        <p:spPr>
          <a:xfrm>
            <a:off x="8348385" y="2743200"/>
            <a:ext cx="2377440" cy="896112"/>
          </a:xfrm>
          <a:prstGeom prst="rect">
            <a:avLst/>
          </a:prstGeom>
          <a:noFill/>
          <a:ln/>
        </p:spPr>
        <p:txBody>
          <a:bodyPr wrap="square" lIns="0" tIns="0" rIns="0" bIns="0" rtlCol="0" anchor="t"/>
          <a:lstStyle/>
          <a:p>
            <a:pPr indent="0" marL="0">
              <a:buNone/>
            </a:pPr>
            <a:r>
              <a:rPr lang="en-US" sz="1150" b="1" dirty="0">
                <a:solidFill>
                  <a:srgbClr val="368727"/>
                </a:solidFill>
                <a:latin typeface="Calibri" pitchFamily="34" charset="0"/>
                <a:ea typeface="Calibri" pitchFamily="34" charset="-122"/>
                <a:cs typeface="Calibri" pitchFamily="34" charset="-120"/>
              </a:rPr>
              <a:t>Nov 16</a:t>
            </a:r>
            <a:endParaRPr lang="en-US" sz="1150" dirty="0"/>
          </a:p>
          <a:p>
            <a:pPr indent="0" marL="0">
              <a:buNone/>
            </a:pPr>
            <a:r>
              <a:rPr lang="en-US" sz="1150" b="1" dirty="0">
                <a:solidFill>
                  <a:srgbClr val="1F2933"/>
                </a:solidFill>
                <a:latin typeface="Calibri" pitchFamily="34" charset="0"/>
                <a:ea typeface="Calibri" pitchFamily="34" charset="-122"/>
                <a:cs typeface="Calibri" pitchFamily="34" charset="-120"/>
              </a:rPr>
              <a:t>Sonar + E2E coverage reported for every app</a:t>
            </a:r>
            <a:endParaRPr lang="en-US" sz="1150" dirty="0"/>
          </a:p>
          <a:p>
            <a:pPr indent="0" marL="0">
              <a:buNone/>
            </a:pPr>
            <a:r>
              <a:rPr lang="en-US" sz="1150" dirty="0">
                <a:solidFill>
                  <a:srgbClr val="5B6670"/>
                </a:solidFill>
                <a:latin typeface="Calibri" pitchFamily="34" charset="0"/>
                <a:ea typeface="Calibri" pitchFamily="34" charset="-122"/>
                <a:cs typeface="Calibri" pitchFamily="34" charset="-120"/>
              </a:rPr>
              <a:t>All managers</a:t>
            </a:r>
            <a:endParaRPr lang="en-US" sz="1150" dirty="0"/>
          </a:p>
        </p:txBody>
      </p:sp>
      <p:sp>
        <p:nvSpPr>
          <p:cNvPr id="21" name="Shape 19"/>
          <p:cNvSpPr/>
          <p:nvPr/>
        </p:nvSpPr>
        <p:spPr>
          <a:xfrm>
            <a:off x="10600639" y="2295144"/>
            <a:ext cx="438912" cy="438912"/>
          </a:xfrm>
          <a:prstGeom prst="ellipse">
            <a:avLst/>
          </a:prstGeom>
          <a:solidFill>
            <a:srgbClr val="C0392B"/>
          </a:solidFill>
          <a:ln w="12700">
            <a:solidFill>
              <a:srgbClr val="C0392B"/>
            </a:solidFill>
            <a:prstDash val="solid"/>
          </a:ln>
        </p:spPr>
      </p:sp>
      <p:pic>
        <p:nvPicPr>
          <p:cNvPr id="22" name="Image 0" descr="preencoded.png">    </p:cNvPr>
          <p:cNvPicPr>
            <a:picLocks noChangeAspect="1"/>
          </p:cNvPicPr>
          <p:nvPr/>
        </p:nvPicPr>
        <p:blipFill>
          <a:blip r:embed="rId1"/>
          <a:stretch>
            <a:fillRect/>
          </a:stretch>
        </p:blipFill>
        <p:spPr>
          <a:xfrm>
            <a:off x="10710367" y="2404872"/>
            <a:ext cx="219456" cy="219456"/>
          </a:xfrm>
          <a:prstGeom prst="rect">
            <a:avLst/>
          </a:prstGeom>
        </p:spPr>
      </p:pic>
      <p:sp>
        <p:nvSpPr>
          <p:cNvPr id="23" name="Text 20"/>
          <p:cNvSpPr txBox="1"/>
          <p:nvPr/>
        </p:nvSpPr>
        <p:spPr>
          <a:xfrm>
            <a:off x="9402775" y="1645920"/>
            <a:ext cx="1737360" cy="548640"/>
          </a:xfrm>
          <a:prstGeom prst="rect">
            <a:avLst/>
          </a:prstGeom>
          <a:noFill/>
          <a:ln/>
        </p:spPr>
        <p:txBody>
          <a:bodyPr wrap="square" lIns="0" tIns="0" rIns="0" bIns="0" rtlCol="0" anchor="b"/>
          <a:lstStyle/>
          <a:p>
            <a:pPr algn="r" indent="0" marL="0">
              <a:buNone/>
            </a:pPr>
            <a:r>
              <a:rPr lang="en-US" sz="1200" b="1" dirty="0">
                <a:solidFill>
                  <a:srgbClr val="C0392B"/>
                </a:solidFill>
                <a:latin typeface="Calibri" pitchFamily="34" charset="0"/>
                <a:ea typeface="Calibri" pitchFamily="34" charset="-122"/>
                <a:cs typeface="Calibri" pitchFamily="34" charset="-120"/>
              </a:rPr>
              <a:t>Dec 1</a:t>
            </a:r>
            <a:endParaRPr lang="en-US" sz="1200" dirty="0"/>
          </a:p>
          <a:p>
            <a:pPr algn="r" indent="0" marL="0">
              <a:buNone/>
            </a:pPr>
            <a:r>
              <a:rPr lang="en-US" sz="1200" b="1" dirty="0">
                <a:solidFill>
                  <a:srgbClr val="1F2933"/>
                </a:solidFill>
                <a:latin typeface="Calibri" pitchFamily="34" charset="0"/>
                <a:ea typeface="Calibri" pitchFamily="34" charset="-122"/>
                <a:cs typeface="Calibri" pitchFamily="34" charset="-120"/>
              </a:rPr>
              <a:t>32 apps hit EOL</a:t>
            </a:r>
            <a:endParaRPr lang="en-US" sz="1200" dirty="0"/>
          </a:p>
        </p:txBody>
      </p:sp>
      <p:sp>
        <p:nvSpPr>
          <p:cNvPr id="24" name="Shape 21"/>
          <p:cNvSpPr/>
          <p:nvPr/>
        </p:nvSpPr>
        <p:spPr>
          <a:xfrm>
            <a:off x="548640" y="3977640"/>
            <a:ext cx="3515258" cy="2377440"/>
          </a:xfrm>
          <a:prstGeom prst="roundRect">
            <a:avLst>
              <a:gd name="adj" fmla="val 3846"/>
            </a:avLst>
          </a:prstGeom>
          <a:solidFill>
            <a:srgbClr val="FFFFFF"/>
          </a:solidFill>
          <a:ln w="12700">
            <a:solidFill>
              <a:srgbClr val="FFFFFF"/>
            </a:solidFill>
            <a:prstDash val="solid"/>
          </a:ln>
        </p:spPr>
      </p:sp>
      <p:sp>
        <p:nvSpPr>
          <p:cNvPr id="25" name="Shape 22"/>
          <p:cNvSpPr/>
          <p:nvPr/>
        </p:nvSpPr>
        <p:spPr>
          <a:xfrm>
            <a:off x="548640" y="3977640"/>
            <a:ext cx="3515258" cy="2377440"/>
          </a:xfrm>
          <a:prstGeom prst="roundRect">
            <a:avLst>
              <a:gd name="adj" fmla="val 3846"/>
            </a:avLst>
          </a:prstGeom>
          <a:ln w="12700">
            <a:solidFill>
              <a:srgbClr val="D5D9DE"/>
            </a:solidFill>
            <a:prstDash val="solid"/>
          </a:ln>
        </p:spPr>
      </p:sp>
      <p:sp>
        <p:nvSpPr>
          <p:cNvPr id="26" name="Shape 23"/>
          <p:cNvSpPr/>
          <p:nvPr/>
        </p:nvSpPr>
        <p:spPr>
          <a:xfrm>
            <a:off x="777240" y="4178808"/>
            <a:ext cx="502920" cy="502920"/>
          </a:xfrm>
          <a:prstGeom prst="ellipse">
            <a:avLst/>
          </a:prstGeom>
          <a:solidFill>
            <a:srgbClr val="E0A31A"/>
          </a:solidFill>
          <a:ln w="12700">
            <a:solidFill>
              <a:srgbClr val="E0A31A"/>
            </a:solidFill>
            <a:prstDash val="solid"/>
          </a:ln>
        </p:spPr>
      </p:sp>
      <p:pic>
        <p:nvPicPr>
          <p:cNvPr id="27" name="Image 1" descr="preencoded.png">    </p:cNvPr>
          <p:cNvPicPr>
            <a:picLocks noChangeAspect="1"/>
          </p:cNvPicPr>
          <p:nvPr/>
        </p:nvPicPr>
        <p:blipFill>
          <a:blip r:embed="rId2"/>
          <a:stretch>
            <a:fillRect/>
          </a:stretch>
        </p:blipFill>
        <p:spPr>
          <a:xfrm>
            <a:off x="902970" y="4304538"/>
            <a:ext cx="251460" cy="251460"/>
          </a:xfrm>
          <a:prstGeom prst="rect">
            <a:avLst/>
          </a:prstGeom>
        </p:spPr>
      </p:pic>
      <p:sp>
        <p:nvSpPr>
          <p:cNvPr id="28" name="Text 24"/>
          <p:cNvSpPr txBox="1"/>
          <p:nvPr/>
        </p:nvSpPr>
        <p:spPr>
          <a:xfrm>
            <a:off x="1417320" y="4087368"/>
            <a:ext cx="1188720" cy="502920"/>
          </a:xfrm>
          <a:prstGeom prst="rect">
            <a:avLst/>
          </a:prstGeom>
          <a:noFill/>
          <a:ln/>
        </p:spPr>
        <p:txBody>
          <a:bodyPr wrap="square" lIns="0" tIns="0" rIns="0" bIns="0" rtlCol="0" anchor="ctr"/>
          <a:lstStyle/>
          <a:p>
            <a:pPr indent="0" marL="0">
              <a:buNone/>
            </a:pPr>
            <a:r>
              <a:rPr lang="en-US" sz="3000" b="1" dirty="0">
                <a:solidFill>
                  <a:srgbClr val="8A5A00"/>
                </a:solidFill>
                <a:latin typeface="Calibri" pitchFamily="34" charset="0"/>
                <a:ea typeface="Calibri" pitchFamily="34" charset="-122"/>
                <a:cs typeface="Calibri" pitchFamily="34" charset="-120"/>
              </a:rPr>
              <a:t>32</a:t>
            </a:r>
            <a:endParaRPr lang="en-US" sz="3000" dirty="0"/>
          </a:p>
        </p:txBody>
      </p:sp>
      <p:sp>
        <p:nvSpPr>
          <p:cNvPr id="29" name="Text 25"/>
          <p:cNvSpPr txBox="1"/>
          <p:nvPr/>
        </p:nvSpPr>
        <p:spPr>
          <a:xfrm>
            <a:off x="1417320" y="4544568"/>
            <a:ext cx="2509418" cy="256032"/>
          </a:xfrm>
          <a:prstGeom prst="rect">
            <a:avLst/>
          </a:prstGeom>
          <a:noFill/>
          <a:ln/>
        </p:spPr>
        <p:txBody>
          <a:bodyPr wrap="square" lIns="0" tIns="0" rIns="0" bIns="0" rtlCol="0" anchor="ctr"/>
          <a:lstStyle/>
          <a:p>
            <a:pPr indent="0" marL="0">
              <a:buNone/>
            </a:pPr>
            <a:r>
              <a:rPr lang="en-US" sz="1100" dirty="0">
                <a:solidFill>
                  <a:srgbClr val="5B6670"/>
                </a:solidFill>
                <a:latin typeface="Calibri" pitchFamily="34" charset="0"/>
                <a:ea typeface="Calibri" pitchFamily="34" charset="-122"/>
                <a:cs typeface="Calibri" pitchFamily="34" charset="-120"/>
              </a:rPr>
              <a:t>apps approaching EOL</a:t>
            </a:r>
            <a:endParaRPr lang="en-US" sz="1100" dirty="0"/>
          </a:p>
        </p:txBody>
      </p:sp>
      <p:sp>
        <p:nvSpPr>
          <p:cNvPr id="30" name="Text 26"/>
          <p:cNvSpPr txBox="1"/>
          <p:nvPr/>
        </p:nvSpPr>
        <p:spPr>
          <a:xfrm>
            <a:off x="777240" y="4937760"/>
            <a:ext cx="868680" cy="237744"/>
          </a:xfrm>
          <a:prstGeom prst="rect">
            <a:avLst/>
          </a:prstGeom>
          <a:noFill/>
          <a:ln/>
        </p:spPr>
        <p:txBody>
          <a:bodyPr wrap="square" lIns="0" tIns="0" rIns="0" bIns="0" rtlCol="0" anchor="ctr"/>
          <a:lstStyle/>
          <a:p>
            <a:pPr indent="0" marL="0">
              <a:buNone/>
            </a:pPr>
            <a:r>
              <a:rPr lang="en-US" sz="1050" dirty="0">
                <a:solidFill>
                  <a:srgbClr val="1F2933"/>
                </a:solidFill>
                <a:latin typeface="Calibri" pitchFamily="34" charset="0"/>
                <a:ea typeface="Calibri" pitchFamily="34" charset="-122"/>
                <a:cs typeface="Calibri" pitchFamily="34" charset="-120"/>
              </a:rPr>
              <a:t>Siva V.</a:t>
            </a:r>
            <a:endParaRPr lang="en-US" sz="1050" dirty="0"/>
          </a:p>
        </p:txBody>
      </p:sp>
      <p:sp>
        <p:nvSpPr>
          <p:cNvPr id="31" name="Shape 27"/>
          <p:cNvSpPr/>
          <p:nvPr/>
        </p:nvSpPr>
        <p:spPr>
          <a:xfrm>
            <a:off x="1645920" y="4992624"/>
            <a:ext cx="1823618" cy="137160"/>
          </a:xfrm>
          <a:prstGeom prst="rect">
            <a:avLst/>
          </a:prstGeom>
          <a:solidFill>
            <a:srgbClr val="F1F2F3"/>
          </a:solidFill>
          <a:ln w="12700">
            <a:solidFill>
              <a:srgbClr val="F1F2F3"/>
            </a:solidFill>
            <a:prstDash val="solid"/>
          </a:ln>
        </p:spPr>
      </p:sp>
      <p:sp>
        <p:nvSpPr>
          <p:cNvPr id="32" name="Shape 28"/>
          <p:cNvSpPr/>
          <p:nvPr/>
        </p:nvSpPr>
        <p:spPr>
          <a:xfrm>
            <a:off x="1645920" y="4992624"/>
            <a:ext cx="759841" cy="137160"/>
          </a:xfrm>
          <a:prstGeom prst="rect">
            <a:avLst/>
          </a:prstGeom>
          <a:solidFill>
            <a:srgbClr val="E0A31A"/>
          </a:solidFill>
          <a:ln w="12700">
            <a:solidFill>
              <a:srgbClr val="E0A31A"/>
            </a:solidFill>
            <a:prstDash val="solid"/>
          </a:ln>
        </p:spPr>
      </p:sp>
      <p:sp>
        <p:nvSpPr>
          <p:cNvPr id="33" name="Text 29"/>
          <p:cNvSpPr txBox="1"/>
          <p:nvPr/>
        </p:nvSpPr>
        <p:spPr>
          <a:xfrm>
            <a:off x="3515258" y="4937760"/>
            <a:ext cx="457200" cy="237744"/>
          </a:xfrm>
          <a:prstGeom prst="rect">
            <a:avLst/>
          </a:prstGeom>
          <a:noFill/>
          <a:ln/>
        </p:spPr>
        <p:txBody>
          <a:bodyPr wrap="square" lIns="0" tIns="0" rIns="0" bIns="0" rtlCol="0" anchor="ctr"/>
          <a:lstStyle/>
          <a:p>
            <a:pPr indent="0" marL="0">
              <a:buNone/>
            </a:pPr>
            <a:r>
              <a:rPr lang="en-US" sz="1050" b="1" dirty="0">
                <a:solidFill>
                  <a:srgbClr val="1F2933"/>
                </a:solidFill>
                <a:latin typeface="Calibri" pitchFamily="34" charset="0"/>
                <a:ea typeface="Calibri" pitchFamily="34" charset="-122"/>
                <a:cs typeface="Calibri" pitchFamily="34" charset="-120"/>
              </a:rPr>
              <a:t>5</a:t>
            </a:r>
            <a:endParaRPr lang="en-US" sz="1050" dirty="0"/>
          </a:p>
        </p:txBody>
      </p:sp>
      <p:sp>
        <p:nvSpPr>
          <p:cNvPr id="34" name="Text 30"/>
          <p:cNvSpPr txBox="1"/>
          <p:nvPr/>
        </p:nvSpPr>
        <p:spPr>
          <a:xfrm>
            <a:off x="777240" y="5212080"/>
            <a:ext cx="868680" cy="237744"/>
          </a:xfrm>
          <a:prstGeom prst="rect">
            <a:avLst/>
          </a:prstGeom>
          <a:noFill/>
          <a:ln/>
        </p:spPr>
        <p:txBody>
          <a:bodyPr wrap="square" lIns="0" tIns="0" rIns="0" bIns="0" rtlCol="0" anchor="ctr"/>
          <a:lstStyle/>
          <a:p>
            <a:pPr indent="0" marL="0">
              <a:buNone/>
            </a:pPr>
            <a:r>
              <a:rPr lang="en-US" sz="1050" dirty="0">
                <a:solidFill>
                  <a:srgbClr val="1F2933"/>
                </a:solidFill>
                <a:latin typeface="Calibri" pitchFamily="34" charset="0"/>
                <a:ea typeface="Calibri" pitchFamily="34" charset="-122"/>
                <a:cs typeface="Calibri" pitchFamily="34" charset="-120"/>
              </a:rPr>
              <a:t>Pratap A.</a:t>
            </a:r>
            <a:endParaRPr lang="en-US" sz="1050" dirty="0"/>
          </a:p>
        </p:txBody>
      </p:sp>
      <p:sp>
        <p:nvSpPr>
          <p:cNvPr id="35" name="Shape 31"/>
          <p:cNvSpPr/>
          <p:nvPr/>
        </p:nvSpPr>
        <p:spPr>
          <a:xfrm>
            <a:off x="1645920" y="5266944"/>
            <a:ext cx="1823618" cy="137160"/>
          </a:xfrm>
          <a:prstGeom prst="rect">
            <a:avLst/>
          </a:prstGeom>
          <a:solidFill>
            <a:srgbClr val="F1F2F3"/>
          </a:solidFill>
          <a:ln w="12700">
            <a:solidFill>
              <a:srgbClr val="F1F2F3"/>
            </a:solidFill>
            <a:prstDash val="solid"/>
          </a:ln>
        </p:spPr>
      </p:sp>
      <p:sp>
        <p:nvSpPr>
          <p:cNvPr id="36" name="Shape 32"/>
          <p:cNvSpPr/>
          <p:nvPr/>
        </p:nvSpPr>
        <p:spPr>
          <a:xfrm>
            <a:off x="1645920" y="5266944"/>
            <a:ext cx="911809" cy="137160"/>
          </a:xfrm>
          <a:prstGeom prst="rect">
            <a:avLst/>
          </a:prstGeom>
          <a:solidFill>
            <a:srgbClr val="E0A31A"/>
          </a:solidFill>
          <a:ln w="12700">
            <a:solidFill>
              <a:srgbClr val="E0A31A"/>
            </a:solidFill>
            <a:prstDash val="solid"/>
          </a:ln>
        </p:spPr>
      </p:sp>
      <p:sp>
        <p:nvSpPr>
          <p:cNvPr id="37" name="Text 33"/>
          <p:cNvSpPr txBox="1"/>
          <p:nvPr/>
        </p:nvSpPr>
        <p:spPr>
          <a:xfrm>
            <a:off x="3515258" y="5212080"/>
            <a:ext cx="457200" cy="237744"/>
          </a:xfrm>
          <a:prstGeom prst="rect">
            <a:avLst/>
          </a:prstGeom>
          <a:noFill/>
          <a:ln/>
        </p:spPr>
        <p:txBody>
          <a:bodyPr wrap="square" lIns="0" tIns="0" rIns="0" bIns="0" rtlCol="0" anchor="ctr"/>
          <a:lstStyle/>
          <a:p>
            <a:pPr indent="0" marL="0">
              <a:buNone/>
            </a:pPr>
            <a:r>
              <a:rPr lang="en-US" sz="1050" b="1" dirty="0">
                <a:solidFill>
                  <a:srgbClr val="1F2933"/>
                </a:solidFill>
                <a:latin typeface="Calibri" pitchFamily="34" charset="0"/>
                <a:ea typeface="Calibri" pitchFamily="34" charset="-122"/>
                <a:cs typeface="Calibri" pitchFamily="34" charset="-120"/>
              </a:rPr>
              <a:t>6</a:t>
            </a:r>
            <a:endParaRPr lang="en-US" sz="1050" dirty="0"/>
          </a:p>
        </p:txBody>
      </p:sp>
      <p:sp>
        <p:nvSpPr>
          <p:cNvPr id="38" name="Text 34"/>
          <p:cNvSpPr txBox="1"/>
          <p:nvPr/>
        </p:nvSpPr>
        <p:spPr>
          <a:xfrm>
            <a:off x="777240" y="5486400"/>
            <a:ext cx="868680" cy="237744"/>
          </a:xfrm>
          <a:prstGeom prst="rect">
            <a:avLst/>
          </a:prstGeom>
          <a:noFill/>
          <a:ln/>
        </p:spPr>
        <p:txBody>
          <a:bodyPr wrap="square" lIns="0" tIns="0" rIns="0" bIns="0" rtlCol="0" anchor="ctr"/>
          <a:lstStyle/>
          <a:p>
            <a:pPr indent="0" marL="0">
              <a:buNone/>
            </a:pPr>
            <a:r>
              <a:rPr lang="en-US" sz="1050" dirty="0">
                <a:solidFill>
                  <a:srgbClr val="1F2933"/>
                </a:solidFill>
                <a:latin typeface="Calibri" pitchFamily="34" charset="0"/>
                <a:ea typeface="Calibri" pitchFamily="34" charset="-122"/>
                <a:cs typeface="Calibri" pitchFamily="34" charset="-120"/>
              </a:rPr>
              <a:t>Asim S.</a:t>
            </a:r>
            <a:endParaRPr lang="en-US" sz="1050" dirty="0"/>
          </a:p>
        </p:txBody>
      </p:sp>
      <p:sp>
        <p:nvSpPr>
          <p:cNvPr id="39" name="Shape 35"/>
          <p:cNvSpPr/>
          <p:nvPr/>
        </p:nvSpPr>
        <p:spPr>
          <a:xfrm>
            <a:off x="1645920" y="5541264"/>
            <a:ext cx="1823618" cy="137160"/>
          </a:xfrm>
          <a:prstGeom prst="rect">
            <a:avLst/>
          </a:prstGeom>
          <a:solidFill>
            <a:srgbClr val="F1F2F3"/>
          </a:solidFill>
          <a:ln w="12700">
            <a:solidFill>
              <a:srgbClr val="F1F2F3"/>
            </a:solidFill>
            <a:prstDash val="solid"/>
          </a:ln>
        </p:spPr>
      </p:sp>
      <p:sp>
        <p:nvSpPr>
          <p:cNvPr id="40" name="Shape 36"/>
          <p:cNvSpPr/>
          <p:nvPr/>
        </p:nvSpPr>
        <p:spPr>
          <a:xfrm>
            <a:off x="1645920" y="5541264"/>
            <a:ext cx="1367714" cy="137160"/>
          </a:xfrm>
          <a:prstGeom prst="rect">
            <a:avLst/>
          </a:prstGeom>
          <a:solidFill>
            <a:srgbClr val="E0A31A"/>
          </a:solidFill>
          <a:ln w="12700">
            <a:solidFill>
              <a:srgbClr val="E0A31A"/>
            </a:solidFill>
            <a:prstDash val="solid"/>
          </a:ln>
        </p:spPr>
      </p:sp>
      <p:sp>
        <p:nvSpPr>
          <p:cNvPr id="41" name="Text 37"/>
          <p:cNvSpPr txBox="1"/>
          <p:nvPr/>
        </p:nvSpPr>
        <p:spPr>
          <a:xfrm>
            <a:off x="3515258" y="5486400"/>
            <a:ext cx="457200" cy="237744"/>
          </a:xfrm>
          <a:prstGeom prst="rect">
            <a:avLst/>
          </a:prstGeom>
          <a:noFill/>
          <a:ln/>
        </p:spPr>
        <p:txBody>
          <a:bodyPr wrap="square" lIns="0" tIns="0" rIns="0" bIns="0" rtlCol="0" anchor="ctr"/>
          <a:lstStyle/>
          <a:p>
            <a:pPr indent="0" marL="0">
              <a:buNone/>
            </a:pPr>
            <a:r>
              <a:rPr lang="en-US" sz="1050" b="1" dirty="0">
                <a:solidFill>
                  <a:srgbClr val="1F2933"/>
                </a:solidFill>
                <a:latin typeface="Calibri" pitchFamily="34" charset="0"/>
                <a:ea typeface="Calibri" pitchFamily="34" charset="-122"/>
                <a:cs typeface="Calibri" pitchFamily="34" charset="-120"/>
              </a:rPr>
              <a:t>9</a:t>
            </a:r>
            <a:endParaRPr lang="en-US" sz="1050" dirty="0"/>
          </a:p>
        </p:txBody>
      </p:sp>
      <p:sp>
        <p:nvSpPr>
          <p:cNvPr id="42" name="Text 38"/>
          <p:cNvSpPr txBox="1"/>
          <p:nvPr/>
        </p:nvSpPr>
        <p:spPr>
          <a:xfrm>
            <a:off x="777240" y="5760720"/>
            <a:ext cx="868680" cy="237744"/>
          </a:xfrm>
          <a:prstGeom prst="rect">
            <a:avLst/>
          </a:prstGeom>
          <a:noFill/>
          <a:ln/>
        </p:spPr>
        <p:txBody>
          <a:bodyPr wrap="square" lIns="0" tIns="0" rIns="0" bIns="0" rtlCol="0" anchor="ctr"/>
          <a:lstStyle/>
          <a:p>
            <a:pPr indent="0" marL="0">
              <a:buNone/>
            </a:pPr>
            <a:r>
              <a:rPr lang="en-US" sz="1050" dirty="0">
                <a:solidFill>
                  <a:srgbClr val="1F2933"/>
                </a:solidFill>
                <a:latin typeface="Calibri" pitchFamily="34" charset="0"/>
                <a:ea typeface="Calibri" pitchFamily="34" charset="-122"/>
                <a:cs typeface="Calibri" pitchFamily="34" charset="-120"/>
              </a:rPr>
              <a:t>Pushkala V.</a:t>
            </a:r>
            <a:endParaRPr lang="en-US" sz="1050" dirty="0"/>
          </a:p>
        </p:txBody>
      </p:sp>
      <p:sp>
        <p:nvSpPr>
          <p:cNvPr id="43" name="Shape 39"/>
          <p:cNvSpPr/>
          <p:nvPr/>
        </p:nvSpPr>
        <p:spPr>
          <a:xfrm>
            <a:off x="1645920" y="5815584"/>
            <a:ext cx="1823618" cy="137160"/>
          </a:xfrm>
          <a:prstGeom prst="rect">
            <a:avLst/>
          </a:prstGeom>
          <a:solidFill>
            <a:srgbClr val="F1F2F3"/>
          </a:solidFill>
          <a:ln w="12700">
            <a:solidFill>
              <a:srgbClr val="F1F2F3"/>
            </a:solidFill>
            <a:prstDash val="solid"/>
          </a:ln>
        </p:spPr>
      </p:sp>
      <p:sp>
        <p:nvSpPr>
          <p:cNvPr id="44" name="Text 40"/>
          <p:cNvSpPr txBox="1"/>
          <p:nvPr/>
        </p:nvSpPr>
        <p:spPr>
          <a:xfrm>
            <a:off x="3515258" y="5760720"/>
            <a:ext cx="457200" cy="237744"/>
          </a:xfrm>
          <a:prstGeom prst="rect">
            <a:avLst/>
          </a:prstGeom>
          <a:noFill/>
          <a:ln/>
        </p:spPr>
        <p:txBody>
          <a:bodyPr wrap="square" lIns="0" tIns="0" rIns="0" bIns="0" rtlCol="0" anchor="ctr"/>
          <a:lstStyle/>
          <a:p>
            <a:pPr indent="0" marL="0">
              <a:buNone/>
            </a:pPr>
            <a:r>
              <a:rPr lang="en-US" sz="1050" b="1" dirty="0">
                <a:solidFill>
                  <a:srgbClr val="1F2933"/>
                </a:solidFill>
                <a:latin typeface="Calibri" pitchFamily="34" charset="0"/>
                <a:ea typeface="Calibri" pitchFamily="34" charset="-122"/>
                <a:cs typeface="Calibri" pitchFamily="34" charset="-120"/>
              </a:rPr>
              <a:t>0</a:t>
            </a:r>
            <a:endParaRPr lang="en-US" sz="1050" dirty="0"/>
          </a:p>
        </p:txBody>
      </p:sp>
      <p:sp>
        <p:nvSpPr>
          <p:cNvPr id="45" name="Text 41"/>
          <p:cNvSpPr txBox="1"/>
          <p:nvPr/>
        </p:nvSpPr>
        <p:spPr>
          <a:xfrm>
            <a:off x="777240" y="6035040"/>
            <a:ext cx="868680" cy="237744"/>
          </a:xfrm>
          <a:prstGeom prst="rect">
            <a:avLst/>
          </a:prstGeom>
          <a:noFill/>
          <a:ln/>
        </p:spPr>
        <p:txBody>
          <a:bodyPr wrap="square" lIns="0" tIns="0" rIns="0" bIns="0" rtlCol="0" anchor="ctr"/>
          <a:lstStyle/>
          <a:p>
            <a:pPr indent="0" marL="0">
              <a:buNone/>
            </a:pPr>
            <a:r>
              <a:rPr lang="en-US" sz="1050" dirty="0">
                <a:solidFill>
                  <a:srgbClr val="1F2933"/>
                </a:solidFill>
                <a:latin typeface="Calibri" pitchFamily="34" charset="0"/>
                <a:ea typeface="Calibri" pitchFamily="34" charset="-122"/>
                <a:cs typeface="Calibri" pitchFamily="34" charset="-120"/>
              </a:rPr>
              <a:t>Saikiran N.</a:t>
            </a:r>
            <a:endParaRPr lang="en-US" sz="1050" dirty="0"/>
          </a:p>
        </p:txBody>
      </p:sp>
      <p:sp>
        <p:nvSpPr>
          <p:cNvPr id="46" name="Shape 42"/>
          <p:cNvSpPr/>
          <p:nvPr/>
        </p:nvSpPr>
        <p:spPr>
          <a:xfrm>
            <a:off x="1645920" y="6089904"/>
            <a:ext cx="1823618" cy="137160"/>
          </a:xfrm>
          <a:prstGeom prst="rect">
            <a:avLst/>
          </a:prstGeom>
          <a:solidFill>
            <a:srgbClr val="F1F2F3"/>
          </a:solidFill>
          <a:ln w="12700">
            <a:solidFill>
              <a:srgbClr val="F1F2F3"/>
            </a:solidFill>
            <a:prstDash val="solid"/>
          </a:ln>
        </p:spPr>
      </p:sp>
      <p:sp>
        <p:nvSpPr>
          <p:cNvPr id="47" name="Shape 43"/>
          <p:cNvSpPr/>
          <p:nvPr/>
        </p:nvSpPr>
        <p:spPr>
          <a:xfrm>
            <a:off x="1645920" y="6089904"/>
            <a:ext cx="1823618" cy="137160"/>
          </a:xfrm>
          <a:prstGeom prst="rect">
            <a:avLst/>
          </a:prstGeom>
          <a:solidFill>
            <a:srgbClr val="E0A31A"/>
          </a:solidFill>
          <a:ln w="12700">
            <a:solidFill>
              <a:srgbClr val="E0A31A"/>
            </a:solidFill>
            <a:prstDash val="solid"/>
          </a:ln>
        </p:spPr>
      </p:sp>
      <p:sp>
        <p:nvSpPr>
          <p:cNvPr id="48" name="Text 44"/>
          <p:cNvSpPr txBox="1"/>
          <p:nvPr/>
        </p:nvSpPr>
        <p:spPr>
          <a:xfrm>
            <a:off x="3515258" y="6035040"/>
            <a:ext cx="457200" cy="237744"/>
          </a:xfrm>
          <a:prstGeom prst="rect">
            <a:avLst/>
          </a:prstGeom>
          <a:noFill/>
          <a:ln/>
        </p:spPr>
        <p:txBody>
          <a:bodyPr wrap="square" lIns="0" tIns="0" rIns="0" bIns="0" rtlCol="0" anchor="ctr"/>
          <a:lstStyle/>
          <a:p>
            <a:pPr indent="0" marL="0">
              <a:buNone/>
            </a:pPr>
            <a:r>
              <a:rPr lang="en-US" sz="1050" b="1" dirty="0">
                <a:solidFill>
                  <a:srgbClr val="1F2933"/>
                </a:solidFill>
                <a:latin typeface="Calibri" pitchFamily="34" charset="0"/>
                <a:ea typeface="Calibri" pitchFamily="34" charset="-122"/>
                <a:cs typeface="Calibri" pitchFamily="34" charset="-120"/>
              </a:rPr>
              <a:t>12</a:t>
            </a:r>
            <a:endParaRPr lang="en-US" sz="1050" dirty="0"/>
          </a:p>
        </p:txBody>
      </p:sp>
      <p:sp>
        <p:nvSpPr>
          <p:cNvPr id="49" name="Shape 45"/>
          <p:cNvSpPr/>
          <p:nvPr/>
        </p:nvSpPr>
        <p:spPr>
          <a:xfrm>
            <a:off x="4338218" y="3977640"/>
            <a:ext cx="3515258" cy="2377440"/>
          </a:xfrm>
          <a:prstGeom prst="roundRect">
            <a:avLst>
              <a:gd name="adj" fmla="val 3846"/>
            </a:avLst>
          </a:prstGeom>
          <a:solidFill>
            <a:srgbClr val="FFFFFF"/>
          </a:solidFill>
          <a:ln w="12700">
            <a:solidFill>
              <a:srgbClr val="FFFFFF"/>
            </a:solidFill>
            <a:prstDash val="solid"/>
          </a:ln>
        </p:spPr>
      </p:sp>
      <p:sp>
        <p:nvSpPr>
          <p:cNvPr id="50" name="Shape 46"/>
          <p:cNvSpPr/>
          <p:nvPr/>
        </p:nvSpPr>
        <p:spPr>
          <a:xfrm>
            <a:off x="4338218" y="3977640"/>
            <a:ext cx="3515258" cy="2377440"/>
          </a:xfrm>
          <a:prstGeom prst="roundRect">
            <a:avLst>
              <a:gd name="adj" fmla="val 3846"/>
            </a:avLst>
          </a:prstGeom>
          <a:ln w="12700">
            <a:solidFill>
              <a:srgbClr val="D5D9DE"/>
            </a:solidFill>
            <a:prstDash val="solid"/>
          </a:ln>
        </p:spPr>
      </p:sp>
      <p:sp>
        <p:nvSpPr>
          <p:cNvPr id="51" name="Shape 47"/>
          <p:cNvSpPr/>
          <p:nvPr/>
        </p:nvSpPr>
        <p:spPr>
          <a:xfrm>
            <a:off x="4566818" y="4178808"/>
            <a:ext cx="502920" cy="502920"/>
          </a:xfrm>
          <a:prstGeom prst="ellipse">
            <a:avLst/>
          </a:prstGeom>
          <a:solidFill>
            <a:srgbClr val="C0392B"/>
          </a:solidFill>
          <a:ln w="12700">
            <a:solidFill>
              <a:srgbClr val="C0392B"/>
            </a:solidFill>
            <a:prstDash val="solid"/>
          </a:ln>
        </p:spPr>
      </p:sp>
      <p:pic>
        <p:nvPicPr>
          <p:cNvPr id="52" name="Image 2" descr="preencoded.png">    </p:cNvPr>
          <p:cNvPicPr>
            <a:picLocks noChangeAspect="1"/>
          </p:cNvPicPr>
          <p:nvPr/>
        </p:nvPicPr>
        <p:blipFill>
          <a:blip r:embed="rId3"/>
          <a:stretch>
            <a:fillRect/>
          </a:stretch>
        </p:blipFill>
        <p:spPr>
          <a:xfrm>
            <a:off x="4692548" y="4304538"/>
            <a:ext cx="251460" cy="251460"/>
          </a:xfrm>
          <a:prstGeom prst="rect">
            <a:avLst/>
          </a:prstGeom>
        </p:spPr>
      </p:pic>
      <p:sp>
        <p:nvSpPr>
          <p:cNvPr id="53" name="Text 48"/>
          <p:cNvSpPr txBox="1"/>
          <p:nvPr/>
        </p:nvSpPr>
        <p:spPr>
          <a:xfrm>
            <a:off x="5206898" y="4087368"/>
            <a:ext cx="1188720" cy="502920"/>
          </a:xfrm>
          <a:prstGeom prst="rect">
            <a:avLst/>
          </a:prstGeom>
          <a:noFill/>
          <a:ln/>
        </p:spPr>
        <p:txBody>
          <a:bodyPr wrap="square" lIns="0" tIns="0" rIns="0" bIns="0" rtlCol="0" anchor="ctr"/>
          <a:lstStyle/>
          <a:p>
            <a:pPr indent="0" marL="0">
              <a:buNone/>
            </a:pPr>
            <a:r>
              <a:rPr lang="en-US" sz="3000" b="1" dirty="0">
                <a:solidFill>
                  <a:srgbClr val="C0392B"/>
                </a:solidFill>
                <a:latin typeface="Calibri" pitchFamily="34" charset="0"/>
                <a:ea typeface="Calibri" pitchFamily="34" charset="-122"/>
                <a:cs typeface="Calibri" pitchFamily="34" charset="-120"/>
              </a:rPr>
              <a:t>23</a:t>
            </a:r>
            <a:endParaRPr lang="en-US" sz="3000" dirty="0"/>
          </a:p>
        </p:txBody>
      </p:sp>
      <p:sp>
        <p:nvSpPr>
          <p:cNvPr id="54" name="Text 49"/>
          <p:cNvSpPr txBox="1"/>
          <p:nvPr/>
        </p:nvSpPr>
        <p:spPr>
          <a:xfrm>
            <a:off x="5206898" y="4544568"/>
            <a:ext cx="2509418" cy="256032"/>
          </a:xfrm>
          <a:prstGeom prst="rect">
            <a:avLst/>
          </a:prstGeom>
          <a:noFill/>
          <a:ln/>
        </p:spPr>
        <p:txBody>
          <a:bodyPr wrap="square" lIns="0" tIns="0" rIns="0" bIns="0" rtlCol="0" anchor="ctr"/>
          <a:lstStyle/>
          <a:p>
            <a:pPr indent="0" marL="0">
              <a:buNone/>
            </a:pPr>
            <a:r>
              <a:rPr lang="en-US" sz="1100" dirty="0">
                <a:solidFill>
                  <a:srgbClr val="5B6670"/>
                </a:solidFill>
                <a:latin typeface="Calibri" pitchFamily="34" charset="0"/>
                <a:ea typeface="Calibri" pitchFamily="34" charset="-122"/>
                <a:cs typeface="Calibri" pitchFamily="34" charset="-120"/>
              </a:rPr>
              <a:t>secrets exposed</a:t>
            </a:r>
            <a:endParaRPr lang="en-US" sz="1100" dirty="0"/>
          </a:p>
        </p:txBody>
      </p:sp>
      <p:sp>
        <p:nvSpPr>
          <p:cNvPr id="55" name="Text 50"/>
          <p:cNvSpPr txBox="1"/>
          <p:nvPr/>
        </p:nvSpPr>
        <p:spPr>
          <a:xfrm>
            <a:off x="4566818" y="4937760"/>
            <a:ext cx="868680" cy="237744"/>
          </a:xfrm>
          <a:prstGeom prst="rect">
            <a:avLst/>
          </a:prstGeom>
          <a:noFill/>
          <a:ln/>
        </p:spPr>
        <p:txBody>
          <a:bodyPr wrap="square" lIns="0" tIns="0" rIns="0" bIns="0" rtlCol="0" anchor="ctr"/>
          <a:lstStyle/>
          <a:p>
            <a:pPr indent="0" marL="0">
              <a:buNone/>
            </a:pPr>
            <a:r>
              <a:rPr lang="en-US" sz="1050" dirty="0">
                <a:solidFill>
                  <a:srgbClr val="1F2933"/>
                </a:solidFill>
                <a:latin typeface="Calibri" pitchFamily="34" charset="0"/>
                <a:ea typeface="Calibri" pitchFamily="34" charset="-122"/>
                <a:cs typeface="Calibri" pitchFamily="34" charset="-120"/>
              </a:rPr>
              <a:t>Siva V.</a:t>
            </a:r>
            <a:endParaRPr lang="en-US" sz="1050" dirty="0"/>
          </a:p>
        </p:txBody>
      </p:sp>
      <p:sp>
        <p:nvSpPr>
          <p:cNvPr id="56" name="Shape 51"/>
          <p:cNvSpPr/>
          <p:nvPr/>
        </p:nvSpPr>
        <p:spPr>
          <a:xfrm>
            <a:off x="5435498" y="4992624"/>
            <a:ext cx="1823618" cy="137160"/>
          </a:xfrm>
          <a:prstGeom prst="rect">
            <a:avLst/>
          </a:prstGeom>
          <a:solidFill>
            <a:srgbClr val="F1F2F3"/>
          </a:solidFill>
          <a:ln w="12700">
            <a:solidFill>
              <a:srgbClr val="F1F2F3"/>
            </a:solidFill>
            <a:prstDash val="solid"/>
          </a:ln>
        </p:spPr>
      </p:sp>
      <p:sp>
        <p:nvSpPr>
          <p:cNvPr id="57" name="Shape 52"/>
          <p:cNvSpPr/>
          <p:nvPr/>
        </p:nvSpPr>
        <p:spPr>
          <a:xfrm>
            <a:off x="5435498" y="4992624"/>
            <a:ext cx="994701" cy="137160"/>
          </a:xfrm>
          <a:prstGeom prst="rect">
            <a:avLst/>
          </a:prstGeom>
          <a:solidFill>
            <a:srgbClr val="C0392B"/>
          </a:solidFill>
          <a:ln w="12700">
            <a:solidFill>
              <a:srgbClr val="C0392B"/>
            </a:solidFill>
            <a:prstDash val="solid"/>
          </a:ln>
        </p:spPr>
      </p:sp>
      <p:sp>
        <p:nvSpPr>
          <p:cNvPr id="58" name="Text 53"/>
          <p:cNvSpPr txBox="1"/>
          <p:nvPr/>
        </p:nvSpPr>
        <p:spPr>
          <a:xfrm>
            <a:off x="7304837" y="4937760"/>
            <a:ext cx="457200" cy="237744"/>
          </a:xfrm>
          <a:prstGeom prst="rect">
            <a:avLst/>
          </a:prstGeom>
          <a:noFill/>
          <a:ln/>
        </p:spPr>
        <p:txBody>
          <a:bodyPr wrap="square" lIns="0" tIns="0" rIns="0" bIns="0" rtlCol="0" anchor="ctr"/>
          <a:lstStyle/>
          <a:p>
            <a:pPr indent="0" marL="0">
              <a:buNone/>
            </a:pPr>
            <a:r>
              <a:rPr lang="en-US" sz="1050" b="1" dirty="0">
                <a:solidFill>
                  <a:srgbClr val="1F2933"/>
                </a:solidFill>
                <a:latin typeface="Calibri" pitchFamily="34" charset="0"/>
                <a:ea typeface="Calibri" pitchFamily="34" charset="-122"/>
                <a:cs typeface="Calibri" pitchFamily="34" charset="-120"/>
              </a:rPr>
              <a:t>6</a:t>
            </a:r>
            <a:endParaRPr lang="en-US" sz="1050" dirty="0"/>
          </a:p>
        </p:txBody>
      </p:sp>
      <p:sp>
        <p:nvSpPr>
          <p:cNvPr id="59" name="Text 54"/>
          <p:cNvSpPr txBox="1"/>
          <p:nvPr/>
        </p:nvSpPr>
        <p:spPr>
          <a:xfrm>
            <a:off x="4566818" y="5212080"/>
            <a:ext cx="868680" cy="237744"/>
          </a:xfrm>
          <a:prstGeom prst="rect">
            <a:avLst/>
          </a:prstGeom>
          <a:noFill/>
          <a:ln/>
        </p:spPr>
        <p:txBody>
          <a:bodyPr wrap="square" lIns="0" tIns="0" rIns="0" bIns="0" rtlCol="0" anchor="ctr"/>
          <a:lstStyle/>
          <a:p>
            <a:pPr indent="0" marL="0">
              <a:buNone/>
            </a:pPr>
            <a:r>
              <a:rPr lang="en-US" sz="1050" dirty="0">
                <a:solidFill>
                  <a:srgbClr val="1F2933"/>
                </a:solidFill>
                <a:latin typeface="Calibri" pitchFamily="34" charset="0"/>
                <a:ea typeface="Calibri" pitchFamily="34" charset="-122"/>
                <a:cs typeface="Calibri" pitchFamily="34" charset="-120"/>
              </a:rPr>
              <a:t>Pratap A.</a:t>
            </a:r>
            <a:endParaRPr lang="en-US" sz="1050" dirty="0"/>
          </a:p>
        </p:txBody>
      </p:sp>
      <p:sp>
        <p:nvSpPr>
          <p:cNvPr id="60" name="Shape 55"/>
          <p:cNvSpPr/>
          <p:nvPr/>
        </p:nvSpPr>
        <p:spPr>
          <a:xfrm>
            <a:off x="5435498" y="5266944"/>
            <a:ext cx="1823618" cy="137160"/>
          </a:xfrm>
          <a:prstGeom prst="rect">
            <a:avLst/>
          </a:prstGeom>
          <a:solidFill>
            <a:srgbClr val="F1F2F3"/>
          </a:solidFill>
          <a:ln w="12700">
            <a:solidFill>
              <a:srgbClr val="F1F2F3"/>
            </a:solidFill>
            <a:prstDash val="solid"/>
          </a:ln>
        </p:spPr>
      </p:sp>
      <p:sp>
        <p:nvSpPr>
          <p:cNvPr id="61" name="Shape 56"/>
          <p:cNvSpPr/>
          <p:nvPr/>
        </p:nvSpPr>
        <p:spPr>
          <a:xfrm>
            <a:off x="5435498" y="5266944"/>
            <a:ext cx="994701" cy="137160"/>
          </a:xfrm>
          <a:prstGeom prst="rect">
            <a:avLst/>
          </a:prstGeom>
          <a:solidFill>
            <a:srgbClr val="C0392B"/>
          </a:solidFill>
          <a:ln w="12700">
            <a:solidFill>
              <a:srgbClr val="C0392B"/>
            </a:solidFill>
            <a:prstDash val="solid"/>
          </a:ln>
        </p:spPr>
      </p:sp>
      <p:sp>
        <p:nvSpPr>
          <p:cNvPr id="62" name="Text 57"/>
          <p:cNvSpPr txBox="1"/>
          <p:nvPr/>
        </p:nvSpPr>
        <p:spPr>
          <a:xfrm>
            <a:off x="7304837" y="5212080"/>
            <a:ext cx="457200" cy="237744"/>
          </a:xfrm>
          <a:prstGeom prst="rect">
            <a:avLst/>
          </a:prstGeom>
          <a:noFill/>
          <a:ln/>
        </p:spPr>
        <p:txBody>
          <a:bodyPr wrap="square" lIns="0" tIns="0" rIns="0" bIns="0" rtlCol="0" anchor="ctr"/>
          <a:lstStyle/>
          <a:p>
            <a:pPr indent="0" marL="0">
              <a:buNone/>
            </a:pPr>
            <a:r>
              <a:rPr lang="en-US" sz="1050" b="1" dirty="0">
                <a:solidFill>
                  <a:srgbClr val="1F2933"/>
                </a:solidFill>
                <a:latin typeface="Calibri" pitchFamily="34" charset="0"/>
                <a:ea typeface="Calibri" pitchFamily="34" charset="-122"/>
                <a:cs typeface="Calibri" pitchFamily="34" charset="-120"/>
              </a:rPr>
              <a:t>6</a:t>
            </a:r>
            <a:endParaRPr lang="en-US" sz="1050" dirty="0"/>
          </a:p>
        </p:txBody>
      </p:sp>
      <p:sp>
        <p:nvSpPr>
          <p:cNvPr id="63" name="Text 58"/>
          <p:cNvSpPr txBox="1"/>
          <p:nvPr/>
        </p:nvSpPr>
        <p:spPr>
          <a:xfrm>
            <a:off x="4566818" y="5486400"/>
            <a:ext cx="868680" cy="237744"/>
          </a:xfrm>
          <a:prstGeom prst="rect">
            <a:avLst/>
          </a:prstGeom>
          <a:noFill/>
          <a:ln/>
        </p:spPr>
        <p:txBody>
          <a:bodyPr wrap="square" lIns="0" tIns="0" rIns="0" bIns="0" rtlCol="0" anchor="ctr"/>
          <a:lstStyle/>
          <a:p>
            <a:pPr indent="0" marL="0">
              <a:buNone/>
            </a:pPr>
            <a:r>
              <a:rPr lang="en-US" sz="1050" dirty="0">
                <a:solidFill>
                  <a:srgbClr val="1F2933"/>
                </a:solidFill>
                <a:latin typeface="Calibri" pitchFamily="34" charset="0"/>
                <a:ea typeface="Calibri" pitchFamily="34" charset="-122"/>
                <a:cs typeface="Calibri" pitchFamily="34" charset="-120"/>
              </a:rPr>
              <a:t>Asim S.</a:t>
            </a:r>
            <a:endParaRPr lang="en-US" sz="1050" dirty="0"/>
          </a:p>
        </p:txBody>
      </p:sp>
      <p:sp>
        <p:nvSpPr>
          <p:cNvPr id="64" name="Shape 59"/>
          <p:cNvSpPr/>
          <p:nvPr/>
        </p:nvSpPr>
        <p:spPr>
          <a:xfrm>
            <a:off x="5435498" y="5541264"/>
            <a:ext cx="1823618" cy="137160"/>
          </a:xfrm>
          <a:prstGeom prst="rect">
            <a:avLst/>
          </a:prstGeom>
          <a:solidFill>
            <a:srgbClr val="F1F2F3"/>
          </a:solidFill>
          <a:ln w="12700">
            <a:solidFill>
              <a:srgbClr val="F1F2F3"/>
            </a:solidFill>
            <a:prstDash val="solid"/>
          </a:ln>
        </p:spPr>
      </p:sp>
      <p:sp>
        <p:nvSpPr>
          <p:cNvPr id="65" name="Text 60"/>
          <p:cNvSpPr txBox="1"/>
          <p:nvPr/>
        </p:nvSpPr>
        <p:spPr>
          <a:xfrm>
            <a:off x="7304837" y="5486400"/>
            <a:ext cx="457200" cy="237744"/>
          </a:xfrm>
          <a:prstGeom prst="rect">
            <a:avLst/>
          </a:prstGeom>
          <a:noFill/>
          <a:ln/>
        </p:spPr>
        <p:txBody>
          <a:bodyPr wrap="square" lIns="0" tIns="0" rIns="0" bIns="0" rtlCol="0" anchor="ctr"/>
          <a:lstStyle/>
          <a:p>
            <a:pPr indent="0" marL="0">
              <a:buNone/>
            </a:pPr>
            <a:r>
              <a:rPr lang="en-US" sz="1050" b="1" dirty="0">
                <a:solidFill>
                  <a:srgbClr val="1F2933"/>
                </a:solidFill>
                <a:latin typeface="Calibri" pitchFamily="34" charset="0"/>
                <a:ea typeface="Calibri" pitchFamily="34" charset="-122"/>
                <a:cs typeface="Calibri" pitchFamily="34" charset="-120"/>
              </a:rPr>
              <a:t>0</a:t>
            </a:r>
            <a:endParaRPr lang="en-US" sz="1050" dirty="0"/>
          </a:p>
        </p:txBody>
      </p:sp>
      <p:sp>
        <p:nvSpPr>
          <p:cNvPr id="66" name="Text 61"/>
          <p:cNvSpPr txBox="1"/>
          <p:nvPr/>
        </p:nvSpPr>
        <p:spPr>
          <a:xfrm>
            <a:off x="4566818" y="5760720"/>
            <a:ext cx="868680" cy="237744"/>
          </a:xfrm>
          <a:prstGeom prst="rect">
            <a:avLst/>
          </a:prstGeom>
          <a:noFill/>
          <a:ln/>
        </p:spPr>
        <p:txBody>
          <a:bodyPr wrap="square" lIns="0" tIns="0" rIns="0" bIns="0" rtlCol="0" anchor="ctr"/>
          <a:lstStyle/>
          <a:p>
            <a:pPr indent="0" marL="0">
              <a:buNone/>
            </a:pPr>
            <a:r>
              <a:rPr lang="en-US" sz="1050" dirty="0">
                <a:solidFill>
                  <a:srgbClr val="1F2933"/>
                </a:solidFill>
                <a:latin typeface="Calibri" pitchFamily="34" charset="0"/>
                <a:ea typeface="Calibri" pitchFamily="34" charset="-122"/>
                <a:cs typeface="Calibri" pitchFamily="34" charset="-120"/>
              </a:rPr>
              <a:t>Pushkala V.</a:t>
            </a:r>
            <a:endParaRPr lang="en-US" sz="1050" dirty="0"/>
          </a:p>
        </p:txBody>
      </p:sp>
      <p:sp>
        <p:nvSpPr>
          <p:cNvPr id="67" name="Shape 62"/>
          <p:cNvSpPr/>
          <p:nvPr/>
        </p:nvSpPr>
        <p:spPr>
          <a:xfrm>
            <a:off x="5435498" y="5815584"/>
            <a:ext cx="1823618" cy="137160"/>
          </a:xfrm>
          <a:prstGeom prst="rect">
            <a:avLst/>
          </a:prstGeom>
          <a:solidFill>
            <a:srgbClr val="F1F2F3"/>
          </a:solidFill>
          <a:ln w="12700">
            <a:solidFill>
              <a:srgbClr val="F1F2F3"/>
            </a:solidFill>
            <a:prstDash val="solid"/>
          </a:ln>
        </p:spPr>
      </p:sp>
      <p:sp>
        <p:nvSpPr>
          <p:cNvPr id="68" name="Text 63"/>
          <p:cNvSpPr txBox="1"/>
          <p:nvPr/>
        </p:nvSpPr>
        <p:spPr>
          <a:xfrm>
            <a:off x="7304837" y="5760720"/>
            <a:ext cx="457200" cy="237744"/>
          </a:xfrm>
          <a:prstGeom prst="rect">
            <a:avLst/>
          </a:prstGeom>
          <a:noFill/>
          <a:ln/>
        </p:spPr>
        <p:txBody>
          <a:bodyPr wrap="square" lIns="0" tIns="0" rIns="0" bIns="0" rtlCol="0" anchor="ctr"/>
          <a:lstStyle/>
          <a:p>
            <a:pPr indent="0" marL="0">
              <a:buNone/>
            </a:pPr>
            <a:r>
              <a:rPr lang="en-US" sz="1050" b="1" dirty="0">
                <a:solidFill>
                  <a:srgbClr val="1F2933"/>
                </a:solidFill>
                <a:latin typeface="Calibri" pitchFamily="34" charset="0"/>
                <a:ea typeface="Calibri" pitchFamily="34" charset="-122"/>
                <a:cs typeface="Calibri" pitchFamily="34" charset="-120"/>
              </a:rPr>
              <a:t>0</a:t>
            </a:r>
            <a:endParaRPr lang="en-US" sz="1050" dirty="0"/>
          </a:p>
        </p:txBody>
      </p:sp>
      <p:sp>
        <p:nvSpPr>
          <p:cNvPr id="69" name="Text 64"/>
          <p:cNvSpPr txBox="1"/>
          <p:nvPr/>
        </p:nvSpPr>
        <p:spPr>
          <a:xfrm>
            <a:off x="4566818" y="6035040"/>
            <a:ext cx="868680" cy="237744"/>
          </a:xfrm>
          <a:prstGeom prst="rect">
            <a:avLst/>
          </a:prstGeom>
          <a:noFill/>
          <a:ln/>
        </p:spPr>
        <p:txBody>
          <a:bodyPr wrap="square" lIns="0" tIns="0" rIns="0" bIns="0" rtlCol="0" anchor="ctr"/>
          <a:lstStyle/>
          <a:p>
            <a:pPr indent="0" marL="0">
              <a:buNone/>
            </a:pPr>
            <a:r>
              <a:rPr lang="en-US" sz="1050" dirty="0">
                <a:solidFill>
                  <a:srgbClr val="1F2933"/>
                </a:solidFill>
                <a:latin typeface="Calibri" pitchFamily="34" charset="0"/>
                <a:ea typeface="Calibri" pitchFamily="34" charset="-122"/>
                <a:cs typeface="Calibri" pitchFamily="34" charset="-120"/>
              </a:rPr>
              <a:t>Saikiran N.</a:t>
            </a:r>
            <a:endParaRPr lang="en-US" sz="1050" dirty="0"/>
          </a:p>
        </p:txBody>
      </p:sp>
      <p:sp>
        <p:nvSpPr>
          <p:cNvPr id="70" name="Shape 65"/>
          <p:cNvSpPr/>
          <p:nvPr/>
        </p:nvSpPr>
        <p:spPr>
          <a:xfrm>
            <a:off x="5435498" y="6089904"/>
            <a:ext cx="1823618" cy="137160"/>
          </a:xfrm>
          <a:prstGeom prst="rect">
            <a:avLst/>
          </a:prstGeom>
          <a:solidFill>
            <a:srgbClr val="F1F2F3"/>
          </a:solidFill>
          <a:ln w="12700">
            <a:solidFill>
              <a:srgbClr val="F1F2F3"/>
            </a:solidFill>
            <a:prstDash val="solid"/>
          </a:ln>
        </p:spPr>
      </p:sp>
      <p:sp>
        <p:nvSpPr>
          <p:cNvPr id="71" name="Shape 66"/>
          <p:cNvSpPr/>
          <p:nvPr/>
        </p:nvSpPr>
        <p:spPr>
          <a:xfrm>
            <a:off x="5435498" y="6089904"/>
            <a:ext cx="1823618" cy="137160"/>
          </a:xfrm>
          <a:prstGeom prst="rect">
            <a:avLst/>
          </a:prstGeom>
          <a:solidFill>
            <a:srgbClr val="C0392B"/>
          </a:solidFill>
          <a:ln w="12700">
            <a:solidFill>
              <a:srgbClr val="C0392B"/>
            </a:solidFill>
            <a:prstDash val="solid"/>
          </a:ln>
        </p:spPr>
      </p:sp>
      <p:sp>
        <p:nvSpPr>
          <p:cNvPr id="72" name="Text 67"/>
          <p:cNvSpPr txBox="1"/>
          <p:nvPr/>
        </p:nvSpPr>
        <p:spPr>
          <a:xfrm>
            <a:off x="7304837" y="6035040"/>
            <a:ext cx="457200" cy="237744"/>
          </a:xfrm>
          <a:prstGeom prst="rect">
            <a:avLst/>
          </a:prstGeom>
          <a:noFill/>
          <a:ln/>
        </p:spPr>
        <p:txBody>
          <a:bodyPr wrap="square" lIns="0" tIns="0" rIns="0" bIns="0" rtlCol="0" anchor="ctr"/>
          <a:lstStyle/>
          <a:p>
            <a:pPr indent="0" marL="0">
              <a:buNone/>
            </a:pPr>
            <a:r>
              <a:rPr lang="en-US" sz="1050" b="1" dirty="0">
                <a:solidFill>
                  <a:srgbClr val="1F2933"/>
                </a:solidFill>
                <a:latin typeface="Calibri" pitchFamily="34" charset="0"/>
                <a:ea typeface="Calibri" pitchFamily="34" charset="-122"/>
                <a:cs typeface="Calibri" pitchFamily="34" charset="-120"/>
              </a:rPr>
              <a:t>11</a:t>
            </a:r>
            <a:endParaRPr lang="en-US" sz="1050" dirty="0"/>
          </a:p>
        </p:txBody>
      </p:sp>
      <p:sp>
        <p:nvSpPr>
          <p:cNvPr id="73" name="Shape 68"/>
          <p:cNvSpPr/>
          <p:nvPr/>
        </p:nvSpPr>
        <p:spPr>
          <a:xfrm>
            <a:off x="8127797" y="3977640"/>
            <a:ext cx="3515258" cy="2377440"/>
          </a:xfrm>
          <a:prstGeom prst="roundRect">
            <a:avLst>
              <a:gd name="adj" fmla="val 3846"/>
            </a:avLst>
          </a:prstGeom>
          <a:solidFill>
            <a:srgbClr val="FFFFFF"/>
          </a:solidFill>
          <a:ln w="12700">
            <a:solidFill>
              <a:srgbClr val="FFFFFF"/>
            </a:solidFill>
            <a:prstDash val="solid"/>
          </a:ln>
        </p:spPr>
      </p:sp>
      <p:sp>
        <p:nvSpPr>
          <p:cNvPr id="74" name="Shape 69"/>
          <p:cNvSpPr/>
          <p:nvPr/>
        </p:nvSpPr>
        <p:spPr>
          <a:xfrm>
            <a:off x="8127797" y="3977640"/>
            <a:ext cx="3515258" cy="2377440"/>
          </a:xfrm>
          <a:prstGeom prst="roundRect">
            <a:avLst>
              <a:gd name="adj" fmla="val 3846"/>
            </a:avLst>
          </a:prstGeom>
          <a:ln w="12700">
            <a:solidFill>
              <a:srgbClr val="D5D9DE"/>
            </a:solidFill>
            <a:prstDash val="solid"/>
          </a:ln>
        </p:spPr>
      </p:sp>
      <p:sp>
        <p:nvSpPr>
          <p:cNvPr id="75" name="Shape 70"/>
          <p:cNvSpPr/>
          <p:nvPr/>
        </p:nvSpPr>
        <p:spPr>
          <a:xfrm>
            <a:off x="8356397" y="4178808"/>
            <a:ext cx="502920" cy="502920"/>
          </a:xfrm>
          <a:prstGeom prst="ellipse">
            <a:avLst/>
          </a:prstGeom>
          <a:solidFill>
            <a:srgbClr val="D9796C"/>
          </a:solidFill>
          <a:ln w="12700">
            <a:solidFill>
              <a:srgbClr val="D9796C"/>
            </a:solidFill>
            <a:prstDash val="solid"/>
          </a:ln>
        </p:spPr>
      </p:sp>
      <p:pic>
        <p:nvPicPr>
          <p:cNvPr id="76" name="Image 3" descr="preencoded.png">    </p:cNvPr>
          <p:cNvPicPr>
            <a:picLocks noChangeAspect="1"/>
          </p:cNvPicPr>
          <p:nvPr/>
        </p:nvPicPr>
        <p:blipFill>
          <a:blip r:embed="rId4"/>
          <a:stretch>
            <a:fillRect/>
          </a:stretch>
        </p:blipFill>
        <p:spPr>
          <a:xfrm>
            <a:off x="8482127" y="4304538"/>
            <a:ext cx="251460" cy="251460"/>
          </a:xfrm>
          <a:prstGeom prst="rect">
            <a:avLst/>
          </a:prstGeom>
        </p:spPr>
      </p:pic>
      <p:sp>
        <p:nvSpPr>
          <p:cNvPr id="77" name="Text 71"/>
          <p:cNvSpPr txBox="1"/>
          <p:nvPr/>
        </p:nvSpPr>
        <p:spPr>
          <a:xfrm>
            <a:off x="8996477" y="4087368"/>
            <a:ext cx="1188720" cy="502920"/>
          </a:xfrm>
          <a:prstGeom prst="rect">
            <a:avLst/>
          </a:prstGeom>
          <a:noFill/>
          <a:ln/>
        </p:spPr>
        <p:txBody>
          <a:bodyPr wrap="square" lIns="0" tIns="0" rIns="0" bIns="0" rtlCol="0" anchor="ctr"/>
          <a:lstStyle/>
          <a:p>
            <a:pPr indent="0" marL="0">
              <a:buNone/>
            </a:pPr>
            <a:r>
              <a:rPr lang="en-US" sz="3000" b="1" dirty="0">
                <a:solidFill>
                  <a:srgbClr val="A8483B"/>
                </a:solidFill>
                <a:latin typeface="Calibri" pitchFamily="34" charset="0"/>
                <a:ea typeface="Calibri" pitchFamily="34" charset="-122"/>
                <a:cs typeface="Calibri" pitchFamily="34" charset="-120"/>
              </a:rPr>
              <a:t>421</a:t>
            </a:r>
            <a:endParaRPr lang="en-US" sz="3000" dirty="0"/>
          </a:p>
        </p:txBody>
      </p:sp>
      <p:sp>
        <p:nvSpPr>
          <p:cNvPr id="78" name="Text 72"/>
          <p:cNvSpPr txBox="1"/>
          <p:nvPr/>
        </p:nvSpPr>
        <p:spPr>
          <a:xfrm>
            <a:off x="8996477" y="4544568"/>
            <a:ext cx="2509418" cy="256032"/>
          </a:xfrm>
          <a:prstGeom prst="rect">
            <a:avLst/>
          </a:prstGeom>
          <a:noFill/>
          <a:ln/>
        </p:spPr>
        <p:txBody>
          <a:bodyPr wrap="square" lIns="0" tIns="0" rIns="0" bIns="0" rtlCol="0" anchor="ctr"/>
          <a:lstStyle/>
          <a:p>
            <a:pPr indent="0" marL="0">
              <a:buNone/>
            </a:pPr>
            <a:r>
              <a:rPr lang="en-US" sz="1100" dirty="0">
                <a:solidFill>
                  <a:srgbClr val="5B6670"/>
                </a:solidFill>
                <a:latin typeface="Calibri" pitchFamily="34" charset="0"/>
                <a:ea typeface="Calibri" pitchFamily="34" charset="-122"/>
                <a:cs typeface="Calibri" pitchFamily="34" charset="-120"/>
              </a:rPr>
              <a:t>MEND medium vulnerabilities</a:t>
            </a:r>
            <a:endParaRPr lang="en-US" sz="1100" dirty="0"/>
          </a:p>
        </p:txBody>
      </p:sp>
      <p:sp>
        <p:nvSpPr>
          <p:cNvPr id="79" name="Text 73"/>
          <p:cNvSpPr txBox="1"/>
          <p:nvPr/>
        </p:nvSpPr>
        <p:spPr>
          <a:xfrm>
            <a:off x="8356397" y="4937760"/>
            <a:ext cx="868680" cy="237744"/>
          </a:xfrm>
          <a:prstGeom prst="rect">
            <a:avLst/>
          </a:prstGeom>
          <a:noFill/>
          <a:ln/>
        </p:spPr>
        <p:txBody>
          <a:bodyPr wrap="square" lIns="0" tIns="0" rIns="0" bIns="0" rtlCol="0" anchor="ctr"/>
          <a:lstStyle/>
          <a:p>
            <a:pPr indent="0" marL="0">
              <a:buNone/>
            </a:pPr>
            <a:r>
              <a:rPr lang="en-US" sz="1050" dirty="0">
                <a:solidFill>
                  <a:srgbClr val="1F2933"/>
                </a:solidFill>
                <a:latin typeface="Calibri" pitchFamily="34" charset="0"/>
                <a:ea typeface="Calibri" pitchFamily="34" charset="-122"/>
                <a:cs typeface="Calibri" pitchFamily="34" charset="-120"/>
              </a:rPr>
              <a:t>Siva V.</a:t>
            </a:r>
            <a:endParaRPr lang="en-US" sz="1050" dirty="0"/>
          </a:p>
        </p:txBody>
      </p:sp>
      <p:sp>
        <p:nvSpPr>
          <p:cNvPr id="80" name="Shape 74"/>
          <p:cNvSpPr/>
          <p:nvPr/>
        </p:nvSpPr>
        <p:spPr>
          <a:xfrm>
            <a:off x="9225077" y="4992624"/>
            <a:ext cx="1823618" cy="137160"/>
          </a:xfrm>
          <a:prstGeom prst="rect">
            <a:avLst/>
          </a:prstGeom>
          <a:solidFill>
            <a:srgbClr val="F1F2F3"/>
          </a:solidFill>
          <a:ln w="12700">
            <a:solidFill>
              <a:srgbClr val="F1F2F3"/>
            </a:solidFill>
            <a:prstDash val="solid"/>
          </a:ln>
        </p:spPr>
      </p:sp>
      <p:sp>
        <p:nvSpPr>
          <p:cNvPr id="81" name="Shape 75"/>
          <p:cNvSpPr/>
          <p:nvPr/>
        </p:nvSpPr>
        <p:spPr>
          <a:xfrm>
            <a:off x="9225077" y="4992624"/>
            <a:ext cx="1526436" cy="137160"/>
          </a:xfrm>
          <a:prstGeom prst="rect">
            <a:avLst/>
          </a:prstGeom>
          <a:solidFill>
            <a:srgbClr val="D9796C"/>
          </a:solidFill>
          <a:ln w="12700">
            <a:solidFill>
              <a:srgbClr val="D9796C"/>
            </a:solidFill>
            <a:prstDash val="solid"/>
          </a:ln>
        </p:spPr>
      </p:sp>
      <p:sp>
        <p:nvSpPr>
          <p:cNvPr id="82" name="Text 76"/>
          <p:cNvSpPr txBox="1"/>
          <p:nvPr/>
        </p:nvSpPr>
        <p:spPr>
          <a:xfrm>
            <a:off x="11094415" y="4937760"/>
            <a:ext cx="457200" cy="237744"/>
          </a:xfrm>
          <a:prstGeom prst="rect">
            <a:avLst/>
          </a:prstGeom>
          <a:noFill/>
          <a:ln/>
        </p:spPr>
        <p:txBody>
          <a:bodyPr wrap="square" lIns="0" tIns="0" rIns="0" bIns="0" rtlCol="0" anchor="ctr"/>
          <a:lstStyle/>
          <a:p>
            <a:pPr indent="0" marL="0">
              <a:buNone/>
            </a:pPr>
            <a:r>
              <a:rPr lang="en-US" sz="1050" b="1" dirty="0">
                <a:solidFill>
                  <a:srgbClr val="1F2933"/>
                </a:solidFill>
                <a:latin typeface="Calibri" pitchFamily="34" charset="0"/>
                <a:ea typeface="Calibri" pitchFamily="34" charset="-122"/>
                <a:cs typeface="Calibri" pitchFamily="34" charset="-120"/>
              </a:rPr>
              <a:t>113</a:t>
            </a:r>
            <a:endParaRPr lang="en-US" sz="1050" dirty="0"/>
          </a:p>
        </p:txBody>
      </p:sp>
      <p:sp>
        <p:nvSpPr>
          <p:cNvPr id="83" name="Text 77"/>
          <p:cNvSpPr txBox="1"/>
          <p:nvPr/>
        </p:nvSpPr>
        <p:spPr>
          <a:xfrm>
            <a:off x="8356397" y="5212080"/>
            <a:ext cx="868680" cy="237744"/>
          </a:xfrm>
          <a:prstGeom prst="rect">
            <a:avLst/>
          </a:prstGeom>
          <a:noFill/>
          <a:ln/>
        </p:spPr>
        <p:txBody>
          <a:bodyPr wrap="square" lIns="0" tIns="0" rIns="0" bIns="0" rtlCol="0" anchor="ctr"/>
          <a:lstStyle/>
          <a:p>
            <a:pPr indent="0" marL="0">
              <a:buNone/>
            </a:pPr>
            <a:r>
              <a:rPr lang="en-US" sz="1050" dirty="0">
                <a:solidFill>
                  <a:srgbClr val="1F2933"/>
                </a:solidFill>
                <a:latin typeface="Calibri" pitchFamily="34" charset="0"/>
                <a:ea typeface="Calibri" pitchFamily="34" charset="-122"/>
                <a:cs typeface="Calibri" pitchFamily="34" charset="-120"/>
              </a:rPr>
              <a:t>Pratap A.</a:t>
            </a:r>
            <a:endParaRPr lang="en-US" sz="1050" dirty="0"/>
          </a:p>
        </p:txBody>
      </p:sp>
      <p:sp>
        <p:nvSpPr>
          <p:cNvPr id="84" name="Shape 78"/>
          <p:cNvSpPr/>
          <p:nvPr/>
        </p:nvSpPr>
        <p:spPr>
          <a:xfrm>
            <a:off x="9225077" y="5266944"/>
            <a:ext cx="1823618" cy="137160"/>
          </a:xfrm>
          <a:prstGeom prst="rect">
            <a:avLst/>
          </a:prstGeom>
          <a:solidFill>
            <a:srgbClr val="F1F2F3"/>
          </a:solidFill>
          <a:ln w="12700">
            <a:solidFill>
              <a:srgbClr val="F1F2F3"/>
            </a:solidFill>
            <a:prstDash val="solid"/>
          </a:ln>
        </p:spPr>
      </p:sp>
      <p:sp>
        <p:nvSpPr>
          <p:cNvPr id="85" name="Shape 79"/>
          <p:cNvSpPr/>
          <p:nvPr/>
        </p:nvSpPr>
        <p:spPr>
          <a:xfrm>
            <a:off x="9225077" y="5266944"/>
            <a:ext cx="1377845" cy="137160"/>
          </a:xfrm>
          <a:prstGeom prst="rect">
            <a:avLst/>
          </a:prstGeom>
          <a:solidFill>
            <a:srgbClr val="D9796C"/>
          </a:solidFill>
          <a:ln w="12700">
            <a:solidFill>
              <a:srgbClr val="D9796C"/>
            </a:solidFill>
            <a:prstDash val="solid"/>
          </a:ln>
        </p:spPr>
      </p:sp>
      <p:sp>
        <p:nvSpPr>
          <p:cNvPr id="86" name="Text 80"/>
          <p:cNvSpPr txBox="1"/>
          <p:nvPr/>
        </p:nvSpPr>
        <p:spPr>
          <a:xfrm>
            <a:off x="11094415" y="5212080"/>
            <a:ext cx="457200" cy="237744"/>
          </a:xfrm>
          <a:prstGeom prst="rect">
            <a:avLst/>
          </a:prstGeom>
          <a:noFill/>
          <a:ln/>
        </p:spPr>
        <p:txBody>
          <a:bodyPr wrap="square" lIns="0" tIns="0" rIns="0" bIns="0" rtlCol="0" anchor="ctr"/>
          <a:lstStyle/>
          <a:p>
            <a:pPr indent="0" marL="0">
              <a:buNone/>
            </a:pPr>
            <a:r>
              <a:rPr lang="en-US" sz="1050" b="1" dirty="0">
                <a:solidFill>
                  <a:srgbClr val="1F2933"/>
                </a:solidFill>
                <a:latin typeface="Calibri" pitchFamily="34" charset="0"/>
                <a:ea typeface="Calibri" pitchFamily="34" charset="-122"/>
                <a:cs typeface="Calibri" pitchFamily="34" charset="-120"/>
              </a:rPr>
              <a:t>102</a:t>
            </a:r>
            <a:endParaRPr lang="en-US" sz="1050" dirty="0"/>
          </a:p>
        </p:txBody>
      </p:sp>
      <p:sp>
        <p:nvSpPr>
          <p:cNvPr id="87" name="Text 81"/>
          <p:cNvSpPr txBox="1"/>
          <p:nvPr/>
        </p:nvSpPr>
        <p:spPr>
          <a:xfrm>
            <a:off x="8356397" y="5486400"/>
            <a:ext cx="868680" cy="237744"/>
          </a:xfrm>
          <a:prstGeom prst="rect">
            <a:avLst/>
          </a:prstGeom>
          <a:noFill/>
          <a:ln/>
        </p:spPr>
        <p:txBody>
          <a:bodyPr wrap="square" lIns="0" tIns="0" rIns="0" bIns="0" rtlCol="0" anchor="ctr"/>
          <a:lstStyle/>
          <a:p>
            <a:pPr indent="0" marL="0">
              <a:buNone/>
            </a:pPr>
            <a:r>
              <a:rPr lang="en-US" sz="1050" dirty="0">
                <a:solidFill>
                  <a:srgbClr val="1F2933"/>
                </a:solidFill>
                <a:latin typeface="Calibri" pitchFamily="34" charset="0"/>
                <a:ea typeface="Calibri" pitchFamily="34" charset="-122"/>
                <a:cs typeface="Calibri" pitchFamily="34" charset="-120"/>
              </a:rPr>
              <a:t>Asim S.</a:t>
            </a:r>
            <a:endParaRPr lang="en-US" sz="1050" dirty="0"/>
          </a:p>
        </p:txBody>
      </p:sp>
      <p:sp>
        <p:nvSpPr>
          <p:cNvPr id="88" name="Shape 82"/>
          <p:cNvSpPr/>
          <p:nvPr/>
        </p:nvSpPr>
        <p:spPr>
          <a:xfrm>
            <a:off x="9225077" y="5541264"/>
            <a:ext cx="1823618" cy="137160"/>
          </a:xfrm>
          <a:prstGeom prst="rect">
            <a:avLst/>
          </a:prstGeom>
          <a:solidFill>
            <a:srgbClr val="F1F2F3"/>
          </a:solidFill>
          <a:ln w="12700">
            <a:solidFill>
              <a:srgbClr val="F1F2F3"/>
            </a:solidFill>
            <a:prstDash val="solid"/>
          </a:ln>
        </p:spPr>
      </p:sp>
      <p:sp>
        <p:nvSpPr>
          <p:cNvPr id="89" name="Shape 83"/>
          <p:cNvSpPr/>
          <p:nvPr/>
        </p:nvSpPr>
        <p:spPr>
          <a:xfrm>
            <a:off x="9225077" y="5541264"/>
            <a:ext cx="932072" cy="137160"/>
          </a:xfrm>
          <a:prstGeom prst="rect">
            <a:avLst/>
          </a:prstGeom>
          <a:solidFill>
            <a:srgbClr val="D9796C"/>
          </a:solidFill>
          <a:ln w="12700">
            <a:solidFill>
              <a:srgbClr val="D9796C"/>
            </a:solidFill>
            <a:prstDash val="solid"/>
          </a:ln>
        </p:spPr>
      </p:sp>
      <p:sp>
        <p:nvSpPr>
          <p:cNvPr id="90" name="Text 84"/>
          <p:cNvSpPr txBox="1"/>
          <p:nvPr/>
        </p:nvSpPr>
        <p:spPr>
          <a:xfrm>
            <a:off x="11094415" y="5486400"/>
            <a:ext cx="457200" cy="237744"/>
          </a:xfrm>
          <a:prstGeom prst="rect">
            <a:avLst/>
          </a:prstGeom>
          <a:noFill/>
          <a:ln/>
        </p:spPr>
        <p:txBody>
          <a:bodyPr wrap="square" lIns="0" tIns="0" rIns="0" bIns="0" rtlCol="0" anchor="ctr"/>
          <a:lstStyle/>
          <a:p>
            <a:pPr indent="0" marL="0">
              <a:buNone/>
            </a:pPr>
            <a:r>
              <a:rPr lang="en-US" sz="1050" b="1" dirty="0">
                <a:solidFill>
                  <a:srgbClr val="1F2933"/>
                </a:solidFill>
                <a:latin typeface="Calibri" pitchFamily="34" charset="0"/>
                <a:ea typeface="Calibri" pitchFamily="34" charset="-122"/>
                <a:cs typeface="Calibri" pitchFamily="34" charset="-120"/>
              </a:rPr>
              <a:t>69</a:t>
            </a:r>
            <a:endParaRPr lang="en-US" sz="1050" dirty="0"/>
          </a:p>
        </p:txBody>
      </p:sp>
      <p:sp>
        <p:nvSpPr>
          <p:cNvPr id="91" name="Text 85"/>
          <p:cNvSpPr txBox="1"/>
          <p:nvPr/>
        </p:nvSpPr>
        <p:spPr>
          <a:xfrm>
            <a:off x="8356397" y="5760720"/>
            <a:ext cx="868680" cy="237744"/>
          </a:xfrm>
          <a:prstGeom prst="rect">
            <a:avLst/>
          </a:prstGeom>
          <a:noFill/>
          <a:ln/>
        </p:spPr>
        <p:txBody>
          <a:bodyPr wrap="square" lIns="0" tIns="0" rIns="0" bIns="0" rtlCol="0" anchor="ctr"/>
          <a:lstStyle/>
          <a:p>
            <a:pPr indent="0" marL="0">
              <a:buNone/>
            </a:pPr>
            <a:r>
              <a:rPr lang="en-US" sz="1050" dirty="0">
                <a:solidFill>
                  <a:srgbClr val="1F2933"/>
                </a:solidFill>
                <a:latin typeface="Calibri" pitchFamily="34" charset="0"/>
                <a:ea typeface="Calibri" pitchFamily="34" charset="-122"/>
                <a:cs typeface="Calibri" pitchFamily="34" charset="-120"/>
              </a:rPr>
              <a:t>Pushkala V.</a:t>
            </a:r>
            <a:endParaRPr lang="en-US" sz="1050" dirty="0"/>
          </a:p>
        </p:txBody>
      </p:sp>
      <p:sp>
        <p:nvSpPr>
          <p:cNvPr id="92" name="Shape 86"/>
          <p:cNvSpPr/>
          <p:nvPr/>
        </p:nvSpPr>
        <p:spPr>
          <a:xfrm>
            <a:off x="9225077" y="5815584"/>
            <a:ext cx="1823618" cy="137160"/>
          </a:xfrm>
          <a:prstGeom prst="rect">
            <a:avLst/>
          </a:prstGeom>
          <a:solidFill>
            <a:srgbClr val="F1F2F3"/>
          </a:solidFill>
          <a:ln w="12700">
            <a:solidFill>
              <a:srgbClr val="F1F2F3"/>
            </a:solidFill>
            <a:prstDash val="solid"/>
          </a:ln>
        </p:spPr>
      </p:sp>
      <p:sp>
        <p:nvSpPr>
          <p:cNvPr id="93" name="Shape 87"/>
          <p:cNvSpPr/>
          <p:nvPr/>
        </p:nvSpPr>
        <p:spPr>
          <a:xfrm>
            <a:off x="9225077" y="5815584"/>
            <a:ext cx="36576" cy="137160"/>
          </a:xfrm>
          <a:prstGeom prst="rect">
            <a:avLst/>
          </a:prstGeom>
          <a:solidFill>
            <a:srgbClr val="D9796C"/>
          </a:solidFill>
          <a:ln w="12700">
            <a:solidFill>
              <a:srgbClr val="D9796C"/>
            </a:solidFill>
            <a:prstDash val="solid"/>
          </a:ln>
        </p:spPr>
      </p:sp>
      <p:sp>
        <p:nvSpPr>
          <p:cNvPr id="94" name="Text 88"/>
          <p:cNvSpPr txBox="1"/>
          <p:nvPr/>
        </p:nvSpPr>
        <p:spPr>
          <a:xfrm>
            <a:off x="11094415" y="5760720"/>
            <a:ext cx="457200" cy="237744"/>
          </a:xfrm>
          <a:prstGeom prst="rect">
            <a:avLst/>
          </a:prstGeom>
          <a:noFill/>
          <a:ln/>
        </p:spPr>
        <p:txBody>
          <a:bodyPr wrap="square" lIns="0" tIns="0" rIns="0" bIns="0" rtlCol="0" anchor="ctr"/>
          <a:lstStyle/>
          <a:p>
            <a:pPr indent="0" marL="0">
              <a:buNone/>
            </a:pPr>
            <a:r>
              <a:rPr lang="en-US" sz="1050" b="1" dirty="0">
                <a:solidFill>
                  <a:srgbClr val="1F2933"/>
                </a:solidFill>
                <a:latin typeface="Calibri" pitchFamily="34" charset="0"/>
                <a:ea typeface="Calibri" pitchFamily="34" charset="-122"/>
                <a:cs typeface="Calibri" pitchFamily="34" charset="-120"/>
              </a:rPr>
              <a:t>2</a:t>
            </a:r>
            <a:endParaRPr lang="en-US" sz="1050" dirty="0"/>
          </a:p>
        </p:txBody>
      </p:sp>
      <p:sp>
        <p:nvSpPr>
          <p:cNvPr id="95" name="Text 89"/>
          <p:cNvSpPr txBox="1"/>
          <p:nvPr/>
        </p:nvSpPr>
        <p:spPr>
          <a:xfrm>
            <a:off x="8356397" y="6035040"/>
            <a:ext cx="868680" cy="237744"/>
          </a:xfrm>
          <a:prstGeom prst="rect">
            <a:avLst/>
          </a:prstGeom>
          <a:noFill/>
          <a:ln/>
        </p:spPr>
        <p:txBody>
          <a:bodyPr wrap="square" lIns="0" tIns="0" rIns="0" bIns="0" rtlCol="0" anchor="ctr"/>
          <a:lstStyle/>
          <a:p>
            <a:pPr indent="0" marL="0">
              <a:buNone/>
            </a:pPr>
            <a:r>
              <a:rPr lang="en-US" sz="1050" dirty="0">
                <a:solidFill>
                  <a:srgbClr val="1F2933"/>
                </a:solidFill>
                <a:latin typeface="Calibri" pitchFamily="34" charset="0"/>
                <a:ea typeface="Calibri" pitchFamily="34" charset="-122"/>
                <a:cs typeface="Calibri" pitchFamily="34" charset="-120"/>
              </a:rPr>
              <a:t>Saikiran N.</a:t>
            </a:r>
            <a:endParaRPr lang="en-US" sz="1050" dirty="0"/>
          </a:p>
        </p:txBody>
      </p:sp>
      <p:sp>
        <p:nvSpPr>
          <p:cNvPr id="96" name="Shape 90"/>
          <p:cNvSpPr/>
          <p:nvPr/>
        </p:nvSpPr>
        <p:spPr>
          <a:xfrm>
            <a:off x="9225077" y="6089904"/>
            <a:ext cx="1823618" cy="137160"/>
          </a:xfrm>
          <a:prstGeom prst="rect">
            <a:avLst/>
          </a:prstGeom>
          <a:solidFill>
            <a:srgbClr val="F1F2F3"/>
          </a:solidFill>
          <a:ln w="12700">
            <a:solidFill>
              <a:srgbClr val="F1F2F3"/>
            </a:solidFill>
            <a:prstDash val="solid"/>
          </a:ln>
        </p:spPr>
      </p:sp>
      <p:sp>
        <p:nvSpPr>
          <p:cNvPr id="97" name="Shape 91"/>
          <p:cNvSpPr/>
          <p:nvPr/>
        </p:nvSpPr>
        <p:spPr>
          <a:xfrm>
            <a:off x="9225077" y="6089904"/>
            <a:ext cx="1823618" cy="137160"/>
          </a:xfrm>
          <a:prstGeom prst="rect">
            <a:avLst/>
          </a:prstGeom>
          <a:solidFill>
            <a:srgbClr val="D9796C"/>
          </a:solidFill>
          <a:ln w="12700">
            <a:solidFill>
              <a:srgbClr val="D9796C"/>
            </a:solidFill>
            <a:prstDash val="solid"/>
          </a:ln>
        </p:spPr>
      </p:sp>
      <p:sp>
        <p:nvSpPr>
          <p:cNvPr id="98" name="Text 92"/>
          <p:cNvSpPr txBox="1"/>
          <p:nvPr/>
        </p:nvSpPr>
        <p:spPr>
          <a:xfrm>
            <a:off x="11094415" y="6035040"/>
            <a:ext cx="457200" cy="237744"/>
          </a:xfrm>
          <a:prstGeom prst="rect">
            <a:avLst/>
          </a:prstGeom>
          <a:noFill/>
          <a:ln/>
        </p:spPr>
        <p:txBody>
          <a:bodyPr wrap="square" lIns="0" tIns="0" rIns="0" bIns="0" rtlCol="0" anchor="ctr"/>
          <a:lstStyle/>
          <a:p>
            <a:pPr indent="0" marL="0">
              <a:buNone/>
            </a:pPr>
            <a:r>
              <a:rPr lang="en-US" sz="1050" b="1" dirty="0">
                <a:solidFill>
                  <a:srgbClr val="1F2933"/>
                </a:solidFill>
                <a:latin typeface="Calibri" pitchFamily="34" charset="0"/>
                <a:ea typeface="Calibri" pitchFamily="34" charset="-122"/>
                <a:cs typeface="Calibri" pitchFamily="34" charset="-120"/>
              </a:rPr>
              <a:t>135</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Technology Health Assessment</dc:title>
  <dc:subject>PptxGenJS Presentation</dc:subject>
  <dc:creator>PptxGenJS</dc:creator>
  <cp:lastModifiedBy>PptxGenJS</cp:lastModifiedBy>
  <cp:revision>1</cp:revision>
  <dcterms:created xsi:type="dcterms:W3CDTF">2026-09-29T22:55:00Z</dcterms:created>
  <dcterms:modified xsi:type="dcterms:W3CDTF">2026-09-29T22:55:00Z</dcterms:modified>
</cp:coreProperties>
</file>