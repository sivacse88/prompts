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today: agree on how we decide, not just what we decide. We're asking for a six-week discovery and pre-agreed decision rules, then a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 in a minute. The important line is the last one: the question as asked is binary, and the rest of the deck argues that it shouldn't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4 is the one to land: a rewrite rediscovers undocumented business rules one production incident at a time, and we've already lost the person who knew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slide: we cannot choose a direction until we know which of these is true. Discovery names the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C is a 'new modern app' from the rep's and stakeholder's point of view, without paying to rewrite the parts nobody sees. Two heuristics for the room: Brooks's second-system effect and the Netscape 6 rewrite.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Product directly here: which of the three is it? The answer changes the roadmap on slide 10 but not the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wants to keep 'finish the 55%' as the plan, this is how to finish it well: retire first, then the 55% is a lot smaller.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Stabilization starts this month regardless of the decision. The rep track is the one we can least afford to do badly; that's why we're asking for a UX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ask that matters most today: agree to these rules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 assumes discovery retires or reuses 25–40% of the remaining scope. If retirement comes in low, add a quarter rather than compress the redesign; compressing redesign is how we got the current rep reaction.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Angular is the smallest part of this. The intelligence, validation and audit live server-side, and the model never calls an API without a rep confirming the card. Sequencing: pilot on the documented donor-flow APIs as soon as governance allows, expand as convergence completes.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ask. If we get these five, the next time we're in this room we bring numbers instead of opinions.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7F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brief · Rep application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app: finish, rebuild, or reset?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take a 25-year-old rep application the rest of the way, and what to build on top of it once it's one system.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· Director of Software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Engineering leadership review ·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application, two experiences, and a decision that has been made by default for eight months.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92024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yrs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app was first built on Struts; later collapsed into one Spring Boot app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783080"/>
            <a:ext cx="2606040" cy="192024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/ 55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of features in the new Angular experience vs. still in legacy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606040" cy="192024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mo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migration so far, started with no written scope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783080"/>
            <a:ext cx="2606040" cy="192024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interfaces a rep crosses to finish one customer task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pain we feel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fail new CI/CD quality gates unpredictably; Sonar and security findings pile up in legacy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take longer than they should because every change inherits legacy risk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say which features reps value and which should change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say they don't like the new experience, and the split makes it inconsistent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4023360"/>
            <a:ext cx="5330952" cy="2148840"/>
          </a:xfrm>
          <a:prstGeom prst="rect">
            <a:avLst/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we were asked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572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migrating the remaining 55%, or overhaul and build a new application?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caveats that came with it: users may not like a new experience, and a new app takes time.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Decision brief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Symptoms on top, five problems underneath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rewrite addresses two of them and makes the fourth worse.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 migration with no product thesis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21671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was asked to "modernize two pages." Parity produces an old app in a new framework, and it's why nobody can say which features we like.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90372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experiences for one job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903720" y="21671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Half-migrated is the worst state, not a midpoint. Every task that crosses the boundary pays a context-switch tax.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3756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module taxes every change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1234440" y="36758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gates mean new-stack work inherits legacy risk from the same repo and pipeline. Fixable in weeks, independent of the big decision.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337560"/>
            <a:ext cx="502920" cy="5029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0372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has already leaked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6903720" y="36758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author is gone; 25 years of business rules live in code. This is the strongest argument against a blank-page rewrite.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46320"/>
            <a:ext cx="502920" cy="5029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34440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by opinion, not evidence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1234440" y="518464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usage data, no rep task data, no effort-per-feature data. Any call made today is a debate between anecdotes.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Decision brief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 signal is our most important input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plausible cause points to a different fix, and to a different answer on the big question.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386791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7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7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looks like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7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implies for the 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consumers, used by operators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Whitespace, wizards, one thing per screen. Reps want density, keyboard flow, several things visible at once.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"finish" and "rebuild" fail unless the design language changes.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split itself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Complaints cluster on tasks that cross old and new: re-login, lost context, searching twice.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Cure is consistency and speed of convergence, not starting over.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power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Parity missed shortcuts, bulk actions and side-by-side views nobody wrote down.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 in the new stack; observe reps, don't survey them.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screens are measurably slower for common tasks.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fix in the current stack; no change of direction.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Reps weren't involved, trained or told why.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process fix that de-risks every path.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32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it's usually two or three of these together. The first is the one most often missed in enterprise modernizations, and it's the one that sinks greenfield rebuilds: the new app repeats the same pattern, a year later, at three times the cost.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Decision brief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options, compared honestly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on the table plus the one we think the evidence will lead 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93592" cy="452628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Finish the 55% as parity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9456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migrating feature by feature until legacy is empty. Same approach, more months.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0175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one experience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63824" y="3017520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6E9D3"/>
          </a:solidFill>
          <a:ln w="12700">
            <a:solidFill>
              <a:srgbClr val="F6E9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63824" y="30175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24612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months at measured pace, then redesign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5295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acceptance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63824" y="3529584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3DEDA"/>
          </a:solidFill>
          <a:ln w="12700">
            <a:solidFill>
              <a:srgbClr val="F3DE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63824" y="352958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75818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more of what reps dislike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0416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of the 45%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63824" y="4041648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63824" y="404164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27024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5537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risk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63824" y="4553712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63824" y="45537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7823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06577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meanwhile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63824" y="5065776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3DEDA"/>
          </a:solidFill>
          <a:ln w="12700">
            <a:solidFill>
              <a:srgbClr val="F3DE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63824" y="50657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29437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5596128"/>
            <a:ext cx="3191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when: </a:t>
            </a:r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Product's only priority is speed and the rep issue turns out to be performance or training.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97680" y="1691640"/>
            <a:ext cx="3593592" cy="452628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98848" y="1810512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Greenfield new app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498848" y="219456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from a blank page, run in parallel until cutover.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498848" y="30175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one experience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12864" y="3017520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3DEDA"/>
          </a:solidFill>
          <a:ln w="12700">
            <a:solidFill>
              <a:srgbClr val="F3DE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12864" y="30175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498848" y="324612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18–30 months for a system this old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498848" y="35295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acceptance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12864" y="3529584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6E9D3"/>
          </a:solidFill>
          <a:ln w="12700">
            <a:solidFill>
              <a:srgbClr val="F6E9D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12864" y="352958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498848" y="375818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Unknown; same failure mode at higher cost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498848" y="40416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of the 45%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12864" y="4041648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3DEDA"/>
          </a:solidFill>
          <a:ln w="12700">
            <a:solidFill>
              <a:srgbClr val="F3DED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12864" y="404164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4498848" y="427024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498848" y="45537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risk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12864" y="4553712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3DEDA"/>
          </a:solidFill>
          <a:ln w="12700">
            <a:solidFill>
              <a:srgbClr val="F3DED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12864" y="45537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4498848" y="47823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High; rules rediscovered in production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498848" y="506577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meanwhile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12864" y="5065776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3DEDA"/>
          </a:solidFill>
          <a:ln w="12700">
            <a:solidFill>
              <a:srgbClr val="F3DED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912864" y="50657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4498848" y="529437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Frozen; two codebases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498848" y="5596128"/>
            <a:ext cx="3191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when: </a:t>
            </a:r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finds the domain model or APIs are wrong for where the business is going.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046720" y="1691640"/>
            <a:ext cx="3593592" cy="4526280"/>
          </a:xfrm>
          <a:prstGeom prst="rect">
            <a:avLst/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247888" y="1810512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Reset the strangler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8247888" y="219456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modernized APIs. Retire dead features. Rebuild the experience as one shell designed with reps. Migrate only what earns it.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8247888" y="30175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one experience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661904" y="3017520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661904" y="30175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8247888" y="324612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shell in a quarter; converge in 3–4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8247888" y="35295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acceptance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661904" y="3529584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661904" y="352958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8247888" y="375818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rep observation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8247888" y="40416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of the 45%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661904" y="4041648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661904" y="404164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8247888" y="427024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full, UI partial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8247888" y="45537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risk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0661904" y="4553712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6E9D3"/>
          </a:solidFill>
          <a:ln w="12700">
            <a:solidFill>
              <a:srgbClr val="F6E9D3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0661904" y="45537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8247888" y="47823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Moderate; retire only with proof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8247888" y="506577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meanwhile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0661904" y="5065776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0661904" y="50657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8247888" y="529437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stack only; migrate on touch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8247888" y="5596128"/>
            <a:ext cx="3191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when: </a:t>
            </a:r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outcome. This is the default.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Decision brief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Product's priority should choose the path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under each of the three candidate priorities. One option holds under all three.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645920"/>
                <a:gridCol w="1280160"/>
                <a:gridCol w="41422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7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Product's priority is…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7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Finish parity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7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Greenfield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7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Reset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F7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 looks like under this 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Time: one experience,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86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Viable with scope cuts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A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 reset: unified shell in Q4, retire aggressively, migrate the rest as-is except the top five rep complaints. Two to three quarters.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Experience: reps love the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A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by definition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86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Possible, costly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reset: experience principles and design system first, task-based redesign of top workflows, legacy converges behind it. Three to four quarters.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features: serve customers in new ways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A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feature 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A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Freezes feature 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E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New-stack-only rule for all new capability; legacy migrates on touch. The conversational layer (slide 11) lands here, on the documented donor-flow APIs.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91672" cy="868680"/>
          </a:xfrm>
          <a:prstGeom prst="rect">
            <a:avLst/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 is the default not because it's the boldest, but because it's the only option that doesn't have to bet on which priority Product picks. We still want Product to pick one: it sets how much redesign we do and how fast we converge.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Decision brief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remaining 55% is a portfolio, not a backlog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gets one of five dispositions before anyone writes code. Only two of the five are engineering work.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324612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260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usage in 90 days or a workaround exists. Flag off, watch, delete.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434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share </a:t>
            </a:r>
            <a:pPr indent="0" marL="0">
              <a:buNone/>
            </a:pPr>
            <a:r>
              <a:rPr lang="en-US" sz="1300" b="1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88920" y="1783080"/>
            <a:ext cx="2103120" cy="324612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9659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7180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971800" y="29260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equivalent exists elsewhere in the enterprise. Integrate, after checking it fits rep workflow.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2971800" y="4434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share </a:t>
            </a:r>
            <a:pPr indent="0" marL="0">
              <a:buNone/>
            </a:pPr>
            <a:r>
              <a:rPr lang="en-US" sz="1300" b="1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29200" y="1783080"/>
            <a:ext cx="2103120" cy="324612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96596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1208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212080" y="29260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but required (compliance, edge case). Freeze, reach from the new shell, sunset with a date.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5212080" y="4434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share </a:t>
            </a:r>
            <a:pPr indent="0" marL="0">
              <a:buNone/>
            </a:pPr>
            <a:r>
              <a:rPr lang="en-US" sz="1300" b="1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269480" y="1783080"/>
            <a:ext cx="2103120" cy="324612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96596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23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29260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Used, works, nobody wants it changed. Port as-is with automated parity tests.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7452360" y="4434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share </a:t>
            </a:r>
            <a:pPr indent="0" marL="0">
              <a:buNone/>
            </a:pPr>
            <a:r>
              <a:rPr lang="en-US" sz="1300" b="1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509760" y="1783080"/>
            <a:ext cx="2103120" cy="324612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196596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9264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692640" y="29260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High-frequency, high-friction rep tasks. Where the design effort and rep co-creation go.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9692640" y="4434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share </a:t>
            </a:r>
            <a:pPr indent="0" marL="0">
              <a:buNone/>
            </a:pPr>
            <a:r>
              <a:rPr lang="en-US" sz="1300" b="1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</a:t>
            </a:r>
            <a:endParaRPr lang="en-US" sz="9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are planning assumptions from comparable long-lived internal tools; discovery replaces them with the app numbers. The point: engineering scope is usually 40–55% of the nominal feature count, which changes the time estimate for every option. The same exercise runs over the migrated 45%.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Decision brief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weeks of discovery before we commit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 three people, separate from the September 30 delivery. Each track ends in a written artifact the decision gate consumes.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201168" cy="201168"/>
          </a:xfrm>
          <a:prstGeom prst="ellipse">
            <a:avLst/>
          </a:prstGeom>
          <a:solidFill>
            <a:srgbClr val="1F5F5B"/>
          </a:solidFill>
          <a:ln w="12700">
            <a:solidFill>
              <a:srgbClr val="1F5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2093976"/>
            <a:ext cx="0" cy="694944"/>
          </a:xfrm>
          <a:prstGeom prst="line">
            <a:avLst/>
          </a:prstGeom>
          <a:noFill/>
          <a:ln w="12700">
            <a:solidFill>
              <a:srgbClr val="CBD5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0–2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0756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New-code Sonar profile; legacy module isolated as its own build stage; security findings triaged with AppSec into fix-now / fix-by-date / accept.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0" y="1801368"/>
            <a:ext cx="3227832" cy="786384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77072" y="1801368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pPr indent="0" marL="0">
              <a:buNone/>
            </a:pPr>
            <a:r>
              <a:rPr lang="en-US" sz="11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 the team can trust; a debt register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201168" cy="201168"/>
          </a:xfrm>
          <a:prstGeom prst="ellipse">
            <a:avLst/>
          </a:prstGeom>
          <a:solidFill>
            <a:srgbClr val="1F5F5B"/>
          </a:solidFill>
          <a:ln w="12700">
            <a:solidFill>
              <a:srgbClr val="1F5F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990088"/>
            <a:ext cx="0" cy="694944"/>
          </a:xfrm>
          <a:prstGeom prst="line">
            <a:avLst/>
          </a:prstGeom>
          <a:noFill/>
          <a:ln w="12700">
            <a:solidFill>
              <a:srgbClr val="CBD5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2679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29718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inventory at rep-task level (first draft generated from code); 90 days of usage from access logs and HAR captures; defect history; enterprise capability scan.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0" y="2697480"/>
            <a:ext cx="3227832" cy="786384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77072" y="269748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pPr indent="0" marL="0">
              <a:buNone/>
            </a:pPr>
            <a:r>
              <a:rPr lang="en-US" sz="11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with usage; first-pass disposition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2"/>
            <a:ext cx="201168" cy="201168"/>
          </a:xfrm>
          <a:prstGeom prst="ellipse">
            <a:avLst/>
          </a:prstGeom>
          <a:solidFill>
            <a:srgbClr val="1F5F5B"/>
          </a:solidFill>
          <a:ln w="12700">
            <a:solidFill>
              <a:srgbClr val="1F5F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" y="3886200"/>
            <a:ext cx="0" cy="694944"/>
          </a:xfrm>
          <a:prstGeom prst="line">
            <a:avLst/>
          </a:prstGeom>
          <a:noFill/>
          <a:ln w="12700">
            <a:solidFill>
              <a:srgbClr val="CBD5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3575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2–4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3575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386791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inquiry with 6–8 reps, 90 min each, watching real customer work across both UIs; two sessions on the migrated 45%; top-tasks survey after observation; recruit rep champions.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12480" y="3593592"/>
            <a:ext cx="3227832" cy="786384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77072" y="3593592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pPr indent="0" marL="0">
              <a:buNone/>
            </a:pPr>
            <a:r>
              <a:rPr lang="en-US" sz="11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map; root cause; experience principles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581144"/>
            <a:ext cx="201168" cy="201168"/>
          </a:xfrm>
          <a:prstGeom prst="ellipse">
            <a:avLst/>
          </a:prstGeom>
          <a:solidFill>
            <a:srgbClr val="1F5F5B"/>
          </a:solidFill>
          <a:ln w="12700">
            <a:solidFill>
              <a:srgbClr val="1F5F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" y="4782312"/>
            <a:ext cx="0" cy="694944"/>
          </a:xfrm>
          <a:prstGeom prst="line">
            <a:avLst/>
          </a:prstGeom>
          <a:noFill/>
          <a:ln w="12700">
            <a:solidFill>
              <a:srgbClr val="CBD5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" y="44714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3–5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148840" y="4471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velocity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2148840" y="476402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coverage map per rep task; target architecture (shell + BFF + existing APIs); velocity baseline from the last 8 months applied to every option; knowledge-risk register.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12480" y="4489704"/>
            <a:ext cx="3227832" cy="786384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77072" y="4489704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pPr indent="0" marL="0">
              <a:buNone/>
            </a:pPr>
            <a:r>
              <a:rPr lang="en-US" sz="11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Costed options in quarters and people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5477256"/>
            <a:ext cx="201168" cy="201168"/>
          </a:xfrm>
          <a:prstGeom prst="ellipse">
            <a:avLst/>
          </a:prstGeom>
          <a:solidFill>
            <a:srgbClr val="1F5F5B"/>
          </a:solidFill>
          <a:ln w="12700">
            <a:solidFill>
              <a:srgbClr val="1F5F5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120" y="5367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148840" y="5367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2148840" y="566013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disposition counts and effort; A/B/C costed with assumptions listed; recommendation, roadmap, kill criteria per quarter.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12480" y="5385816"/>
            <a:ext cx="3227832" cy="786384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77072" y="5385816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pPr indent="0" marL="0">
              <a:buNone/>
            </a:pPr>
            <a:r>
              <a:rPr lang="en-US" sz="11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pack for the gate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Decision brief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rules, written before the evidence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gate is a decision, not a rerun of this debate.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93592" cy="3566160"/>
          </a:xfrm>
          <a:prstGeom prst="rect">
            <a:avLst/>
          </a:prstGeom>
          <a:solidFill>
            <a:srgbClr val="F3DEDA"/>
          </a:solidFill>
          <a:ln w="12700">
            <a:solidFill>
              <a:srgbClr val="F3DE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B · Greenfield only if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31363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coverage map shows modernized APIs serve less than a third of top rep tasks, AND the redesign bucket exceeds ~60% of live features, AND Product's priority is experience with a multi-year funding commitment.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three, not any one.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93592" cy="3566160"/>
          </a:xfrm>
          <a:prstGeom prst="rect">
            <a:avLst/>
          </a:prstGeom>
          <a:solidFill>
            <a:srgbClr val="F6E9D3"/>
          </a:solidFill>
          <a:ln w="12700">
            <a:solidFill>
              <a:srgbClr val="F6E9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96596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865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 · Finish parity only if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606040"/>
            <a:ext cx="31363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root cause is performance or change management, retirement removes at least a quarter of the remaining scope, and Product's priority is time with no appetite for redesign.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becomes "A with retirement," which is C-lite by another name.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93592" cy="3566160"/>
          </a:xfrm>
          <a:prstGeom prst="rect">
            <a:avLst/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96596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Otherwise · C · Reset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606040"/>
            <a:ext cx="31363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combination. The roadmap on the next slide assumes this outcome; if the gate chooses differently, the discovery artifacts still feed the alternative.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date: end of week 6 of discovery, with whatever evidence exists. The gate happens on the date; discovery does not expand to fill it.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Decision brief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for the default path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quarter has a rep-visible outcome and a stop condition, so the program can be ended or redirected at a boundary.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33472" cy="685800"/>
          </a:xfrm>
          <a:prstGeom prst="rect">
            <a:avLst/>
          </a:prstGeom>
          <a:solidFill>
            <a:srgbClr val="1F5F5B"/>
          </a:solidFill>
          <a:ln w="12700">
            <a:solidFill>
              <a:srgbClr val="1F5F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7568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front door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633472" cy="370332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06040"/>
            <a:ext cx="2267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Angular shell: single login, navigation, search and customer context across both stacks. Design system with rep experience principles. Top five complaints on the migrated 45% fixed. First retirements behind flags. New-stack-only rule in force.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4348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see
</a:t>
            </a:r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feels like one application even though two run underneath.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25780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8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or redirect if
</a:t>
            </a:r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task time on migrated screens doesn't improve after fixes.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783080"/>
            <a:ext cx="2633472" cy="685800"/>
          </a:xfrm>
          <a:prstGeom prst="rect">
            <a:avLst/>
          </a:prstGeom>
          <a:solidFill>
            <a:srgbClr val="1F5F5B"/>
          </a:solidFill>
          <a:ln w="12700">
            <a:solidFill>
              <a:srgbClr val="1F5F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8288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07568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tasks, redesigned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2468880"/>
            <a:ext cx="2633472" cy="370332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2606040"/>
            <a:ext cx="2267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bucket in order of rep frequency, co-designed with rep champions. Rebuild bucket ported with parity tests. Reuse integrations landed. Retirements confirmed and deleted.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44348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see
</a:t>
            </a:r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tasks reps do most are measurably faster and stay in one place.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525780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8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or redirect if
</a:t>
            </a:r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falls below the discovery baseline for two sprints.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783080"/>
            <a:ext cx="2633472" cy="685800"/>
          </a:xfrm>
          <a:prstGeom prst="rect">
            <a:avLst/>
          </a:prstGeom>
          <a:solidFill>
            <a:srgbClr val="1F5F5B"/>
          </a:solidFill>
          <a:ln w="12700">
            <a:solidFill>
              <a:srgbClr val="1F5F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8288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07568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26480" y="2468880"/>
            <a:ext cx="2633472" cy="370332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2606040"/>
            <a:ext cx="2267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rebuild items. Retain bucket reachable from the shell but frozen. Legacy module read-only and off the main pipeline.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4348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see
</a:t>
            </a:r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rarely see a legacy screen; when they do, it's inside the same shell.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525780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8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or redirect if
</a:t>
            </a:r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handful of retired features come back.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915400" y="1783080"/>
            <a:ext cx="2633472" cy="685800"/>
          </a:xfrm>
          <a:prstGeom prst="rect">
            <a:avLst/>
          </a:prstGeom>
          <a:solidFill>
            <a:srgbClr val="1F5F5B"/>
          </a:solidFill>
          <a:ln w="12700">
            <a:solidFill>
              <a:srgbClr val="1F5F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98280" y="18288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207568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Decommission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15400" y="2468880"/>
            <a:ext cx="2633472" cy="370332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98280" y="2606040"/>
            <a:ext cx="2267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items migrated or sunset. Legacy runtime removed. Debt register closed. Program ends. Conversational layer pilot begins on the converged APIs.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098280" y="44348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see
</a:t>
            </a:r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application. Feature requests get built, not scheduled around a migration.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525780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8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or redirect if
</a:t>
            </a:r>
            <a:pPr indent="0" marL="0">
              <a:buNone/>
            </a:pPr>
            <a:r>
              <a:rPr lang="en-US" sz="10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None; this is the finish line by design.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Decision brief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convergence: a conversational layer over the same APIs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ask the app to do things. The model chooses the API and fills the fields; code validates; the rep confirms; the API executes.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8308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920240" y="2057400"/>
            <a:ext cx="868680" cy="0"/>
          </a:xfrm>
          <a:prstGeom prst="line">
            <a:avLst/>
          </a:prstGeom>
          <a:noFill/>
          <a:ln w="15875">
            <a:solidFill>
              <a:srgbClr val="CBD5CF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548640" y="2423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in Angular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8346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types "contribute $5,000 by check for the Patel giving account." Streams the reply; renders a confirmation card.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83080"/>
            <a:ext cx="548640" cy="548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60520" y="2057400"/>
            <a:ext cx="868680" cy="0"/>
          </a:xfrm>
          <a:prstGeom prst="line">
            <a:avLst/>
          </a:prstGeom>
          <a:noFill/>
          <a:ln w="15875">
            <a:solidFill>
              <a:srgbClr val="CBD5CF"/>
            </a:solidFill>
            <a:prstDash val="solid"/>
            <a:tailEnd type="triangle"/>
          </a:ln>
        </p:spPr>
      </p:sp>
      <p:sp>
        <p:nvSpPr>
          <p:cNvPr id="10" name="Text 6"/>
          <p:cNvSpPr txBox="1"/>
          <p:nvPr/>
        </p:nvSpPr>
        <p:spPr>
          <a:xfrm>
            <a:off x="2788920" y="2423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service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834640" y="28346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(Spring AI). Calls Fidelity's approved LLM endpoint. The browser never talks to the model.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783080"/>
            <a:ext cx="548640" cy="5486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00800" y="2057400"/>
            <a:ext cx="868680" cy="0"/>
          </a:xfrm>
          <a:prstGeom prst="line">
            <a:avLst/>
          </a:prstGeom>
          <a:noFill/>
          <a:ln w="15875">
            <a:solidFill>
              <a:srgbClr val="CBD5CF"/>
            </a:solidFill>
            <a:prstDash val="solid"/>
            <a:tailEnd type="triangle"/>
          </a:ln>
        </p:spPr>
      </p:sp>
      <p:sp>
        <p:nvSpPr>
          <p:cNvPr id="14" name="Text 9"/>
          <p:cNvSpPr txBox="1"/>
          <p:nvPr/>
        </p:nvSpPr>
        <p:spPr>
          <a:xfrm>
            <a:off x="5029200" y="2423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model ("ontology")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074920" y="28346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actions, required fields, eligibility rules, permissions, expressed as tool schemas. Policies in a retrieval index.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783080"/>
            <a:ext cx="548640" cy="5486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641080" y="2057400"/>
            <a:ext cx="868680" cy="0"/>
          </a:xfrm>
          <a:prstGeom prst="line">
            <a:avLst/>
          </a:prstGeom>
          <a:noFill/>
          <a:ln w="15875">
            <a:solidFill>
              <a:srgbClr val="CBD5CF"/>
            </a:solidFill>
            <a:prstDash val="solid"/>
            <a:tailEnd type="triangle"/>
          </a:ln>
        </p:spPr>
      </p:sp>
      <p:sp>
        <p:nvSpPr>
          <p:cNvPr id="18" name="Text 12"/>
          <p:cNvSpPr txBox="1"/>
          <p:nvPr/>
        </p:nvSpPr>
        <p:spPr>
          <a:xfrm>
            <a:off x="7269480" y="2423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validation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7315200" y="28346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checks amounts, account status, contribution rules. The model extracts; it never bypasses a business rule.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178308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509760" y="2423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 confirms, API executes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9555480" y="28346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with the rep's own token, so authorization matches the UI. Prompt, parameters, confirmation and response are audited.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48640" y="4251960"/>
            <a:ext cx="5468112" cy="1920240"/>
          </a:xfrm>
          <a:prstGeom prst="rect">
            <a:avLst/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777240" y="437083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worth doing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777240" y="4709160"/>
            <a:ext cx="5010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multi-step, cross-feature work from the rep's hands while keeping every safeguard the UI has. Start read-only (lookups, explain this account, summarize history); add write actions with confirmation once trusted. It also gives the modernization a better finish line than parity: every rep action becomes an API.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172200" y="4251960"/>
            <a:ext cx="5468112" cy="1920240"/>
          </a:xfrm>
          <a:prstGeom prst="rect">
            <a:avLst/>
          </a:prstGeom>
          <a:solidFill>
            <a:srgbClr val="F5F7F5"/>
          </a:solidFill>
          <a:ln w="12700">
            <a:solidFill>
              <a:srgbClr val="F5F7F5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400800" y="437083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depends on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0" y="4709160"/>
            <a:ext cx="5010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documented APIs for each flow (the contribution flows already qualify, so a pilot can start early). An enterprise LLM endpoint. Model Risk and compliance approval, prompt-injection and PII controls, evaluation suites and audit logging. At Fidelity the governance is the long pole, not the code.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Decision brief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for today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F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on how we decide, and the resources to gather the evidence.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457200" cy="457200"/>
          </a:xfrm>
          <a:prstGeom prst="ellipse">
            <a:avLst/>
          </a:prstGeom>
          <a:solidFill>
            <a:srgbClr val="7FC4BB"/>
          </a:solidFill>
          <a:ln w="12700">
            <a:solidFill>
              <a:srgbClr val="7FC4B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 the decision rules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1226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criteria on slide 9, before discovery starts.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457200" cy="457200"/>
          </a:xfrm>
          <a:prstGeom prst="ellipse">
            <a:avLst/>
          </a:prstGeom>
          <a:solidFill>
            <a:srgbClr val="7FC4BB"/>
          </a:solidFill>
          <a:ln w="12700">
            <a:solidFill>
              <a:srgbClr val="7FC4B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51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 owner for the app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98094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commits to one of the three priorities by the gate and owns the retire list.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457200" cy="457200"/>
          </a:xfrm>
          <a:prstGeom prst="ellipse">
            <a:avLst/>
          </a:prstGeom>
          <a:solidFill>
            <a:srgbClr val="7FC4BB"/>
          </a:solidFill>
          <a:ln w="12700">
            <a:solidFill>
              <a:srgbClr val="7FC4B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520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weeks and three people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4962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legacy-literate engineer, one UX partner (part-time is fine), and me; no capacity taken from September 30.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457200" cy="457200"/>
          </a:xfrm>
          <a:prstGeom prst="ellipse">
            <a:avLst/>
          </a:prstGeom>
          <a:solidFill>
            <a:srgbClr val="7FC4BB"/>
          </a:solidFill>
          <a:ln w="12700">
            <a:solidFill>
              <a:srgbClr val="7FC4B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89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to reps and data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71830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reps for 90 minutes each, arranged through their managers; 90 days of access logs; AppSec time in week one.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12664"/>
            <a:ext cx="457200" cy="457200"/>
          </a:xfrm>
          <a:prstGeom prst="ellipse">
            <a:avLst/>
          </a:prstGeom>
          <a:solidFill>
            <a:srgbClr val="7FC4BB"/>
          </a:solidFill>
          <a:ln w="12700">
            <a:solidFill>
              <a:srgbClr val="7FC4B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stabilization now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5869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New-code quality profile and legacy build isolation this month, whichever way the decision goes.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modernization · Decision brief ·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Modernization: Decision Brief</dc:title>
  <dc:subject>PptxGenJS Presentation</dc:subject>
  <dc:creator>Siva</dc:creator>
  <cp:lastModifiedBy>Siva</cp:lastModifiedBy>
  <cp:revision>1</cp:revision>
  <dcterms:created xsi:type="dcterms:W3CDTF">2026-09-10T11:59:06Z</dcterms:created>
  <dcterms:modified xsi:type="dcterms:W3CDTF">2026-09-10T11:59:06Z</dcterms:modified>
</cp:coreProperties>
</file>