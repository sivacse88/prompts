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negatives are real but each has a mitigation that is already in the plan. The one that decides the program is the first: we have to name why reps dislike the new experience before we build more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decisions are needed from leadership: agree the gate rules now, and pick a product priority by week six. Everything else is engineering's to execute.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Continue modernizing: what it gives us, what it costs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app as one Angular application over backend APIs, then add a conversational layer. The honest case on both sides.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68112" cy="4526280"/>
          </a:xfrm>
          <a:prstGeom prst="rect">
            <a:avLst/>
          </a:prstGeom>
          <a:solidFill>
            <a:srgbClr val="F5F7F5"/>
          </a:solidFill>
          <a:ln w="12700">
            <a:solidFill>
              <a:srgbClr val="F5F7F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61872" y="1874520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377440"/>
            <a:ext cx="5010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consistent experience  </a:t>
            </a:r>
            <a:pPr indent="0" marL="0">
              <a:buNone/>
            </a:pPr>
            <a:r>
              <a:rPr lang="en-US" sz="110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 work in a single interface with one login, one navigation and one customer context. The split, which reps dislike most, goes away.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145536"/>
            <a:ext cx="5010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what already works  </a:t>
            </a:r>
            <a:pPr indent="0" marL="0">
              <a:buNone/>
            </a:pPr>
            <a:r>
              <a:rPr lang="en-US" sz="110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modernized APIs and 45% of migrated features are reused in full. Business rules move behavior by behavior, so 25 years of tacit logic isn't rediscovered in production.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913632"/>
            <a:ext cx="5010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delivery  </a:t>
            </a:r>
            <a:pPr indent="0" marL="0">
              <a:buNone/>
            </a:pPr>
            <a:r>
              <a:rPr lang="en-US" sz="110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Freezing and isolating legacy makes builds pass reliably within weeks; feature-by-feature migration lets us ship, measure and redirect each quarter.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681728"/>
            <a:ext cx="5010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AI  </a:t>
            </a:r>
            <a:pPr indent="0" marL="0">
              <a:buNone/>
            </a:pPr>
            <a:r>
              <a:rPr lang="en-US" sz="110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 action becomes an API. That is exactly what a chat layer needs to validate, confirm and execute a contribution safely on the rep's behalf.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5449824"/>
            <a:ext cx="5010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 stay possible  </a:t>
            </a:r>
            <a:pPr indent="0" marL="0">
              <a:buNone/>
            </a:pPr>
            <a:r>
              <a:rPr lang="en-US" sz="110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capability goes only into the new stack while legacy migrates on touch, so the program doesn't freeze the roadmap.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72200" y="1737360"/>
            <a:ext cx="5468112" cy="4526280"/>
          </a:xfrm>
          <a:prstGeom prst="rect">
            <a:avLst/>
          </a:prstGeom>
          <a:solidFill>
            <a:srgbClr val="F5F7F5"/>
          </a:solidFill>
          <a:ln w="12700">
            <a:solidFill>
              <a:srgbClr val="F5F7F5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745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885432" y="1874520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65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Negatives and how we handle them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400800" y="2377440"/>
            <a:ext cx="5010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 dislike the current new UI  </a:t>
            </a:r>
            <a:pPr indent="0" marL="0">
              <a:buNone/>
            </a:pPr>
            <a:r>
              <a:rPr lang="en-US" sz="110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migrate without fixing the cause, we ship more of the problem. Mitigation: observe reps first, set experience principles, redesign the top tasks with rep champions.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0" y="3145536"/>
            <a:ext cx="5010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converge  </a:t>
            </a:r>
            <a:pPr indent="0" marL="0">
              <a:buNone/>
            </a:pPr>
            <a:r>
              <a:rPr lang="en-US" sz="110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a year at measured velocity even after retiring dead features; legacy and new run side by side until then. Mitigation: one unified shell in the first quarter so it feels like one app early.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6400800" y="3913632"/>
            <a:ext cx="5010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risk  </a:t>
            </a:r>
            <a:pPr indent="0" marL="0">
              <a:buNone/>
            </a:pPr>
            <a:r>
              <a:rPr lang="en-US" sz="110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author has left; undocumented rules could be lost mid-migration. Mitigation: behavior specs per feature and pairing on the legacy code now.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6400800" y="4681728"/>
            <a:ext cx="5010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doesn't vanish on day one  </a:t>
            </a:r>
            <a:pPr indent="0" marL="0">
              <a:buNone/>
            </a:pPr>
            <a:r>
              <a:rPr lang="en-US" sz="110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 and security findings shrink as features retire or move, not immediately. Mitigation: new-code quality profile and a dated debt register.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6400800" y="5449824"/>
            <a:ext cx="5010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 has a long governance pole  </a:t>
            </a:r>
            <a:pPr indent="0" marL="0">
              <a:buNone/>
            </a:pPr>
            <a:r>
              <a:rPr lang="en-US" sz="110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risk, compliance, PII and audit approvals will take longer than the code. Mitigation: start read-only, pilot on the documented contribution APIs.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modernization · Summary ·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 now, decide on evidence in six weeks, converge in four quarters, then put a conversational layer on the APIs.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734312" cy="868680"/>
          </a:xfrm>
          <a:prstGeom prst="rect">
            <a:avLst/>
          </a:prstGeom>
          <a:solidFill>
            <a:srgbClr val="1F5F5B"/>
          </a:solidFill>
          <a:ln w="12700">
            <a:solidFill>
              <a:srgbClr val="1F5F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828800"/>
            <a:ext cx="1459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FC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84832"/>
            <a:ext cx="1459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Stabilize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734312" cy="2148840"/>
          </a:xfrm>
          <a:prstGeom prst="rect">
            <a:avLst/>
          </a:prstGeom>
          <a:solidFill>
            <a:srgbClr val="F5F7F5"/>
          </a:solidFill>
          <a:ln w="12700">
            <a:solidFill>
              <a:srgbClr val="F5F7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761488"/>
            <a:ext cx="145999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New-code Sonar profile; legacy isolated in its own build stage; security findings triaged with AppSec. Builds become predictable this month.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20112" y="1783080"/>
            <a:ext cx="1734312" cy="868680"/>
          </a:xfrm>
          <a:prstGeom prst="rect">
            <a:avLst/>
          </a:prstGeom>
          <a:solidFill>
            <a:srgbClr val="1F5F5B"/>
          </a:solidFill>
          <a:ln w="12700">
            <a:solidFill>
              <a:srgbClr val="1F5F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57272" y="1828800"/>
            <a:ext cx="1459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FC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1–6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557272" y="2084832"/>
            <a:ext cx="1459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20112" y="2651760"/>
            <a:ext cx="1734312" cy="2148840"/>
          </a:xfrm>
          <a:prstGeom prst="rect">
            <a:avLst/>
          </a:prstGeom>
          <a:solidFill>
            <a:srgbClr val="F5F7F5"/>
          </a:solidFill>
          <a:ln w="12700">
            <a:solidFill>
              <a:srgbClr val="F5F7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57272" y="2761488"/>
            <a:ext cx="145999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inventory with 90-day usage; every feature sorted into retire / reuse / retain / rebuild / redesign; 6–8 reps observed at work; velocity baseline and costed options.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91584" y="1783080"/>
            <a:ext cx="1734312" cy="868680"/>
          </a:xfrm>
          <a:prstGeom prst="rect">
            <a:avLst/>
          </a:prstGeom>
          <a:solidFill>
            <a:srgbClr val="A8650F"/>
          </a:solidFill>
          <a:ln w="12700">
            <a:solidFill>
              <a:srgbClr val="A8650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28744" y="1828800"/>
            <a:ext cx="1459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428744" y="2084832"/>
            <a:ext cx="1459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gate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291584" y="2651760"/>
            <a:ext cx="1734312" cy="2148840"/>
          </a:xfrm>
          <a:prstGeom prst="rect">
            <a:avLst/>
          </a:prstGeom>
          <a:solidFill>
            <a:srgbClr val="F5F7F5"/>
          </a:solidFill>
          <a:ln w="12700">
            <a:solidFill>
              <a:srgbClr val="F5F7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28744" y="2761488"/>
            <a:ext cx="145999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Pre-agreed rules pick the path: finish, rebuild, or reset. Product commits to a priority: time, experience, or new features.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63056" y="1783080"/>
            <a:ext cx="1734312" cy="868680"/>
          </a:xfrm>
          <a:prstGeom prst="rect">
            <a:avLst/>
          </a:prstGeom>
          <a:solidFill>
            <a:srgbClr val="1F5F5B"/>
          </a:solidFill>
          <a:ln w="12700">
            <a:solidFill>
              <a:srgbClr val="1F5F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00216" y="1828800"/>
            <a:ext cx="1459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FC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300216" y="2084832"/>
            <a:ext cx="1459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front door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63056" y="2651760"/>
            <a:ext cx="1734312" cy="2148840"/>
          </a:xfrm>
          <a:prstGeom prst="rect">
            <a:avLst/>
          </a:prstGeom>
          <a:solidFill>
            <a:srgbClr val="F5F7F5"/>
          </a:solidFill>
          <a:ln w="12700">
            <a:solidFill>
              <a:srgbClr val="F5F7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00216" y="2761488"/>
            <a:ext cx="145999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Angular shell: single login, navigation, customer context across both stacks. Top five rep complaints fixed. First retirements.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34528" y="1783080"/>
            <a:ext cx="1734312" cy="868680"/>
          </a:xfrm>
          <a:prstGeom prst="rect">
            <a:avLst/>
          </a:prstGeom>
          <a:solidFill>
            <a:srgbClr val="1F5F5B"/>
          </a:solidFill>
          <a:ln w="12700">
            <a:solidFill>
              <a:srgbClr val="1F5F5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71688" y="1828800"/>
            <a:ext cx="1459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FC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Q1–Q2 2027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171688" y="2084832"/>
            <a:ext cx="1459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034528" y="2651760"/>
            <a:ext cx="1734312" cy="2148840"/>
          </a:xfrm>
          <a:prstGeom prst="rect">
            <a:avLst/>
          </a:prstGeom>
          <a:solidFill>
            <a:srgbClr val="F5F7F5"/>
          </a:solidFill>
          <a:ln w="12700">
            <a:solidFill>
              <a:srgbClr val="F5F7F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171688" y="2761488"/>
            <a:ext cx="145999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rep tasks redesigned with rep champions; the rest ported with parity tests; reuse integrations landed; legacy read-only.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906000" y="1783080"/>
            <a:ext cx="1734312" cy="868680"/>
          </a:xfrm>
          <a:prstGeom prst="rect">
            <a:avLst/>
          </a:prstGeom>
          <a:solidFill>
            <a:srgbClr val="163F3C"/>
          </a:solidFill>
          <a:ln w="12700">
            <a:solidFill>
              <a:srgbClr val="163F3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043160" y="1828800"/>
            <a:ext cx="1459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FC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2027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043160" y="2084832"/>
            <a:ext cx="1459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Decommission + AI pilot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906000" y="2651760"/>
            <a:ext cx="1734312" cy="2148840"/>
          </a:xfrm>
          <a:prstGeom prst="rect">
            <a:avLst/>
          </a:prstGeom>
          <a:solidFill>
            <a:srgbClr val="F5F7F5"/>
          </a:solidFill>
          <a:ln w="12700">
            <a:solidFill>
              <a:srgbClr val="F5F7F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043160" y="2761488"/>
            <a:ext cx="145999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runtime removed. Conversational layer pilots on the contribution APIs: chat extracts, code validates, rep confirms, API executes.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029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rules for the program</a:t>
            </a:r>
            <a:endParaRPr lang="en-US" sz="160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40680"/>
            <a:ext cx="365760" cy="365760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1024128" y="5413248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scope and a named product owner
</a:t>
            </a:r>
            <a:pPr indent="0" marL="0">
              <a:buNone/>
            </a:pPr>
            <a:r>
              <a:rPr lang="en-US" sz="105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feature enters a sprint without a disposition.</a:t>
            </a:r>
            <a:endParaRPr lang="en-US" sz="1100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5440680"/>
            <a:ext cx="365760" cy="365760"/>
          </a:xfrm>
          <a:prstGeom prst="rect">
            <a:avLst/>
          </a:prstGeom>
        </p:spPr>
      </p:pic>
      <p:sp>
        <p:nvSpPr>
          <p:cNvPr id="38" name="Text 34"/>
          <p:cNvSpPr txBox="1"/>
          <p:nvPr/>
        </p:nvSpPr>
        <p:spPr>
          <a:xfrm>
            <a:off x="3813048" y="5413248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 in the definition of done
</a:t>
            </a:r>
            <a:pPr indent="0" marL="0">
              <a:buNone/>
            </a:pPr>
            <a:r>
              <a:rPr lang="en-US" sz="105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redesigned task is done when rep champions complete it faster than in legacy.</a:t>
            </a:r>
            <a:endParaRPr lang="en-US" sz="1100" dirty="0"/>
          </a:p>
        </p:txBody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5440680"/>
            <a:ext cx="365760" cy="365760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6601968" y="5413248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frozen, isolated, dated
</a:t>
            </a:r>
            <a:pPr indent="0" marL="0">
              <a:buNone/>
            </a:pPr>
            <a:r>
              <a:rPr lang="en-US" sz="105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work goes only in the new stack; legacy migrates on touch.</a:t>
            </a:r>
            <a:endParaRPr lang="en-US" sz="1100" dirty="0"/>
          </a:p>
        </p:txBody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5440680"/>
            <a:ext cx="365760" cy="365760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9390888" y="5413248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what reps feel
</a:t>
            </a:r>
            <a:pPr indent="0" marL="0">
              <a:buNone/>
            </a:pPr>
            <a:r>
              <a:rPr lang="en-US" sz="105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time for the top ten rep tasks, reported monthly with the debt register.</a:t>
            </a:r>
            <a:endParaRPr lang="en-US" sz="1100" dirty="0"/>
          </a:p>
        </p:txBody>
      </p:sp>
      <p:sp>
        <p:nvSpPr>
          <p:cNvPr id="43" name="Text 3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modernization · Summary ·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 Modernization: Summary</dc:title>
  <dc:subject>PptxGenJS Presentation</dc:subject>
  <dc:creator>Siva</dc:creator>
  <cp:lastModifiedBy>Siva</cp:lastModifiedBy>
  <cp:revision>1</cp:revision>
  <dcterms:created xsi:type="dcterms:W3CDTF">2026-09-10T11:59:06Z</dcterms:created>
  <dcterms:modified xsi:type="dcterms:W3CDTF">2026-09-10T11:59:06Z</dcterms:modified>
</cp:coreProperties>
</file>