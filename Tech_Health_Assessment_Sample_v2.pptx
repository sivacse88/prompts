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EDD3"/>
              </a:solidFill>
              <a:ln w="25400" cap="flat">
                <a:solidFill>
                  <a:srgbClr val="12402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9D08E"/>
              </a:solidFill>
              <a:ln w="25400" cap="flat">
                <a:solidFill>
                  <a:srgbClr val="12402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BA55D"/>
              </a:solidFill>
              <a:ln w="25400" cap="flat">
                <a:solidFill>
                  <a:srgbClr val="12402A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68727"/>
              </a:solidFill>
              <a:ln w="25400" cap="flat">
                <a:solidFill>
                  <a:srgbClr val="12402A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2E6E3C"/>
              </a:solidFill>
              <a:ln w="25400" cap="flat">
                <a:solidFill>
                  <a:srgbClr val="12402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Siva V.</c:v>
                </c:pt>
                <c:pt idx="1">
                  <c:v>Pratap A.</c:v>
                </c:pt>
                <c:pt idx="2">
                  <c:v>Asim S.</c:v>
                </c:pt>
                <c:pt idx="3">
                  <c:v>Pushkala V.</c:v>
                </c:pt>
                <c:pt idx="4">
                  <c:v>Saikiran N.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</c:v>
                </c:pt>
                <c:pt idx="1">
                  <c:v>25</c:v>
                </c:pt>
                <c:pt idx="2">
                  <c:v>36</c:v>
                </c:pt>
                <c:pt idx="3">
                  <c:v>18</c:v>
                </c:pt>
                <c:pt idx="4">
                  <c:v>37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5B3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6872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BA55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9D08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Production  56</c:v>
                </c:pt>
                <c:pt idx="1">
                  <c:v>Production Ready  1</c:v>
                </c:pt>
                <c:pt idx="2">
                  <c:v>Acquisition / Dev  20</c:v>
                </c:pt>
                <c:pt idx="3">
                  <c:v>Concept  51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</c:v>
                </c:pt>
                <c:pt idx="1">
                  <c:v>1</c:v>
                </c:pt>
                <c:pt idx="2">
                  <c:v>20</c:v>
                </c:pt>
                <c:pt idx="3">
                  <c:v>51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rgbClr val="1E5B3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12</c:v>
                </c:pt>
                <c:pt idx="2">
                  <c:v>16</c:v>
                </c:pt>
                <c:pt idx="3">
                  <c:v>2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 Ready</c:v>
                </c:pt>
              </c:strCache>
            </c:strRef>
          </c:tx>
          <c:spPr>
            <a:solidFill>
              <a:srgbClr val="368727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Acquisition / Dev</c:v>
                </c:pt>
              </c:strCache>
            </c:strRef>
          </c:tx>
          <c:spPr>
            <a:solidFill>
              <a:srgbClr val="6BA55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9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Concept</c:v>
                </c:pt>
              </c:strCache>
            </c:strRef>
          </c:tx>
          <c:spPr>
            <a:solidFill>
              <a:srgbClr val="A9D08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10</c:v>
                </c:pt>
                <c:pt idx="3">
                  <c:v>15</c:v>
                </c:pt>
                <c:pt idx="4">
                  <c:v>12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5B3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6872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BA55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9D08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Production</c:v>
                </c:pt>
                <c:pt idx="1">
                  <c:v>Production Ready</c:v>
                </c:pt>
                <c:pt idx="2">
                  <c:v>Acquisition / Dev</c:v>
                </c:pt>
                <c:pt idx="3">
                  <c:v>Concept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</c:v>
                </c:pt>
                <c:pt idx="1">
                  <c:v>1</c:v>
                </c:pt>
                <c:pt idx="2">
                  <c:v>20</c:v>
                </c:pt>
                <c:pt idx="3">
                  <c:v>51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5B3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6872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BA55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9D08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4A657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8FA3A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D5D9D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Spring Boot  27</c:v>
                </c:pt>
                <c:pt idx="1">
                  <c:v>Batch  13</c:v>
                </c:pt>
                <c:pt idx="2">
                  <c:v>Library  18</c:v>
                </c:pt>
                <c:pt idx="3">
                  <c:v>UI / Angular  9</c:v>
                </c:pt>
                <c:pt idx="4">
                  <c:v>Automation  10</c:v>
                </c:pt>
                <c:pt idx="5">
                  <c:v>Misc  2</c:v>
                </c:pt>
                <c:pt idx="6">
                  <c:v>Unclassified  49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27</c:v>
                </c:pt>
                <c:pt idx="1">
                  <c:v>13</c:v>
                </c:pt>
                <c:pt idx="2">
                  <c:v>18</c:v>
                </c:pt>
                <c:pt idx="3">
                  <c:v>9</c:v>
                </c:pt>
                <c:pt idx="4">
                  <c:v>10</c:v>
                </c:pt>
                <c:pt idx="5">
                  <c:v>2</c:v>
                </c:pt>
                <c:pt idx="6">
                  <c:v>49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Spring Boot</c:v>
                </c:pt>
              </c:strCache>
            </c:strRef>
          </c:tx>
          <c:spPr>
            <a:solidFill>
              <a:srgbClr val="1E5B3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8</c:v>
                </c:pt>
                <c:pt idx="3">
                  <c:v>2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</c:v>
                </c:pt>
              </c:strCache>
            </c:strRef>
          </c:tx>
          <c:spPr>
            <a:solidFill>
              <a:srgbClr val="368727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Library</c:v>
                </c:pt>
              </c:strCache>
            </c:strRef>
          </c:tx>
          <c:spPr>
            <a:solidFill>
              <a:srgbClr val="6BA55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UI / Angular</c:v>
                </c:pt>
              </c:strCache>
            </c:strRef>
          </c:tx>
          <c:spPr>
            <a:solidFill>
              <a:srgbClr val="A9D08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rgbClr val="4A657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Misc</c:v>
                </c:pt>
              </c:strCache>
            </c:strRef>
          </c:tx>
          <c:spPr>
            <a:solidFill>
              <a:srgbClr val="8FA3A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Unclassified</c:v>
                </c:pt>
              </c:strCache>
            </c:strRef>
          </c:tx>
          <c:spPr>
            <a:solidFill>
              <a:srgbClr val="D5D9D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13</c:v>
                </c:pt>
                <c:pt idx="3">
                  <c:v>15</c:v>
                </c:pt>
                <c:pt idx="4">
                  <c:v>13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A9D08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19</c:v>
                </c:pt>
                <c:pt idx="2">
                  <c:v>27</c:v>
                </c:pt>
                <c:pt idx="3">
                  <c:v>18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Approaching EOL</c:v>
                </c:pt>
              </c:strCache>
            </c:strRef>
          </c:tx>
          <c:spPr>
            <a:solidFill>
              <a:srgbClr val="E0A31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0</c:v>
                </c:pt>
                <c:pt idx="4">
                  <c:v>12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3A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6872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0A31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5D9D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Good (80%+)  4</c:v>
                </c:pt>
                <c:pt idx="1">
                  <c:v>Partial (50–79%)  1</c:v>
                </c:pt>
                <c:pt idx="2">
                  <c:v>Low (&lt;50%)  1</c:v>
                </c:pt>
                <c:pt idx="3">
                  <c:v>Not reported  122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122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 per app</c:v>
                </c:pt>
              </c:strCache>
            </c:strRef>
          </c:tx>
          <c:spPr>
            <a:solidFill>
              <a:srgbClr val="D9796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Siva V.</c:v>
                  </c:pt>
                  <c:pt idx="1">
                    <c:v>Pratap A.</c:v>
                  </c:pt>
                  <c:pt idx="2">
                    <c:v>Asim S.</c:v>
                  </c:pt>
                  <c:pt idx="3">
                    <c:v>Pushkala V.</c:v>
                  </c:pt>
                  <c:pt idx="4">
                    <c:v>Saikiran N.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14.6</c:v>
                </c:pt>
                <c:pt idx="1">
                  <c:v>5.3</c:v>
                </c:pt>
                <c:pt idx="2">
                  <c:v>3.6</c:v>
                </c:pt>
                <c:pt idx="3">
                  <c:v>0.1</c:v>
                </c:pt>
                <c:pt idx="4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7E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 snapshot of the health of our application portfolio across lifecycle, security, quality visibility and test automation. All numbers in this sample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three headlines. Everything after this slide is supporting detail by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one manager. The bar shows stage mix (dark = production, light = concept). Amber and red text flag lifecycle and secrets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Asim and Saikiran together own 73 of 128 apps and 36 of 56 production apps. Pushkala's portfolio is mostly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whole-portfolio mix. Right: each manager's mix as 100% bars so portfolios of different size compare fairly. Pushkala has 15 of 18 apps unclassified.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approaching EOL. Days counted from Sep 29, 2026. Ask each manager for a remediation plan and owner per app by Oct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share of each manager's apps with a Sonar project key, against an 80% target. Right: the Automation coverage E2E column, bucketed. 122 apps report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Siva's portfolio has the highest findings per app because it is small (12 apps) with 113 MEND medium. Saikiran has the most secrets exposed (11). No MEND critical findings are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per manager. Every column is normalised by portfolio size so large and small portfolios compare fairly. Agree the thresholds with leadership before first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leadership to endorse these four actions and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DATA IS ILLUSTRATIVE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Health Assessment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Charitable application portfolio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06640" y="1188720"/>
          <a:ext cx="4297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412480" y="2788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5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· 5 managers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the portfolio hits end of life on one date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1325880"/>
          </a:xfrm>
          <a:prstGeom prst="roundRect">
            <a:avLst>
              <a:gd name="adj" fmla="val 6897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731520" cy="731520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83003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37360"/>
            <a:ext cx="1196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95728"/>
            <a:ext cx="119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90824" y="1600200"/>
            <a:ext cx="2567864" cy="1325880"/>
          </a:xfrm>
          <a:prstGeom prst="roundRect">
            <a:avLst>
              <a:gd name="adj" fmla="val 6897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65144" y="1892808"/>
            <a:ext cx="731520" cy="731520"/>
          </a:xfrm>
          <a:prstGeom prst="ellipse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339" y="208300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9544" y="1737360"/>
            <a:ext cx="1196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4579544" y="2395728"/>
            <a:ext cx="119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1600200"/>
            <a:ext cx="2567864" cy="1325880"/>
          </a:xfrm>
          <a:prstGeom prst="roundRect">
            <a:avLst>
              <a:gd name="adj" fmla="val 6897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07328" y="1892808"/>
            <a:ext cx="731520" cy="731520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23" y="208300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21728" y="1737360"/>
            <a:ext cx="1196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000" dirty="0"/>
          </a:p>
        </p:txBody>
      </p:sp>
      <p:sp>
        <p:nvSpPr>
          <p:cNvPr id="18" name="Text 13"/>
          <p:cNvSpPr txBox="1"/>
          <p:nvPr/>
        </p:nvSpPr>
        <p:spPr>
          <a:xfrm>
            <a:off x="7421728" y="2395728"/>
            <a:ext cx="119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EOL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75191" y="1600200"/>
            <a:ext cx="2567864" cy="1325880"/>
          </a:xfrm>
          <a:prstGeom prst="roundRect">
            <a:avLst>
              <a:gd name="adj" fmla="val 6897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49511" y="1892808"/>
            <a:ext cx="731520" cy="731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707" y="208300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263911" y="1737360"/>
            <a:ext cx="1196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17"/>
          <p:cNvSpPr txBox="1"/>
          <p:nvPr/>
        </p:nvSpPr>
        <p:spPr>
          <a:xfrm>
            <a:off x="10263911" y="2395728"/>
            <a:ext cx="119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E2E automation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by stage</a:t>
            </a:r>
            <a:endParaRPr lang="en-US" sz="15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3602736"/>
          <a:ext cx="2715768" cy="2715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992124" y="45491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3000" dirty="0"/>
          </a:p>
        </p:txBody>
      </p:sp>
      <p:sp>
        <p:nvSpPr>
          <p:cNvPr id="27" name="Shape 20"/>
          <p:cNvSpPr/>
          <p:nvPr/>
        </p:nvSpPr>
        <p:spPr>
          <a:xfrm>
            <a:off x="3401568" y="44119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657600" y="43388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 56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401568" y="47228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3657600" y="46497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 1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401568" y="503377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657600" y="49606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/ Dev  20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3401568" y="534466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657600" y="52715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 51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035040" y="3429000"/>
            <a:ext cx="658368" cy="658368"/>
          </a:xfrm>
          <a:prstGeom prst="ellipse">
            <a:avLst/>
          </a:prstGeom>
          <a:solidFill>
            <a:srgbClr val="FBEBC4"/>
          </a:solidFill>
          <a:ln w="12700">
            <a:solidFill>
              <a:srgbClr val="FBEBC4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216" y="3600176"/>
            <a:ext cx="316017" cy="31601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903720" y="34107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6903720" y="3730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apps (25%) share one EOL date, 1 Dec 2026 — 63 days away.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6035040" y="4389120"/>
            <a:ext cx="658368" cy="658368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216" y="4560296"/>
            <a:ext cx="316017" cy="316017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903720" y="4370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42" name="Text 33"/>
          <p:cNvSpPr txBox="1"/>
          <p:nvPr/>
        </p:nvSpPr>
        <p:spPr>
          <a:xfrm>
            <a:off x="690372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128 apps report 80%+ end-to-end automation coverage.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6035040" y="5349240"/>
            <a:ext cx="658368" cy="658368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216" y="5520416"/>
            <a:ext cx="316017" cy="31601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903720" y="5330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6903720" y="56509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apps have no app type and 76 are not in Sonar — risk is under-reported.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portfolios, five different health profiles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development manager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36003" cy="461772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801368"/>
            <a:ext cx="10301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11880"/>
            <a:ext cx="1578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789402" cy="237744"/>
          </a:xfrm>
          <a:prstGeom prst="rect">
            <a:avLst/>
          </a:prstGeom>
          <a:solidFill>
            <a:srgbClr val="1E5B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66642" y="3886200"/>
            <a:ext cx="263134" cy="237744"/>
          </a:xfrm>
          <a:prstGeom prst="rect">
            <a:avLst/>
          </a:prstGeom>
          <a:solidFill>
            <a:srgbClr val="6BA55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9775" y="3886200"/>
            <a:ext cx="526268" cy="237744"/>
          </a:xfrm>
          <a:prstGeom prst="rect">
            <a:avLst/>
          </a:prstGeom>
          <a:solidFill>
            <a:srgbClr val="A9D08E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398264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3000" y="4343400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approaching EOL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82803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43000" y="4773168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secrets exposed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25780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43000" y="5202936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 findings / app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68756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5632704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in Sonar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813243" y="1600200"/>
            <a:ext cx="2036003" cy="461772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041843" y="1828800"/>
            <a:ext cx="566928" cy="566928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3041843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3700211" y="1801368"/>
            <a:ext cx="10301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3041843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27" name="Text 21"/>
          <p:cNvSpPr txBox="1"/>
          <p:nvPr/>
        </p:nvSpPr>
        <p:spPr>
          <a:xfrm>
            <a:off x="3041843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3041843" y="3611880"/>
            <a:ext cx="1578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mix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041843" y="3886200"/>
            <a:ext cx="757825" cy="237744"/>
          </a:xfrm>
          <a:prstGeom prst="rect">
            <a:avLst/>
          </a:prstGeom>
          <a:solidFill>
            <a:srgbClr val="1E5B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799668" y="3886200"/>
            <a:ext cx="189456" cy="237744"/>
          </a:xfrm>
          <a:prstGeom prst="rect">
            <a:avLst/>
          </a:prstGeom>
          <a:solidFill>
            <a:srgbClr val="6BA55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989125" y="3886200"/>
            <a:ext cx="631521" cy="237744"/>
          </a:xfrm>
          <a:prstGeom prst="rect">
            <a:avLst/>
          </a:prstGeom>
          <a:solidFill>
            <a:srgbClr val="A9D08E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131" y="4398264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3407603" y="4343400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approaching EOL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131" y="482803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407603" y="4773168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secrets exposed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0131" y="525780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407603" y="5202936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findings / app</a:t>
            </a:r>
            <a:endParaRPr lang="en-US" sz="12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0131" y="5687568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407603" y="5632704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in Sonar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077846" y="1600200"/>
            <a:ext cx="2036003" cy="461772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5306446" y="1828800"/>
            <a:ext cx="566928" cy="566928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530644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5964814" y="1801368"/>
            <a:ext cx="10301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5306446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400" dirty="0"/>
          </a:p>
        </p:txBody>
      </p:sp>
      <p:sp>
        <p:nvSpPr>
          <p:cNvPr id="45" name="Text 35"/>
          <p:cNvSpPr txBox="1"/>
          <p:nvPr/>
        </p:nvSpPr>
        <p:spPr>
          <a:xfrm>
            <a:off x="5306446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5306446" y="3611880"/>
            <a:ext cx="1578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mix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5306446" y="3886200"/>
            <a:ext cx="701690" cy="237744"/>
          </a:xfrm>
          <a:prstGeom prst="rect">
            <a:avLst/>
          </a:prstGeom>
          <a:solidFill>
            <a:srgbClr val="1E5B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008136" y="3886200"/>
            <a:ext cx="43856" cy="237744"/>
          </a:xfrm>
          <a:prstGeom prst="rect">
            <a:avLst/>
          </a:prstGeom>
          <a:solidFill>
            <a:srgbClr val="36872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051992" y="3886200"/>
            <a:ext cx="394701" cy="237744"/>
          </a:xfrm>
          <a:prstGeom prst="rect">
            <a:avLst/>
          </a:prstGeom>
          <a:solidFill>
            <a:srgbClr val="6BA55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6446693" y="3886200"/>
            <a:ext cx="438556" cy="237744"/>
          </a:xfrm>
          <a:prstGeom prst="rect">
            <a:avLst/>
          </a:prstGeom>
          <a:solidFill>
            <a:srgbClr val="A9D08E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4734" y="4398264"/>
            <a:ext cx="219456" cy="219456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672206" y="4343400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approaching EOL</a:t>
            </a:r>
            <a:endParaRPr lang="en-US" sz="12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4734" y="4828032"/>
            <a:ext cx="219456" cy="219456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5672206" y="4773168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secrets exposed</a:t>
            </a:r>
            <a:endParaRPr lang="en-US" sz="1200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4734" y="5257800"/>
            <a:ext cx="219456" cy="219456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672206" y="5202936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findings / app</a:t>
            </a:r>
            <a:endParaRPr lang="en-US" sz="1200" dirty="0"/>
          </a:p>
        </p:txBody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4734" y="5687568"/>
            <a:ext cx="219456" cy="219456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5672206" y="5632704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in Sonar</a:t>
            </a:r>
            <a:endParaRPr lang="en-US" sz="1200" dirty="0"/>
          </a:p>
        </p:txBody>
      </p:sp>
      <p:sp>
        <p:nvSpPr>
          <p:cNvPr id="59" name="Shape 45"/>
          <p:cNvSpPr/>
          <p:nvPr/>
        </p:nvSpPr>
        <p:spPr>
          <a:xfrm>
            <a:off x="7342449" y="1600200"/>
            <a:ext cx="2036003" cy="461772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7571049" y="1828800"/>
            <a:ext cx="566928" cy="566928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61" name="Text 47"/>
          <p:cNvSpPr txBox="1"/>
          <p:nvPr/>
        </p:nvSpPr>
        <p:spPr>
          <a:xfrm>
            <a:off x="7571049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500" dirty="0"/>
          </a:p>
        </p:txBody>
      </p:sp>
      <p:sp>
        <p:nvSpPr>
          <p:cNvPr id="62" name="Text 48"/>
          <p:cNvSpPr txBox="1"/>
          <p:nvPr/>
        </p:nvSpPr>
        <p:spPr>
          <a:xfrm>
            <a:off x="8229417" y="1801368"/>
            <a:ext cx="10301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endParaRPr lang="en-US" sz="1300" dirty="0"/>
          </a:p>
        </p:txBody>
      </p:sp>
      <p:sp>
        <p:nvSpPr>
          <p:cNvPr id="63" name="Text 49"/>
          <p:cNvSpPr txBox="1"/>
          <p:nvPr/>
        </p:nvSpPr>
        <p:spPr>
          <a:xfrm>
            <a:off x="7571049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400" dirty="0"/>
          </a:p>
        </p:txBody>
      </p:sp>
      <p:sp>
        <p:nvSpPr>
          <p:cNvPr id="64" name="Text 50"/>
          <p:cNvSpPr txBox="1"/>
          <p:nvPr/>
        </p:nvSpPr>
        <p:spPr>
          <a:xfrm>
            <a:off x="7571049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65" name="Text 51"/>
          <p:cNvSpPr txBox="1"/>
          <p:nvPr/>
        </p:nvSpPr>
        <p:spPr>
          <a:xfrm>
            <a:off x="7571049" y="3611880"/>
            <a:ext cx="1578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mix</a:t>
            </a:r>
            <a:endParaRPr lang="en-US" sz="1100" dirty="0"/>
          </a:p>
        </p:txBody>
      </p:sp>
      <p:sp>
        <p:nvSpPr>
          <p:cNvPr id="66" name="Shape 52"/>
          <p:cNvSpPr/>
          <p:nvPr/>
        </p:nvSpPr>
        <p:spPr>
          <a:xfrm>
            <a:off x="7571049" y="3886200"/>
            <a:ext cx="175423" cy="237744"/>
          </a:xfrm>
          <a:prstGeom prst="rect">
            <a:avLst/>
          </a:prstGeom>
          <a:solidFill>
            <a:srgbClr val="1E5B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7746472" y="3886200"/>
            <a:ext cx="87711" cy="237744"/>
          </a:xfrm>
          <a:prstGeom prst="rect">
            <a:avLst/>
          </a:prstGeom>
          <a:solidFill>
            <a:srgbClr val="6BA55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7834183" y="3886200"/>
            <a:ext cx="1315669" cy="237744"/>
          </a:xfrm>
          <a:prstGeom prst="rect">
            <a:avLst/>
          </a:prstGeom>
          <a:solidFill>
            <a:srgbClr val="A9D08E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337" y="4398264"/>
            <a:ext cx="219456" cy="219456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7936809" y="4343400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approaching EOL</a:t>
            </a:r>
            <a:endParaRPr lang="en-US" sz="1200" dirty="0"/>
          </a:p>
        </p:txBody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89337" y="4828032"/>
            <a:ext cx="219456" cy="219456"/>
          </a:xfrm>
          <a:prstGeom prst="rect">
            <a:avLst/>
          </a:prstGeom>
        </p:spPr>
      </p:pic>
      <p:sp>
        <p:nvSpPr>
          <p:cNvPr id="72" name="Text 56"/>
          <p:cNvSpPr txBox="1"/>
          <p:nvPr/>
        </p:nvSpPr>
        <p:spPr>
          <a:xfrm>
            <a:off x="7936809" y="4773168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secrets exposed</a:t>
            </a:r>
            <a:endParaRPr lang="en-US" sz="1200" dirty="0"/>
          </a:p>
        </p:txBody>
      </p:sp>
      <p:pic>
        <p:nvPicPr>
          <p:cNvPr id="7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9337" y="5257800"/>
            <a:ext cx="219456" cy="219456"/>
          </a:xfrm>
          <a:prstGeom prst="rect">
            <a:avLst/>
          </a:prstGeom>
        </p:spPr>
      </p:pic>
      <p:sp>
        <p:nvSpPr>
          <p:cNvPr id="74" name="Text 57"/>
          <p:cNvSpPr txBox="1"/>
          <p:nvPr/>
        </p:nvSpPr>
        <p:spPr>
          <a:xfrm>
            <a:off x="7936809" y="5202936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findings / app</a:t>
            </a:r>
            <a:endParaRPr lang="en-US" sz="1200" dirty="0"/>
          </a:p>
        </p:txBody>
      </p:sp>
      <p:pic>
        <p:nvPicPr>
          <p:cNvPr id="7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9337" y="5687568"/>
            <a:ext cx="219456" cy="219456"/>
          </a:xfrm>
          <a:prstGeom prst="rect">
            <a:avLst/>
          </a:prstGeom>
        </p:spPr>
      </p:pic>
      <p:sp>
        <p:nvSpPr>
          <p:cNvPr id="76" name="Text 58"/>
          <p:cNvSpPr txBox="1"/>
          <p:nvPr/>
        </p:nvSpPr>
        <p:spPr>
          <a:xfrm>
            <a:off x="7936809" y="5632704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in Sonar</a:t>
            </a:r>
            <a:endParaRPr lang="en-US" sz="1200" dirty="0"/>
          </a:p>
        </p:txBody>
      </p:sp>
      <p:sp>
        <p:nvSpPr>
          <p:cNvPr id="77" name="Shape 59"/>
          <p:cNvSpPr/>
          <p:nvPr/>
        </p:nvSpPr>
        <p:spPr>
          <a:xfrm>
            <a:off x="9607052" y="1600200"/>
            <a:ext cx="2036003" cy="461772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9835652" y="1828800"/>
            <a:ext cx="566928" cy="566928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79" name="Text 61"/>
          <p:cNvSpPr txBox="1"/>
          <p:nvPr/>
        </p:nvSpPr>
        <p:spPr>
          <a:xfrm>
            <a:off x="983565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500" dirty="0"/>
          </a:p>
        </p:txBody>
      </p:sp>
      <p:sp>
        <p:nvSpPr>
          <p:cNvPr id="80" name="Text 62"/>
          <p:cNvSpPr txBox="1"/>
          <p:nvPr/>
        </p:nvSpPr>
        <p:spPr>
          <a:xfrm>
            <a:off x="10494020" y="1801368"/>
            <a:ext cx="10301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endParaRPr lang="en-US" sz="1300" dirty="0"/>
          </a:p>
        </p:txBody>
      </p:sp>
      <p:sp>
        <p:nvSpPr>
          <p:cNvPr id="81" name="Text 63"/>
          <p:cNvSpPr txBox="1"/>
          <p:nvPr/>
        </p:nvSpPr>
        <p:spPr>
          <a:xfrm>
            <a:off x="9835652" y="2560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400" dirty="0"/>
          </a:p>
        </p:txBody>
      </p:sp>
      <p:sp>
        <p:nvSpPr>
          <p:cNvPr id="82" name="Text 64"/>
          <p:cNvSpPr txBox="1"/>
          <p:nvPr/>
        </p:nvSpPr>
        <p:spPr>
          <a:xfrm>
            <a:off x="9835652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83" name="Text 65"/>
          <p:cNvSpPr txBox="1"/>
          <p:nvPr/>
        </p:nvSpPr>
        <p:spPr>
          <a:xfrm>
            <a:off x="9835652" y="3611880"/>
            <a:ext cx="1578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mix</a:t>
            </a:r>
            <a:endParaRPr lang="en-US" sz="1100" dirty="0"/>
          </a:p>
        </p:txBody>
      </p:sp>
      <p:sp>
        <p:nvSpPr>
          <p:cNvPr id="84" name="Shape 66"/>
          <p:cNvSpPr/>
          <p:nvPr/>
        </p:nvSpPr>
        <p:spPr>
          <a:xfrm>
            <a:off x="9835652" y="3886200"/>
            <a:ext cx="853407" cy="237744"/>
          </a:xfrm>
          <a:prstGeom prst="rect">
            <a:avLst/>
          </a:prstGeom>
          <a:solidFill>
            <a:srgbClr val="1E5B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67"/>
          <p:cNvSpPr/>
          <p:nvPr/>
        </p:nvSpPr>
        <p:spPr>
          <a:xfrm>
            <a:off x="10689059" y="3886200"/>
            <a:ext cx="213352" cy="237744"/>
          </a:xfrm>
          <a:prstGeom prst="rect">
            <a:avLst/>
          </a:prstGeom>
          <a:solidFill>
            <a:srgbClr val="6BA55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68"/>
          <p:cNvSpPr/>
          <p:nvPr/>
        </p:nvSpPr>
        <p:spPr>
          <a:xfrm>
            <a:off x="10902411" y="3886200"/>
            <a:ext cx="512044" cy="237744"/>
          </a:xfrm>
          <a:prstGeom prst="rect">
            <a:avLst/>
          </a:prstGeom>
          <a:solidFill>
            <a:srgbClr val="A9D08E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53940" y="4398264"/>
            <a:ext cx="219456" cy="219456"/>
          </a:xfrm>
          <a:prstGeom prst="rect">
            <a:avLst/>
          </a:prstGeom>
        </p:spPr>
      </p:pic>
      <p:sp>
        <p:nvSpPr>
          <p:cNvPr id="88" name="Text 69"/>
          <p:cNvSpPr txBox="1"/>
          <p:nvPr/>
        </p:nvSpPr>
        <p:spPr>
          <a:xfrm>
            <a:off x="10201412" y="4343400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approaching EOL</a:t>
            </a:r>
            <a:endParaRPr lang="en-US" sz="1200" dirty="0"/>
          </a:p>
        </p:txBody>
      </p:sp>
      <p:pic>
        <p:nvPicPr>
          <p:cNvPr id="8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53940" y="4828032"/>
            <a:ext cx="219456" cy="219456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10201412" y="4773168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secrets exposed</a:t>
            </a:r>
            <a:endParaRPr lang="en-US" sz="1200" dirty="0"/>
          </a:p>
        </p:txBody>
      </p:sp>
      <p:pic>
        <p:nvPicPr>
          <p:cNvPr id="9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53940" y="5257800"/>
            <a:ext cx="219456" cy="219456"/>
          </a:xfrm>
          <a:prstGeom prst="rect">
            <a:avLst/>
          </a:prstGeom>
        </p:spPr>
      </p:pic>
      <p:sp>
        <p:nvSpPr>
          <p:cNvPr id="92" name="Text 71"/>
          <p:cNvSpPr txBox="1"/>
          <p:nvPr/>
        </p:nvSpPr>
        <p:spPr>
          <a:xfrm>
            <a:off x="10201412" y="5202936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findings / app</a:t>
            </a:r>
            <a:endParaRPr lang="en-US" sz="1200" dirty="0"/>
          </a:p>
        </p:txBody>
      </p:sp>
      <p:pic>
        <p:nvPicPr>
          <p:cNvPr id="9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3940" y="5687568"/>
            <a:ext cx="219456" cy="219456"/>
          </a:xfrm>
          <a:prstGeom prst="rect">
            <a:avLst/>
          </a:prstGeom>
        </p:spPr>
      </p:pic>
      <p:sp>
        <p:nvSpPr>
          <p:cNvPr id="94" name="Text 72"/>
          <p:cNvSpPr txBox="1"/>
          <p:nvPr/>
        </p:nvSpPr>
        <p:spPr>
          <a:xfrm>
            <a:off x="10201412" y="5632704"/>
            <a:ext cx="13044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in Sonar</a:t>
            </a:r>
            <a:endParaRPr lang="en-US" sz="1200" dirty="0"/>
          </a:p>
        </p:txBody>
      </p:sp>
      <p:sp>
        <p:nvSpPr>
          <p:cNvPr id="95" name="Shape 73"/>
          <p:cNvSpPr/>
          <p:nvPr/>
        </p:nvSpPr>
        <p:spPr>
          <a:xfrm>
            <a:off x="548640" y="6291072"/>
            <a:ext cx="164592" cy="164592"/>
          </a:xfrm>
          <a:prstGeom prst="rect">
            <a:avLst/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96" name="Shape 74"/>
          <p:cNvSpPr/>
          <p:nvPr/>
        </p:nvSpPr>
        <p:spPr>
          <a:xfrm>
            <a:off x="2468880" y="6291072"/>
            <a:ext cx="164592" cy="164592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97" name="Shape 75"/>
          <p:cNvSpPr/>
          <p:nvPr/>
        </p:nvSpPr>
        <p:spPr>
          <a:xfrm>
            <a:off x="4389120" y="6291072"/>
            <a:ext cx="164592" cy="164592"/>
          </a:xfrm>
          <a:prstGeom prst="rect">
            <a:avLst/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98" name="Shape 76"/>
          <p:cNvSpPr/>
          <p:nvPr/>
        </p:nvSpPr>
        <p:spPr>
          <a:xfrm>
            <a:off x="6309360" y="6291072"/>
            <a:ext cx="164592" cy="164592"/>
          </a:xfrm>
          <a:prstGeom prst="rect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00" name="Text 77"/>
          <p:cNvSpPr txBox="1"/>
          <p:nvPr/>
        </p:nvSpPr>
        <p:spPr>
          <a:xfrm>
            <a:off x="777240" y="6236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101" name="Text 78"/>
          <p:cNvSpPr txBox="1"/>
          <p:nvPr/>
        </p:nvSpPr>
        <p:spPr>
          <a:xfrm>
            <a:off x="2697480" y="6236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000" dirty="0"/>
          </a:p>
        </p:txBody>
      </p:sp>
      <p:sp>
        <p:nvSpPr>
          <p:cNvPr id="102" name="Text 79"/>
          <p:cNvSpPr txBox="1"/>
          <p:nvPr/>
        </p:nvSpPr>
        <p:spPr>
          <a:xfrm>
            <a:off x="4617720" y="6236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/ Dev</a:t>
            </a:r>
            <a:endParaRPr lang="en-US" sz="1000" dirty="0"/>
          </a:p>
        </p:txBody>
      </p:sp>
      <p:sp>
        <p:nvSpPr>
          <p:cNvPr id="103" name="Text 80"/>
          <p:cNvSpPr txBox="1"/>
          <p:nvPr/>
        </p:nvSpPr>
        <p:spPr>
          <a:xfrm>
            <a:off x="6537960" y="6236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00" dirty="0"/>
          </a:p>
        </p:txBody>
      </p:sp>
      <p:sp>
        <p:nvSpPr>
          <p:cNvPr id="104" name="Text 8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5" name="Text 82"/>
          <p:cNvSpPr txBox="1"/>
          <p:nvPr/>
        </p:nvSpPr>
        <p:spPr>
          <a:xfrm>
            <a:off x="84124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managers own more than half of the portfolio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development manager and lifecycle stage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45920"/>
            <a:ext cx="3456432" cy="4572000"/>
          </a:xfrm>
          <a:prstGeom prst="roundRect">
            <a:avLst>
              <a:gd name="adj" fmla="val 2646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portfolio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8595360" y="210312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0982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Concept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4937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apps are Concept. Confirm which are real work and retire the rest.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 in 10 apps have no app type recorded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app type — overall and by development manager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2141982"/>
          <a:ext cx="2665476" cy="26654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66978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351276" y="245973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07308" y="2386584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27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1276" y="27706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07308" y="2697480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 13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1276" y="30815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6BA55D"/>
          </a:solidFill>
          <a:ln w="12700">
            <a:solidFill>
              <a:srgbClr val="6BA55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07308" y="3008376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 18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51276" y="339242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7308" y="331927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Angular  9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51276" y="37033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07308" y="3630168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 10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51276" y="401421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8FA3AD"/>
          </a:solidFill>
          <a:ln w="12700">
            <a:solidFill>
              <a:srgbClr val="8FA3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07308" y="3941064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 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51276" y="43251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07308" y="4251960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49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4480560" cy="731520"/>
          </a:xfrm>
          <a:prstGeom prst="roundRect">
            <a:avLst>
              <a:gd name="adj" fmla="val 12500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532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grey slice in ServiceNow before the next review.</a:t>
            </a:r>
            <a:endParaRPr lang="en-US" sz="13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5303520" y="1554480"/>
          <a:ext cx="6355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apps reach end of life on 1 December 2026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lifecycle (TLM) status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45920"/>
            <a:ext cx="4053535" cy="4572000"/>
          </a:xfrm>
          <a:prstGeom prst="roundRect">
            <a:avLst>
              <a:gd name="adj" fmla="val 2256"/>
            </a:avLst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20985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78240" y="1874520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days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2377440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1 Dec 2026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878928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98384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317840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37296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756752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76208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95664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15120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34576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854032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73488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292944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512400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731856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951312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170768" y="3017520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878928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98384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17840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537296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56752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76208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195664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415120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634576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854032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073488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292944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512400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731856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0951312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170768" y="3236976"/>
            <a:ext cx="182880" cy="182880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878928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098384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317840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537296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756752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976208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195664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415120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634576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9854032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073488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292944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0512400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0731856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0951312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1170768" y="345643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878928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098384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317840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537296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756752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8976208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9195664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9415120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634576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9854032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0073488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0292944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0512400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731856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10951312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1170768" y="3675888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7878928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8098384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317840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537296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756752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976208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9195664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9415120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9634576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9854032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10073488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10292944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512400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0731856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0951312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1170768" y="3895344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878928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8098384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317840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8537296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8756752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8976208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9195664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9415120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9634576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854032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073488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0292944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10512400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10731856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10951312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11170768" y="4114800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7878928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8098384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8317840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8537296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756752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976208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195664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415120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634576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9854032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0073488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0292944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10512400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731856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10951312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11170768" y="4334256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7878928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8098384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317840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537296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8756752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8976208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9195664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9415120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9634576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9854032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10073488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10292944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10512400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10731856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10951312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11170768" y="4553712"/>
            <a:ext cx="182880" cy="182880"/>
          </a:xfrm>
          <a:prstGeom prst="rect">
            <a:avLst/>
          </a:prstGeom>
          <a:solidFill>
            <a:srgbClr val="2E6E3C"/>
          </a:solidFill>
          <a:ln w="12700">
            <a:solidFill>
              <a:srgbClr val="2E6E3C"/>
            </a:solidFill>
            <a:prstDash val="solid"/>
          </a:ln>
        </p:spPr>
      </p:sp>
      <p:sp>
        <p:nvSpPr>
          <p:cNvPr id="138" name="Text 134"/>
          <p:cNvSpPr txBox="1"/>
          <p:nvPr/>
        </p:nvSpPr>
        <p:spPr>
          <a:xfrm>
            <a:off x="7909560" y="4892040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apps</a:t>
            </a:r>
            <a:pPr indent="0" marL="0">
              <a:buNone/>
            </a:pPr>
            <a:r>
              <a:rPr lang="en-US" sz="13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on the EOL clock. Saikiran (12) and Asim (9) hold two-thirds.</a:t>
            </a:r>
            <a:endParaRPr lang="en-US" sz="1300" dirty="0"/>
          </a:p>
        </p:txBody>
      </p:sp>
      <p:sp>
        <p:nvSpPr>
          <p:cNvPr id="139" name="Text 135"/>
          <p:cNvSpPr txBox="1"/>
          <p:nvPr/>
        </p:nvSpPr>
        <p:spPr>
          <a:xfrm>
            <a:off x="7909560" y="57607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= 1 app</a:t>
            </a:r>
            <a:endParaRPr lang="en-US" sz="1000" dirty="0"/>
          </a:p>
        </p:txBody>
      </p:sp>
      <p:sp>
        <p:nvSpPr>
          <p:cNvPr id="140" name="Text 13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141" name="Text 13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yet see test automation for 95% of apps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visibility: Sonar onboarding and end-to-end automation coverage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onboarded to Sonar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5394960" cy="237744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78024"/>
            <a:ext cx="2697480" cy="237744"/>
          </a:xfrm>
          <a:prstGeom prst="roundRect">
            <a:avLst>
              <a:gd name="adj" fmla="val 50000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24231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5394960" cy="237744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82696"/>
            <a:ext cx="2589581" cy="237744"/>
          </a:xfrm>
          <a:prstGeom prst="roundRect">
            <a:avLst>
              <a:gd name="adj" fmla="val 50000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32278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758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36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87368"/>
            <a:ext cx="5394960" cy="237744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87368"/>
            <a:ext cx="2098040" cy="237744"/>
          </a:xfrm>
          <a:prstGeom prst="roundRect">
            <a:avLst>
              <a:gd name="adj" fmla="val 50000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4032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62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562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5394960" cy="237744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92040"/>
            <a:ext cx="1798320" cy="237744"/>
          </a:xfrm>
          <a:prstGeom prst="roundRect">
            <a:avLst>
              <a:gd name="adj" fmla="val 50000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48371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67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5367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37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96712"/>
            <a:ext cx="5394960" cy="237744"/>
          </a:xfrm>
          <a:prstGeom prst="roundRect">
            <a:avLst>
              <a:gd name="adj" fmla="val 50000"/>
            </a:avLst>
          </a:prstGeom>
          <a:solidFill>
            <a:srgbClr val="ECEEF0"/>
          </a:solidFill>
          <a:ln w="12700">
            <a:solidFill>
              <a:srgbClr val="ECEE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696712"/>
            <a:ext cx="2041336" cy="237744"/>
          </a:xfrm>
          <a:prstGeom prst="roundRect">
            <a:avLst>
              <a:gd name="adj" fmla="val 50000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56418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64608" y="2331720"/>
            <a:ext cx="0" cy="3931920"/>
          </a:xfrm>
          <a:prstGeom prst="line">
            <a:avLst/>
          </a:prstGeom>
          <a:noFill/>
          <a:ln w="19050">
            <a:solidFill>
              <a:srgbClr val="E0A31A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4361688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1600200"/>
            <a:ext cx="4736592" cy="4617720"/>
          </a:xfrm>
          <a:prstGeom prst="roundRect">
            <a:avLst>
              <a:gd name="adj" fmla="val 1980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coverage</a:t>
            </a:r>
            <a:endParaRPr lang="en-US" sz="15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949440" y="2537460"/>
          <a:ext cx="25146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73837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128 good</a:t>
            </a:r>
            <a:endParaRPr lang="en-US" sz="3000" dirty="0"/>
          </a:p>
        </p:txBody>
      </p:sp>
      <p:sp>
        <p:nvSpPr>
          <p:cNvPr id="36" name="Shape 33"/>
          <p:cNvSpPr/>
          <p:nvPr/>
        </p:nvSpPr>
        <p:spPr>
          <a:xfrm>
            <a:off x="9692640" y="32461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948672" y="31729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(80%+)  4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692640" y="355701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948672" y="348386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(50–79%)  1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692640" y="38679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948672" y="37947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(&lt;50%)  1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692640" y="417880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5D9DE"/>
          </a:solidFill>
          <a:ln w="12700">
            <a:solidFill>
              <a:srgbClr val="D5D9D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948672" y="410565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  122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132320" y="5486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reports E2E coverage in the inventory by Nov 30.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vulnerabilities concentrate in four portfolios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security findings by development manager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97480" y="16002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 critical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58184" y="16002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 medium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18888" y="16002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errors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79592" y="16002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warnings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940296" y="16002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214884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214884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58184" y="214884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58184" y="214884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18888" y="214884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214884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79592" y="214884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E08A7E"/>
          </a:solidFill>
          <a:ln w="12700">
            <a:solidFill>
              <a:srgbClr val="E08A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79592" y="214884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0296" y="214884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E08A7E"/>
          </a:solidFill>
          <a:ln w="12700">
            <a:solidFill>
              <a:srgbClr val="E08A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0296" y="214884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8036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97480" y="288036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288036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758184" y="288036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58184" y="288036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18888" y="288036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2C4BD"/>
          </a:solidFill>
          <a:ln w="12700">
            <a:solidFill>
              <a:srgbClr val="F2C4B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18888" y="288036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879592" y="288036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E08A7E"/>
          </a:solidFill>
          <a:ln w="12700">
            <a:solidFill>
              <a:srgbClr val="E08A7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79592" y="288036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40296" y="288036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E08A7E"/>
          </a:solidFill>
          <a:ln w="12700">
            <a:solidFill>
              <a:srgbClr val="E08A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0296" y="288036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61188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97480" y="361188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97480" y="3611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758184" y="361188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E08A7E"/>
          </a:solidFill>
          <a:ln w="12700">
            <a:solidFill>
              <a:srgbClr val="E08A7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58184" y="3611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18888" y="361188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2C4BD"/>
          </a:solidFill>
          <a:ln w="12700">
            <a:solidFill>
              <a:srgbClr val="F2C4B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18888" y="3611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79592" y="361188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79592" y="3611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940296" y="361188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40296" y="361188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3434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97480" y="434340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97480" y="434340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3758184" y="434340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2C4BD"/>
          </a:solidFill>
          <a:ln w="12700">
            <a:solidFill>
              <a:srgbClr val="F2C4B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58184" y="434340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818888" y="434340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18888" y="434340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879592" y="434340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79592" y="434340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940296" y="434340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40296" y="434340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0749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697480" y="507492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697480" y="507492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3758184" y="507492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58184" y="507492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4818888" y="507492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2C4BD"/>
          </a:solidFill>
          <a:ln w="12700">
            <a:solidFill>
              <a:srgbClr val="F2C4B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18888" y="507492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879592" y="507492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F2C4BD"/>
          </a:solidFill>
          <a:ln w="12700">
            <a:solidFill>
              <a:srgbClr val="F2C4B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879592" y="507492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940296" y="5074920"/>
            <a:ext cx="987552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40296" y="507492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= more findings in that column, relative to the highest manager.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092440" y="1600200"/>
            <a:ext cx="3547872" cy="4617720"/>
          </a:xfrm>
          <a:prstGeom prst="roundRect">
            <a:avLst>
              <a:gd name="adj" fmla="val 2577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3210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per app</a:t>
            </a:r>
            <a:endParaRPr lang="en-US" sz="1500" dirty="0"/>
          </a:p>
        </p:txBody>
      </p:sp>
      <p:graphicFrame>
        <p:nvGraphicFramePr>
          <p:cNvPr id="67" name="Chart 0" descr=""/>
          <p:cNvGraphicFramePr/>
          <p:nvPr/>
        </p:nvGraphicFramePr>
        <p:xfrm>
          <a:off x="8183880" y="2103120"/>
          <a:ext cx="3383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8" name="Text 65"/>
          <p:cNvSpPr txBox="1"/>
          <p:nvPr/>
        </p:nvSpPr>
        <p:spPr>
          <a:xfrm>
            <a:off x="8321040" y="5760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for portfolio size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health scorecard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health dimensions, normalised by portfolio size — thresholds in the Appendix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70930" y="1554480"/>
            <a:ext cx="512064" cy="512064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4066" y="1687617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91840" y="21031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35915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approaching EOL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41173" y="1554480"/>
            <a:ext cx="512064" cy="512064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09" y="168761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62083" y="21031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962083" y="235915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per app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211416" y="1554480"/>
            <a:ext cx="512064" cy="512064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552" y="168761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32326" y="21031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632326" y="235915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 Sonar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881659" y="1554480"/>
            <a:ext cx="512064" cy="512064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795" y="1687617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02569" y="21031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302569" y="235915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with good E2E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10551902" y="1554480"/>
            <a:ext cx="512064" cy="512064"/>
          </a:xfrm>
          <a:prstGeom prst="ellipse">
            <a:avLst/>
          </a:prstGeom>
          <a:solidFill>
            <a:srgbClr val="DCEDD3"/>
          </a:solidFill>
          <a:ln w="12700">
            <a:solidFill>
              <a:srgbClr val="DCEDD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5038" y="1687617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72812" y="2103120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972812" y="235915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classified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48640" y="2651760"/>
            <a:ext cx="11094415" cy="731520"/>
          </a:xfrm>
          <a:prstGeom prst="rect">
            <a:avLst/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3560034" y="280720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053810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230277" y="280720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724053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900520" y="280720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394296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570763" y="280720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064539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10241006" y="280720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734782" y="2788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858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3560034" y="353872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05381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230277" y="353872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724053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6900520" y="353872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394296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8570763" y="353872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9064539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10241006" y="353872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10734782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548640" y="4114800"/>
            <a:ext cx="11094415" cy="731520"/>
          </a:xfrm>
          <a:prstGeom prst="rect">
            <a:avLst/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8580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3560034" y="427024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4053810" y="4251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51" name="Shape 44"/>
          <p:cNvSpPr/>
          <p:nvPr/>
        </p:nvSpPr>
        <p:spPr>
          <a:xfrm>
            <a:off x="5230277" y="427024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724053" y="4251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400" dirty="0"/>
          </a:p>
        </p:txBody>
      </p:sp>
      <p:sp>
        <p:nvSpPr>
          <p:cNvPr id="53" name="Shape 46"/>
          <p:cNvSpPr/>
          <p:nvPr/>
        </p:nvSpPr>
        <p:spPr>
          <a:xfrm>
            <a:off x="6900520" y="427024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7394296" y="4251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400" dirty="0"/>
          </a:p>
        </p:txBody>
      </p:sp>
      <p:sp>
        <p:nvSpPr>
          <p:cNvPr id="55" name="Shape 48"/>
          <p:cNvSpPr/>
          <p:nvPr/>
        </p:nvSpPr>
        <p:spPr>
          <a:xfrm>
            <a:off x="8570763" y="427024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9064539" y="4251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400" dirty="0"/>
          </a:p>
        </p:txBody>
      </p:sp>
      <p:sp>
        <p:nvSpPr>
          <p:cNvPr id="57" name="Shape 50"/>
          <p:cNvSpPr/>
          <p:nvPr/>
        </p:nvSpPr>
        <p:spPr>
          <a:xfrm>
            <a:off x="10241006" y="427024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10734782" y="4251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400" dirty="0"/>
          </a:p>
        </p:txBody>
      </p:sp>
      <p:sp>
        <p:nvSpPr>
          <p:cNvPr id="59" name="Text 52"/>
          <p:cNvSpPr txBox="1"/>
          <p:nvPr/>
        </p:nvSpPr>
        <p:spPr>
          <a:xfrm>
            <a:off x="685800" y="4892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endParaRPr lang="en-US" sz="1400" dirty="0"/>
          </a:p>
        </p:txBody>
      </p:sp>
      <p:sp>
        <p:nvSpPr>
          <p:cNvPr id="60" name="Shape 53"/>
          <p:cNvSpPr/>
          <p:nvPr/>
        </p:nvSpPr>
        <p:spPr>
          <a:xfrm>
            <a:off x="3560034" y="5001768"/>
            <a:ext cx="420624" cy="42062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4053810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00" dirty="0"/>
          </a:p>
        </p:txBody>
      </p:sp>
      <p:sp>
        <p:nvSpPr>
          <p:cNvPr id="62" name="Shape 55"/>
          <p:cNvSpPr/>
          <p:nvPr/>
        </p:nvSpPr>
        <p:spPr>
          <a:xfrm>
            <a:off x="5230277" y="5001768"/>
            <a:ext cx="420624" cy="42062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5724053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400" dirty="0"/>
          </a:p>
        </p:txBody>
      </p:sp>
      <p:sp>
        <p:nvSpPr>
          <p:cNvPr id="64" name="Shape 57"/>
          <p:cNvSpPr/>
          <p:nvPr/>
        </p:nvSpPr>
        <p:spPr>
          <a:xfrm>
            <a:off x="6900520" y="500176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7394296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400" dirty="0"/>
          </a:p>
        </p:txBody>
      </p:sp>
      <p:sp>
        <p:nvSpPr>
          <p:cNvPr id="66" name="Shape 59"/>
          <p:cNvSpPr/>
          <p:nvPr/>
        </p:nvSpPr>
        <p:spPr>
          <a:xfrm>
            <a:off x="8570763" y="500176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9064539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400" dirty="0"/>
          </a:p>
        </p:txBody>
      </p:sp>
      <p:sp>
        <p:nvSpPr>
          <p:cNvPr id="68" name="Shape 61"/>
          <p:cNvSpPr/>
          <p:nvPr/>
        </p:nvSpPr>
        <p:spPr>
          <a:xfrm>
            <a:off x="10241006" y="500176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10734782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400" dirty="0"/>
          </a:p>
        </p:txBody>
      </p:sp>
      <p:sp>
        <p:nvSpPr>
          <p:cNvPr id="70" name="Shape 63"/>
          <p:cNvSpPr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685800" y="5623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endParaRPr lang="en-US" sz="1400" dirty="0"/>
          </a:p>
        </p:txBody>
      </p:sp>
      <p:sp>
        <p:nvSpPr>
          <p:cNvPr id="72" name="Shape 65"/>
          <p:cNvSpPr/>
          <p:nvPr/>
        </p:nvSpPr>
        <p:spPr>
          <a:xfrm>
            <a:off x="3560034" y="573328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4053810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400" dirty="0"/>
          </a:p>
        </p:txBody>
      </p:sp>
      <p:sp>
        <p:nvSpPr>
          <p:cNvPr id="74" name="Shape 67"/>
          <p:cNvSpPr/>
          <p:nvPr/>
        </p:nvSpPr>
        <p:spPr>
          <a:xfrm>
            <a:off x="5230277" y="5733288"/>
            <a:ext cx="420624" cy="42062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5724053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400" dirty="0"/>
          </a:p>
        </p:txBody>
      </p:sp>
      <p:sp>
        <p:nvSpPr>
          <p:cNvPr id="76" name="Shape 69"/>
          <p:cNvSpPr/>
          <p:nvPr/>
        </p:nvSpPr>
        <p:spPr>
          <a:xfrm>
            <a:off x="6900520" y="573328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7" name="Text 70"/>
          <p:cNvSpPr txBox="1"/>
          <p:nvPr/>
        </p:nvSpPr>
        <p:spPr>
          <a:xfrm>
            <a:off x="7394296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400" dirty="0"/>
          </a:p>
        </p:txBody>
      </p:sp>
      <p:sp>
        <p:nvSpPr>
          <p:cNvPr id="78" name="Shape 71"/>
          <p:cNvSpPr/>
          <p:nvPr/>
        </p:nvSpPr>
        <p:spPr>
          <a:xfrm>
            <a:off x="8570763" y="573328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9064539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00" dirty="0"/>
          </a:p>
        </p:txBody>
      </p:sp>
      <p:sp>
        <p:nvSpPr>
          <p:cNvPr id="80" name="Shape 73"/>
          <p:cNvSpPr/>
          <p:nvPr/>
        </p:nvSpPr>
        <p:spPr>
          <a:xfrm>
            <a:off x="10241006" y="573328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10734782" y="5715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400" dirty="0"/>
          </a:p>
        </p:txBody>
      </p:sp>
      <p:sp>
        <p:nvSpPr>
          <p:cNvPr id="82" name="Shape 75"/>
          <p:cNvSpPr/>
          <p:nvPr/>
        </p:nvSpPr>
        <p:spPr>
          <a:xfrm>
            <a:off x="548640" y="6428232"/>
            <a:ext cx="201168" cy="201168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822960" y="6382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84" name="Shape 77"/>
          <p:cNvSpPr/>
          <p:nvPr/>
        </p:nvSpPr>
        <p:spPr>
          <a:xfrm>
            <a:off x="2011680" y="6428232"/>
            <a:ext cx="201168" cy="201168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2286000" y="6382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86" name="Shape 79"/>
          <p:cNvSpPr/>
          <p:nvPr/>
        </p:nvSpPr>
        <p:spPr>
          <a:xfrm>
            <a:off x="3474720" y="64282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3749040" y="6382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100" dirty="0"/>
          </a:p>
        </p:txBody>
      </p:sp>
      <p:sp>
        <p:nvSpPr>
          <p:cNvPr id="88" name="Text 81"/>
          <p:cNvSpPr txBox="1"/>
          <p:nvPr/>
        </p:nvSpPr>
        <p:spPr>
          <a:xfrm>
            <a:off x="8412480" y="641908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55648"/>
            <a:ext cx="640080" cy="640080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22069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10512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wave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8716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 and named owner for each of the 32 apps reaching EOL on 1 Dec 2026.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All managers   ·   Due: Oct 15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3008" y="146304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755648"/>
            <a:ext cx="640080" cy="640080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68" y="192206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76008" y="1810512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48716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and remove the 23 exposed secrets; start with Saikiran's 11.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553048" y="315468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Saikiran, Siva, Pratap   ·   Due: Oct 10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178808"/>
            <a:ext cx="640080" cy="640080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34522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4233672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9103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remaining apps to Sonar and report E2E automation coverage in the inventory.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" y="557784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All managers   ·   Due: Nov 30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33008" y="388620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1E5B34"/>
          </a:solidFill>
          <a:ln w="12700">
            <a:solidFill>
              <a:srgbClr val="1E5B3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53048" y="4178808"/>
            <a:ext cx="640080" cy="640080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68" y="4345229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76008" y="4233672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hygiene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6553048" y="4910328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49 apps with no app type; retire or confirm the 51 Concept apps.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553048" y="557784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Pushkala, Asim   ·   Due: Oct 31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D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owners and dates are placeholders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definitions and how to update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7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7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Approaching EOL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TLM Status = "Approaching EOL". Days to EOL from the TLM EOL Date column.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(MEND critical + MEND medium + CodeQL errors + CodeQL warnings + secrets) ÷ apps.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Sonar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 Key has a project key (not "Not found").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coverage E2E column. Blank = not reported.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Type is filled and not "Not found".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thresholds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3959352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7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7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7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7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per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 Sonar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good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classified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D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update this deck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75488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Excel, build a PivotTable from App Inventory: Rows = Dev Manager, Columns = App Stage (then App Type, TLM Status), Values = Count of App Id.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PowerPoint, right-click each chart → Edit Data, and paste the pivot numbers over the sample values.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cards, heatmap squares, progress bars, waffle and scorecard dots are shapes: edit their numbers directly and resize or recolour the shape.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headlines and callouts to match, then delete the SAMPLE footer.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Source: App Inventory, Sep 2026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Health Assessment</dc:title>
  <dc:subject>PptxGenJS Presentation</dc:subject>
  <dc:creator>PptxGenJS</dc:creator>
  <cp:lastModifiedBy>PptxGenJS</cp:lastModifiedBy>
  <cp:revision>1</cp:revision>
  <dcterms:created xsi:type="dcterms:W3CDTF">2026-09-29T18:43:41Z</dcterms:created>
  <dcterms:modified xsi:type="dcterms:W3CDTF">2026-09-29T18:43:41Z</dcterms:modified>
</cp:coreProperties>
</file>