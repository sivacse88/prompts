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12</c:v>
                </c:pt>
                <c:pt idx="2">
                  <c:v>16</c:v>
                </c:pt>
                <c:pt idx="3">
                  <c:v>2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 Ready</c:v>
                </c:pt>
              </c:strCache>
            </c:strRef>
          </c:tx>
          <c:spPr>
            <a:solidFill>
              <a:srgbClr val="3F6E9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Acquisition / Development</c:v>
                </c:pt>
              </c:strCache>
            </c:strRef>
          </c:tx>
          <c:spPr>
            <a:solidFill>
              <a:srgbClr val="7FA7C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9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Concept</c:v>
                </c:pt>
              </c:strCache>
            </c:strRef>
          </c:tx>
          <c:spPr>
            <a:solidFill>
              <a:srgbClr val="B9D0E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10</c:v>
                </c:pt>
                <c:pt idx="3">
                  <c:v>15</c:v>
                </c:pt>
                <c:pt idx="4">
                  <c:v>12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Spring Boot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2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</c:v>
                </c:pt>
              </c:strCache>
            </c:strRef>
          </c:tx>
          <c:spPr>
            <a:solidFill>
              <a:srgbClr val="3F6E9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Library</c:v>
                </c:pt>
              </c:strCache>
            </c:strRef>
          </c:tx>
          <c:spPr>
            <a:solidFill>
              <a:srgbClr val="7FA7C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UI / Angular</c:v>
                </c:pt>
              </c:strCache>
            </c:strRef>
          </c:tx>
          <c:spPr>
            <a:solidFill>
              <a:srgbClr val="B9D0E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rgbClr val="4E8A6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Misc</c:v>
                </c:pt>
              </c:strCache>
            </c:strRef>
          </c:tx>
          <c:spPr>
            <a:solidFill>
              <a:srgbClr val="8DBBA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Unclassified</c:v>
                </c:pt>
              </c:strCache>
            </c:strRef>
          </c:tx>
          <c:spPr>
            <a:solidFill>
              <a:srgbClr val="D5D9D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13</c:v>
                </c:pt>
                <c:pt idx="3">
                  <c:v>15</c:v>
                </c:pt>
                <c:pt idx="4">
                  <c:v>13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B9D0E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19</c:v>
                </c:pt>
                <c:pt idx="2">
                  <c:v>27</c:v>
                </c:pt>
                <c:pt idx="3">
                  <c:v>18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Approaching EOL</c:v>
                </c:pt>
              </c:strCache>
            </c:strRef>
          </c:tx>
          <c:spPr>
            <a:solidFill>
              <a:srgbClr val="E0A31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0</c:v>
                </c:pt>
                <c:pt idx="4">
                  <c:v>12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Sonar onboarded %</c:v>
                </c:pt>
              </c:strCache>
            </c:strRef>
          </c:tx>
          <c:spPr>
            <a:solidFill>
              <a:srgbClr val="3F6E9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48</c:v>
                </c:pt>
                <c:pt idx="2">
                  <c:v>39</c:v>
                </c:pt>
                <c:pt idx="3">
                  <c:v>33</c:v>
                </c:pt>
                <c:pt idx="4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E2E 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bubble3D val="0"/>
            <c:spPr>
              <a:solidFill>
                <a:srgbClr val="E0A31A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bubble3D val="0"/>
            <c:spPr>
              <a:solidFill>
                <a:srgbClr val="D5D9D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Good (80%+): 4</c:v>
                </c:pt>
                <c:pt idx="1">
                  <c:v>Partial (50-79%): 1</c:v>
                </c:pt>
                <c:pt idx="2">
                  <c:v>Low (&lt;50%): 1</c:v>
                </c:pt>
                <c:pt idx="3">
                  <c:v>Not reported: 122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122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 quarterly snapshot of the health of our application portfolio across lifecycle, security, quality visibility and test automation. All numbers in this sample are illustrative — replace them with the latest App Inventory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three headlines. Everything after this slide is supporting detail by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Stacked bars show each manager's portfolio size and how much of it is live. Pushkala's portfolio is mostly Concept (15 of 18). To update: right-click the chart &gt; Edit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Grey = no app type in the inventory. Library and Spring Boot dominate the known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approaching EOL. Days to EOL is counted from Sep 29, 2026. Pushkala has no approaching-EOL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share of each manager's apps with a Sonar project key. Right: the Automation coverage E2E column, bucketed. The gap is a data problem first — ask teams to report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Siva's portfolio has the highest findings per app because it is small (12 apps) and carries 113 MEND medium. Saikiran has the most secrets exposed (11) — raise as a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per manager. Every column is normalised by portfolio size so large and small portfolios compare fairly. Agree thresholds with leadership before first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leadership to endorse these four actions and the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DATA IS ILLUSTRATIVE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Health Assessment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Charitable application portfolio  ·  128 applications  ·  5 development managers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3977640"/>
            <a:ext cx="237744" cy="23774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397764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0784" y="3977640"/>
            <a:ext cx="237744" cy="237744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 of the portfolio hits end of life on one date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0824" y="16916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5144" y="182880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182880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A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EOL (1 Dec 2026)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75191" y="16916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49511" y="182880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349511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good E2E automation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should know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201168" cy="201168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1148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apps (25%) share a single EOL date, 1 Dec 2026 — 63 days away. This is one migration wave, not a trickle.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8006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128 apps report 80%+ end-to-end automation coverage; 122 report nothing at all.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59552"/>
            <a:ext cx="201168" cy="20116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4864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apps (38%) have no app type and 76 are not onboarded to Sonar, so risk is likely under-reported.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managers own more than half of the portfolio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development manager and lifecycle stage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680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91640"/>
            <a:ext cx="3044952" cy="2103120"/>
          </a:xfrm>
          <a:prstGeom prst="roundRect">
            <a:avLst>
              <a:gd name="adj" fmla="val 3478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192024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of 128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74320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+ Saikiran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31546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own 57% of all apps and 36 of 56 production apps.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5360" y="4023360"/>
            <a:ext cx="3044952" cy="2103120"/>
          </a:xfrm>
          <a:prstGeom prst="roundRect">
            <a:avLst>
              <a:gd name="adj" fmla="val 3478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0" y="425196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E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507492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still in Concept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54864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the portfolio. Confirm which are real work and retire the rest.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4 in 10 apps have no app type recorded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development manager and app type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680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91640"/>
            <a:ext cx="3044952" cy="2103120"/>
          </a:xfrm>
          <a:prstGeom prst="roundRect">
            <a:avLst>
              <a:gd name="adj" fmla="val 3478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192024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74320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apps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31546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segments. Fix in ServiceNow before the next review so risk rolls up correctly.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5360" y="4023360"/>
            <a:ext cx="3044952" cy="2103120"/>
          </a:xfrm>
          <a:prstGeom prst="roundRect">
            <a:avLst>
              <a:gd name="adj" fmla="val 3478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0" y="4251960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507492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services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54864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known type, and the one most exposed to the Dec 2026 EOL wave.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apps reach end of life on 1 December 2026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lifecycle (TLM) status by development manager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91640"/>
            <a:ext cx="3687775" cy="4434840"/>
          </a:xfrm>
          <a:prstGeom prst="roundRect">
            <a:avLst>
              <a:gd name="adj" fmla="val 1984"/>
            </a:avLst>
          </a:prstGeom>
          <a:solidFill>
            <a:srgbClr val="14263F"/>
          </a:solidFill>
          <a:ln w="12700">
            <a:solidFill>
              <a:srgbClr val="14263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920240"/>
            <a:ext cx="3047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0A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3291840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EOL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840480"/>
            <a:ext cx="3047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apps share one EOL date.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(12) and Asim (9) carry 2 of every 3.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remediation plan and owner per app by Oct 15.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cannot yet see test automation for 95% of apps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visibility: Sonar onboarding and end-to-end automation coverage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onboarded, % of apps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coverage, number of apps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196596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269480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vulnerabilities concentrate in four portfolios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security findings by development manager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1143000"/>
                <a:gridCol w="1143000"/>
                <a:gridCol w="1143000"/>
                <a:gridCol w="1234440"/>
                <a:gridCol w="1188720"/>
                <a:gridCol w="16733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 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 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CodeQL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CodeQL warnings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exposed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Siva Velusamy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Pratap Anchuri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 Siddiqi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Pushkala Venkataraman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Saikiran Nadella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red = more findings in that column. Findings per app normalises for portfolio size: green under 2, amber 2–8, red over 8. No MEND critical findings are open.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health scorecard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across five health dimensions — thresholds on the Appendix slide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approaching EOL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visibility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 Sonar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with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classified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Siva Velusamy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Pratap Anchuri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 Siddiqi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Pushkala Venkataraman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Saikiran Nadella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4EAD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687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11680" y="5715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BEBC4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77440" y="5687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5715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6D5D1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5687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1051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wave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 and named owner for each of the 32 apps reaching EOL on 1 Dec 2026.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All managers   ·   Due: Oct 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1783080"/>
            <a:ext cx="548640" cy="548640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84568" y="181051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688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and remove the 23 exposed secrets; start with Saikiran's 11.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15468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Saikiran, Siva, Pratap   ·   Due: Oct 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3367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9204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remaining apps to Sonar and report E2E automation coverage in the inventory.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57784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All managers   ·   Due: Nov 30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38862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3048" y="4206240"/>
            <a:ext cx="548640" cy="548640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5304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84568" y="423367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hygiene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553048" y="489204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49 apps with no app type; retire or confirm the 51 Concept apps.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53048" y="557784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Pushkala, Asim   ·   Due: Oct 31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owners and dates are placeholders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definitions and how to update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Approaching EOL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TLM Status = "Approaching EOL". Days to EOL from the TLM EOL Date column.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(MEND critical + MEND medium + CodeQL errors + CodeQL warnings + secrets) ÷ apps.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Sonar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 Key has a project key (not "Not found").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coverage E2E column. Blank = not reported.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Type is filled and not "Not found".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thresholds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395935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 Sonar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with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classified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update this deck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7548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Excel, build a PivotTable from App Inventory: Rows = Dev Manager, Columns = App Stage (then App Type, TLM Status), Values = Count of App Id.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PowerPoint, right-click each chart → Edit Data, and paste the pivot numbers over the sample values.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headline titles and callout numbers to match, then delete the SAMPLE footer.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Health Assessment</dc:title>
  <dc:subject>PptxGenJS Presentation</dc:subject>
  <dc:creator>PptxGenJS</dc:creator>
  <cp:lastModifiedBy>PptxGenJS</cp:lastModifiedBy>
  <cp:revision>1</cp:revision>
  <dcterms:created xsi:type="dcterms:W3CDTF">2026-09-29T18:32:34Z</dcterms:created>
  <dcterms:modified xsi:type="dcterms:W3CDTF">2026-09-29T18:32:34Z</dcterms:modified>
</cp:coreProperties>
</file>