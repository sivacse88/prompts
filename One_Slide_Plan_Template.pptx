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Template: replace each placeholder. Top row reads left to right: current state, then four phases. Bottom row: phases with exit criteria, key risks, and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778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365760" y="647395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Organization  |  Project name  |  Meeting and date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2011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title: headline message in a few words</a:t>
            </a:r>
            <a:endParaRPr lang="en-US" sz="2800" dirty="0"/>
          </a:p>
        </p:txBody>
      </p:sp>
      <p:sp>
        <p:nvSpPr>
          <p:cNvPr id="3" name="tag"/>
          <p:cNvSpPr/>
          <p:nvPr/>
        </p:nvSpPr>
        <p:spPr>
          <a:xfrm>
            <a:off x="9555480" y="292608"/>
            <a:ext cx="2267712" cy="384048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292608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Plan on a page  |  for decision</a:t>
            </a:r>
            <a:endParaRPr lang="en-US" sz="1200" dirty="0"/>
          </a:p>
        </p:txBody>
      </p:sp>
      <p:sp>
        <p:nvSpPr>
          <p:cNvPr id="5" name="metro-line"/>
          <p:cNvSpPr/>
          <p:nvPr/>
        </p:nvSpPr>
        <p:spPr>
          <a:xfrm>
            <a:off x="1456914" y="969264"/>
            <a:ext cx="9277868" cy="0"/>
          </a:xfrm>
          <a:prstGeom prst="line">
            <a:avLst/>
          </a:prstGeom>
          <a:noFill/>
          <a:ln w="50800">
            <a:solidFill>
              <a:srgbClr val="CFE6C6"/>
            </a:solidFill>
            <a:prstDash val="solid"/>
          </a:ln>
        </p:spPr>
      </p:sp>
      <p:sp>
        <p:nvSpPr>
          <p:cNvPr id="6" name="node"/>
          <p:cNvSpPr/>
          <p:nvPr/>
        </p:nvSpPr>
        <p:spPr>
          <a:xfrm>
            <a:off x="1274034" y="786384"/>
            <a:ext cx="365760" cy="365760"/>
          </a:xfrm>
          <a:prstGeom prst="ellipse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74034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8" name="node"/>
          <p:cNvSpPr/>
          <p:nvPr/>
        </p:nvSpPr>
        <p:spPr>
          <a:xfrm>
            <a:off x="3593501" y="786384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93501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node"/>
          <p:cNvSpPr/>
          <p:nvPr/>
        </p:nvSpPr>
        <p:spPr>
          <a:xfrm>
            <a:off x="5912968" y="786384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12968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node"/>
          <p:cNvSpPr/>
          <p:nvPr/>
        </p:nvSpPr>
        <p:spPr>
          <a:xfrm>
            <a:off x="8232435" y="786384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32435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node"/>
          <p:cNvSpPr/>
          <p:nvPr/>
        </p:nvSpPr>
        <p:spPr>
          <a:xfrm>
            <a:off x="10551902" y="786384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51902" y="786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st-today"/>
          <p:cNvSpPr/>
          <p:nvPr/>
        </p:nvSpPr>
        <p:spPr>
          <a:xfrm>
            <a:off x="365760" y="1261872"/>
            <a:ext cx="2182307" cy="2999232"/>
          </a:xfrm>
          <a:prstGeom prst="roundRect">
            <a:avLst>
              <a:gd name="adj" fmla="val 29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1371600"/>
            <a:ext cx="19079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Current state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1719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2219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metric description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1719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00%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22219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metric description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2679192"/>
            <a:ext cx="1907987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Key problem or constraint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Key problem or constraint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Key problem or constraint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Key problem or constraint</a:t>
            </a:r>
            <a:endParaRPr lang="en-US" sz="1100" dirty="0"/>
          </a:p>
        </p:txBody>
      </p:sp>
      <p:sp>
        <p:nvSpPr>
          <p:cNvPr id="23" name="st-record"/>
          <p:cNvSpPr/>
          <p:nvPr/>
        </p:nvSpPr>
        <p:spPr>
          <a:xfrm>
            <a:off x="2685227" y="1261872"/>
            <a:ext cx="2182307" cy="299923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con-FaMicrosco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2387" y="1380744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3142427" y="137160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one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822387" y="173736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One-sentence summary of this phase:</a:t>
            </a:r>
            <a:endParaRPr lang="en-US" sz="1100" dirty="0"/>
          </a:p>
        </p:txBody>
      </p:sp>
      <p:sp>
        <p:nvSpPr>
          <p:cNvPr id="27" name="capture-chip"/>
          <p:cNvSpPr/>
          <p:nvPr/>
        </p:nvSpPr>
        <p:spPr>
          <a:xfrm>
            <a:off x="2822387" y="2267712"/>
            <a:ext cx="1907987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rgbClr val="CFE6C6"/>
            </a:solidFill>
            <a:prstDash val="solid"/>
          </a:ln>
        </p:spPr>
      </p:sp>
      <p:pic>
        <p:nvPicPr>
          <p:cNvPr id="28" name="icon-FaDatab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683" y="2331720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188147" y="2267712"/>
            <a:ext cx="15422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Input A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short note</a:t>
            </a:r>
            <a:endParaRPr lang="en-US" sz="1100" dirty="0"/>
          </a:p>
        </p:txBody>
      </p:sp>
      <p:sp>
        <p:nvSpPr>
          <p:cNvPr id="30" name="capture-chip"/>
          <p:cNvSpPr/>
          <p:nvPr/>
        </p:nvSpPr>
        <p:spPr>
          <a:xfrm>
            <a:off x="2822387" y="2651760"/>
            <a:ext cx="1907987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rgbClr val="CFE6C6"/>
            </a:solidFill>
            <a:prstDash val="solid"/>
          </a:ln>
        </p:spPr>
      </p:sp>
      <p:pic>
        <p:nvPicPr>
          <p:cNvPr id="31" name="icon-FaProjectDiagram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683" y="2715768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3188147" y="2651760"/>
            <a:ext cx="15422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Input B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short note</a:t>
            </a:r>
            <a:endParaRPr lang="en-US" sz="1100" dirty="0"/>
          </a:p>
        </p:txBody>
      </p:sp>
      <p:sp>
        <p:nvSpPr>
          <p:cNvPr id="33" name="capture-chip"/>
          <p:cNvSpPr/>
          <p:nvPr/>
        </p:nvSpPr>
        <p:spPr>
          <a:xfrm>
            <a:off x="2822387" y="3035808"/>
            <a:ext cx="1907987" cy="329184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rgbClr val="CFE6C6"/>
            </a:solidFill>
            <a:prstDash val="solid"/>
          </a:ln>
        </p:spPr>
      </p:sp>
      <p:pic>
        <p:nvPicPr>
          <p:cNvPr id="34" name="icon-FaFileAl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683" y="3099816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188147" y="3035808"/>
            <a:ext cx="15422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Input C  </a:t>
            </a:r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short note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2822387" y="3502152"/>
            <a:ext cx="19079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Key outcome or working principle for this phase, in one or two lines.</a:t>
            </a:r>
            <a:endParaRPr lang="en-US" sz="1100" dirty="0"/>
          </a:p>
        </p:txBody>
      </p:sp>
      <p:sp>
        <p:nvSpPr>
          <p:cNvPr id="37" name="st-extract"/>
          <p:cNvSpPr/>
          <p:nvPr/>
        </p:nvSpPr>
        <p:spPr>
          <a:xfrm>
            <a:off x="5004694" y="1261872"/>
            <a:ext cx="2182307" cy="299923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8" name="icon-FaBalanceScal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854" y="1380744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5461894" y="137160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two</a:t>
            </a:r>
            <a:endParaRPr lang="en-US" sz="1400" dirty="0"/>
          </a:p>
        </p:txBody>
      </p:sp>
      <p:sp>
        <p:nvSpPr>
          <p:cNvPr id="40" name="model-row"/>
          <p:cNvSpPr/>
          <p:nvPr/>
        </p:nvSpPr>
        <p:spPr>
          <a:xfrm>
            <a:off x="5141854" y="1737360"/>
            <a:ext cx="1907987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233294" y="1773936"/>
            <a:ext cx="1725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Tool or team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What it does in this phase</a:t>
            </a:r>
            <a:endParaRPr lang="en-US" sz="1050" dirty="0"/>
          </a:p>
        </p:txBody>
      </p:sp>
      <p:sp>
        <p:nvSpPr>
          <p:cNvPr id="42" name="model-row"/>
          <p:cNvSpPr/>
          <p:nvPr/>
        </p:nvSpPr>
        <p:spPr>
          <a:xfrm>
            <a:off x="5141854" y="2432304"/>
            <a:ext cx="1907987" cy="621792"/>
          </a:xfrm>
          <a:prstGeom prst="roundRect">
            <a:avLst>
              <a:gd name="adj" fmla="val 735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233294" y="2468880"/>
            <a:ext cx="17251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Tool or team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What it does in this phase</a:t>
            </a:r>
            <a:endParaRPr lang="en-US" sz="1050" dirty="0"/>
          </a:p>
        </p:txBody>
      </p:sp>
      <p:sp>
        <p:nvSpPr>
          <p:cNvPr id="44" name="Text 37"/>
          <p:cNvSpPr txBox="1"/>
          <p:nvPr/>
        </p:nvSpPr>
        <p:spPr>
          <a:xfrm>
            <a:off x="5141854" y="3163824"/>
            <a:ext cx="190798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Output or deliverable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Who reviews and signs off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Reusable asset created</a:t>
            </a:r>
            <a:endParaRPr lang="en-US" sz="1100" dirty="0"/>
          </a:p>
        </p:txBody>
      </p:sp>
      <p:sp>
        <p:nvSpPr>
          <p:cNvPr id="45" name="st-reuse"/>
          <p:cNvSpPr/>
          <p:nvPr/>
        </p:nvSpPr>
        <p:spPr>
          <a:xfrm>
            <a:off x="7324161" y="1261872"/>
            <a:ext cx="2182307" cy="299923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6" name="icon-FaCube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321" y="1380744"/>
            <a:ext cx="256032" cy="25603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7781361" y="137160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three</a:t>
            </a:r>
            <a:endParaRPr lang="en-US" sz="1400" dirty="0"/>
          </a:p>
        </p:txBody>
      </p:sp>
      <p:sp>
        <p:nvSpPr>
          <p:cNvPr id="48" name="Text 40"/>
          <p:cNvSpPr txBox="1"/>
          <p:nvPr/>
        </p:nvSpPr>
        <p:spPr>
          <a:xfrm>
            <a:off x="7461321" y="1719072"/>
            <a:ext cx="190798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Short description of the approach used in this phase.</a:t>
            </a:r>
            <a:endParaRPr lang="en-US" sz="1100" dirty="0"/>
          </a:p>
        </p:txBody>
      </p:sp>
      <p:sp>
        <p:nvSpPr>
          <p:cNvPr id="49" name="gap-chip"/>
          <p:cNvSpPr/>
          <p:nvPr/>
        </p:nvSpPr>
        <p:spPr>
          <a:xfrm>
            <a:off x="7461321" y="2377440"/>
            <a:ext cx="868680" cy="2286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7461321" y="23774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Category A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8403153" y="2377440"/>
            <a:ext cx="993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short meaning</a:t>
            </a:r>
            <a:endParaRPr lang="en-US" sz="1050" dirty="0"/>
          </a:p>
        </p:txBody>
      </p:sp>
      <p:sp>
        <p:nvSpPr>
          <p:cNvPr id="52" name="gap-chip"/>
          <p:cNvSpPr/>
          <p:nvPr/>
        </p:nvSpPr>
        <p:spPr>
          <a:xfrm>
            <a:off x="7461321" y="2651760"/>
            <a:ext cx="868680" cy="2286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7461321" y="2651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Category B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8403153" y="2651760"/>
            <a:ext cx="993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short meaning</a:t>
            </a:r>
            <a:endParaRPr lang="en-US" sz="1050" dirty="0"/>
          </a:p>
        </p:txBody>
      </p:sp>
      <p:sp>
        <p:nvSpPr>
          <p:cNvPr id="55" name="gap-chip"/>
          <p:cNvSpPr/>
          <p:nvPr/>
        </p:nvSpPr>
        <p:spPr>
          <a:xfrm>
            <a:off x="7461321" y="2926080"/>
            <a:ext cx="868680" cy="2286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7461321" y="29260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Category C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8403153" y="2926080"/>
            <a:ext cx="993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short meaning</a:t>
            </a:r>
            <a:endParaRPr lang="en-US" sz="1050" dirty="0"/>
          </a:p>
        </p:txBody>
      </p:sp>
      <p:sp>
        <p:nvSpPr>
          <p:cNvPr id="58" name="gap-chip"/>
          <p:cNvSpPr/>
          <p:nvPr/>
        </p:nvSpPr>
        <p:spPr>
          <a:xfrm>
            <a:off x="7461321" y="3200400"/>
            <a:ext cx="868680" cy="2286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7461321" y="32004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Category D</a:t>
            </a:r>
            <a:endParaRPr lang="en-US" sz="1000" dirty="0"/>
          </a:p>
        </p:txBody>
      </p:sp>
      <p:sp>
        <p:nvSpPr>
          <p:cNvPr id="60" name="Text 52"/>
          <p:cNvSpPr txBox="1"/>
          <p:nvPr/>
        </p:nvSpPr>
        <p:spPr>
          <a:xfrm>
            <a:off x="8403153" y="3200400"/>
            <a:ext cx="993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short meaning</a:t>
            </a:r>
            <a:endParaRPr lang="en-US" sz="1050" dirty="0"/>
          </a:p>
        </p:txBody>
      </p:sp>
      <p:sp>
        <p:nvSpPr>
          <p:cNvPr id="61" name="gap-chip"/>
          <p:cNvSpPr/>
          <p:nvPr/>
        </p:nvSpPr>
        <p:spPr>
          <a:xfrm>
            <a:off x="7461321" y="3474720"/>
            <a:ext cx="868680" cy="2286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7461321" y="34747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Category E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8403153" y="3474720"/>
            <a:ext cx="9935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short meaning</a:t>
            </a:r>
            <a:endParaRPr lang="en-US" sz="1050" dirty="0"/>
          </a:p>
        </p:txBody>
      </p:sp>
      <p:sp>
        <p:nvSpPr>
          <p:cNvPr id="64" name="Text 56"/>
          <p:cNvSpPr txBox="1"/>
          <p:nvPr/>
        </p:nvSpPr>
        <p:spPr>
          <a:xfrm>
            <a:off x="7461321" y="38039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Note on where most of the effort or risk sits.</a:t>
            </a:r>
            <a:endParaRPr lang="en-US" sz="1050" dirty="0"/>
          </a:p>
        </p:txBody>
      </p:sp>
      <p:sp>
        <p:nvSpPr>
          <p:cNvPr id="65" name="st-build"/>
          <p:cNvSpPr/>
          <p:nvPr/>
        </p:nvSpPr>
        <p:spPr>
          <a:xfrm>
            <a:off x="9643628" y="1261872"/>
            <a:ext cx="2182307" cy="2999232"/>
          </a:xfrm>
          <a:prstGeom prst="roundRect">
            <a:avLst>
              <a:gd name="adj" fmla="val 29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6" name="icon-FaCogs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0788" y="1380744"/>
            <a:ext cx="256032" cy="256032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10100828" y="1371600"/>
            <a:ext cx="1633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 four</a:t>
            </a:r>
            <a:endParaRPr lang="en-US" sz="1400" dirty="0"/>
          </a:p>
        </p:txBody>
      </p:sp>
      <p:sp>
        <p:nvSpPr>
          <p:cNvPr id="68" name="arch-left"/>
          <p:cNvSpPr/>
          <p:nvPr/>
        </p:nvSpPr>
        <p:spPr>
          <a:xfrm>
            <a:off x="9780788" y="1737360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978078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Component 1</a:t>
            </a:r>
            <a:endParaRPr lang="en-US" sz="1000" dirty="0"/>
          </a:p>
        </p:txBody>
      </p:sp>
      <p:sp>
        <p:nvSpPr>
          <p:cNvPr id="70" name="arrow"/>
          <p:cNvSpPr/>
          <p:nvPr/>
        </p:nvSpPr>
        <p:spPr>
          <a:xfrm>
            <a:off x="10237988" y="2011680"/>
            <a:ext cx="914" cy="118872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1" name="arch-left"/>
          <p:cNvSpPr/>
          <p:nvPr/>
        </p:nvSpPr>
        <p:spPr>
          <a:xfrm>
            <a:off x="9780788" y="2130552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2" name="Text 63"/>
          <p:cNvSpPr txBox="1"/>
          <p:nvPr/>
        </p:nvSpPr>
        <p:spPr>
          <a:xfrm>
            <a:off x="9780788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Component 2</a:t>
            </a:r>
            <a:endParaRPr lang="en-US" sz="1000" dirty="0"/>
          </a:p>
        </p:txBody>
      </p:sp>
      <p:sp>
        <p:nvSpPr>
          <p:cNvPr id="73" name="arrow"/>
          <p:cNvSpPr/>
          <p:nvPr/>
        </p:nvSpPr>
        <p:spPr>
          <a:xfrm>
            <a:off x="10237988" y="2404872"/>
            <a:ext cx="914" cy="118872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4" name="arch-left"/>
          <p:cNvSpPr/>
          <p:nvPr/>
        </p:nvSpPr>
        <p:spPr>
          <a:xfrm>
            <a:off x="9780788" y="2523744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9780788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Component 3</a:t>
            </a:r>
            <a:endParaRPr lang="en-US" sz="1000" dirty="0"/>
          </a:p>
        </p:txBody>
      </p:sp>
      <p:sp>
        <p:nvSpPr>
          <p:cNvPr id="76" name="arrow"/>
          <p:cNvSpPr/>
          <p:nvPr/>
        </p:nvSpPr>
        <p:spPr>
          <a:xfrm>
            <a:off x="10237988" y="2798064"/>
            <a:ext cx="914" cy="118872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77" name="arch-left"/>
          <p:cNvSpPr/>
          <p:nvPr/>
        </p:nvSpPr>
        <p:spPr>
          <a:xfrm>
            <a:off x="9780788" y="2916936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8" name="Text 69"/>
          <p:cNvSpPr txBox="1"/>
          <p:nvPr/>
        </p:nvSpPr>
        <p:spPr>
          <a:xfrm>
            <a:off x="9780788" y="2916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Component 4</a:t>
            </a:r>
            <a:endParaRPr lang="en-US" sz="1000" dirty="0"/>
          </a:p>
        </p:txBody>
      </p:sp>
      <p:sp>
        <p:nvSpPr>
          <p:cNvPr id="79" name="arrow"/>
          <p:cNvSpPr/>
          <p:nvPr/>
        </p:nvSpPr>
        <p:spPr>
          <a:xfrm>
            <a:off x="10237988" y="3191256"/>
            <a:ext cx="914" cy="118872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80" name="arch-left"/>
          <p:cNvSpPr/>
          <p:nvPr/>
        </p:nvSpPr>
        <p:spPr>
          <a:xfrm>
            <a:off x="9780788" y="3310128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1" name="Text 72"/>
          <p:cNvSpPr txBox="1"/>
          <p:nvPr/>
        </p:nvSpPr>
        <p:spPr>
          <a:xfrm>
            <a:off x="9780788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Component 5</a:t>
            </a:r>
            <a:endParaRPr lang="en-US" sz="1000" dirty="0"/>
          </a:p>
        </p:txBody>
      </p:sp>
      <p:sp>
        <p:nvSpPr>
          <p:cNvPr id="82" name="arch-right"/>
          <p:cNvSpPr/>
          <p:nvPr/>
        </p:nvSpPr>
        <p:spPr>
          <a:xfrm>
            <a:off x="10777484" y="1737360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83" name="Text 74"/>
          <p:cNvSpPr txBox="1"/>
          <p:nvPr/>
        </p:nvSpPr>
        <p:spPr>
          <a:xfrm>
            <a:off x="1077748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Fallback</a:t>
            </a:r>
            <a:endParaRPr lang="en-US" sz="1000" dirty="0"/>
          </a:p>
        </p:txBody>
      </p:sp>
      <p:sp>
        <p:nvSpPr>
          <p:cNvPr id="84" name="arch-right"/>
          <p:cNvSpPr/>
          <p:nvPr/>
        </p:nvSpPr>
        <p:spPr>
          <a:xfrm>
            <a:off x="10777484" y="2523744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5" name="Text 76"/>
          <p:cNvSpPr txBox="1"/>
          <p:nvPr/>
        </p:nvSpPr>
        <p:spPr>
          <a:xfrm>
            <a:off x="10777484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Shared asset</a:t>
            </a:r>
            <a:endParaRPr lang="en-US" sz="1000" dirty="0"/>
          </a:p>
        </p:txBody>
      </p:sp>
      <p:sp>
        <p:nvSpPr>
          <p:cNvPr id="86" name="arch-right"/>
          <p:cNvSpPr/>
          <p:nvPr/>
        </p:nvSpPr>
        <p:spPr>
          <a:xfrm>
            <a:off x="10777484" y="2916936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7" name="Text 78"/>
          <p:cNvSpPr txBox="1"/>
          <p:nvPr/>
        </p:nvSpPr>
        <p:spPr>
          <a:xfrm>
            <a:off x="10777484" y="2916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New asset</a:t>
            </a:r>
            <a:endParaRPr lang="en-US" sz="1000" dirty="0"/>
          </a:p>
        </p:txBody>
      </p:sp>
      <p:sp>
        <p:nvSpPr>
          <p:cNvPr id="88" name="arch-right"/>
          <p:cNvSpPr/>
          <p:nvPr/>
        </p:nvSpPr>
        <p:spPr>
          <a:xfrm>
            <a:off x="10777484" y="3310128"/>
            <a:ext cx="914400" cy="27432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9" name="Text 80"/>
          <p:cNvSpPr txBox="1"/>
          <p:nvPr/>
        </p:nvSpPr>
        <p:spPr>
          <a:xfrm>
            <a:off x="10777484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External system</a:t>
            </a:r>
            <a:endParaRPr lang="en-US" sz="1000" dirty="0"/>
          </a:p>
        </p:txBody>
      </p:sp>
      <p:sp>
        <p:nvSpPr>
          <p:cNvPr id="90" name="arrow"/>
          <p:cNvSpPr/>
          <p:nvPr/>
        </p:nvSpPr>
        <p:spPr>
          <a:xfrm>
            <a:off x="10695188" y="1874520"/>
            <a:ext cx="82296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1" name="arrow"/>
          <p:cNvSpPr/>
          <p:nvPr/>
        </p:nvSpPr>
        <p:spPr>
          <a:xfrm>
            <a:off x="10695188" y="2660904"/>
            <a:ext cx="82296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2" name="arrow"/>
          <p:cNvSpPr/>
          <p:nvPr/>
        </p:nvSpPr>
        <p:spPr>
          <a:xfrm>
            <a:off x="10695188" y="2734056"/>
            <a:ext cx="82296" cy="2743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3" name="arrow"/>
          <p:cNvSpPr/>
          <p:nvPr/>
        </p:nvSpPr>
        <p:spPr>
          <a:xfrm>
            <a:off x="10695188" y="3447288"/>
            <a:ext cx="82296" cy="914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4" name="Text 85"/>
          <p:cNvSpPr txBox="1"/>
          <p:nvPr/>
        </p:nvSpPr>
        <p:spPr>
          <a:xfrm>
            <a:off x="9780788" y="3776472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3"/>
                </a:solidFill>
              </a:rPr>
              <a:t>One-line design principle for the solution.</a:t>
            </a:r>
            <a:endParaRPr lang="en-US" sz="1050" dirty="0"/>
          </a:p>
        </p:txBody>
      </p:sp>
      <p:sp>
        <p:nvSpPr>
          <p:cNvPr id="95" name="gates"/>
          <p:cNvSpPr/>
          <p:nvPr/>
        </p:nvSpPr>
        <p:spPr>
          <a:xfrm>
            <a:off x="365760" y="4389120"/>
            <a:ext cx="5074920" cy="1901952"/>
          </a:xfrm>
          <a:prstGeom prst="roundRect">
            <a:avLst>
              <a:gd name="adj" fmla="val 3365"/>
            </a:avLst>
          </a:prstGeom>
          <a:solidFill>
            <a:schemeClr val="bg1"/>
          </a:solidFill>
          <a:ln w="12700">
            <a:solidFill>
              <a:srgbClr val="CFE6C6"/>
            </a:solidFill>
            <a:prstDash val="solid"/>
          </a:ln>
        </p:spPr>
      </p:sp>
      <p:sp>
        <p:nvSpPr>
          <p:cNvPr id="96" name="Text 87"/>
          <p:cNvSpPr txBox="1"/>
          <p:nvPr/>
        </p:nvSpPr>
        <p:spPr>
          <a:xfrm>
            <a:off x="530352" y="449884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Phases and exit criteria</a:t>
            </a:r>
            <a:endParaRPr lang="en-US" sz="1400" dirty="0"/>
          </a:p>
        </p:txBody>
      </p:sp>
      <p:sp>
        <p:nvSpPr>
          <p:cNvPr id="97" name="gate"/>
          <p:cNvSpPr/>
          <p:nvPr/>
        </p:nvSpPr>
        <p:spPr>
          <a:xfrm>
            <a:off x="530352" y="4864608"/>
            <a:ext cx="851916" cy="384048"/>
          </a:xfrm>
          <a:prstGeom prst="homePlat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8" name="Text 89"/>
          <p:cNvSpPr txBox="1"/>
          <p:nvPr/>
        </p:nvSpPr>
        <p:spPr>
          <a:xfrm>
            <a:off x="640080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1</a:t>
            </a:r>
            <a:endParaRPr lang="en-US" sz="1050" dirty="0"/>
          </a:p>
        </p:txBody>
      </p:sp>
      <p:sp>
        <p:nvSpPr>
          <p:cNvPr id="99" name="Text 90"/>
          <p:cNvSpPr txBox="1"/>
          <p:nvPr/>
        </p:nvSpPr>
        <p:spPr>
          <a:xfrm>
            <a:off x="576072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00" name="gate"/>
          <p:cNvSpPr/>
          <p:nvPr/>
        </p:nvSpPr>
        <p:spPr>
          <a:xfrm>
            <a:off x="1309116" y="4864608"/>
            <a:ext cx="851916" cy="384048"/>
          </a:xfrm>
          <a:prstGeom prst="chevron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1" name="Text 92"/>
          <p:cNvSpPr txBox="1"/>
          <p:nvPr/>
        </p:nvSpPr>
        <p:spPr>
          <a:xfrm>
            <a:off x="1418844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2</a:t>
            </a:r>
            <a:endParaRPr lang="en-US" sz="1050" dirty="0"/>
          </a:p>
        </p:txBody>
      </p:sp>
      <p:sp>
        <p:nvSpPr>
          <p:cNvPr id="102" name="Text 93"/>
          <p:cNvSpPr txBox="1"/>
          <p:nvPr/>
        </p:nvSpPr>
        <p:spPr>
          <a:xfrm>
            <a:off x="1354836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03" name="gate"/>
          <p:cNvSpPr/>
          <p:nvPr/>
        </p:nvSpPr>
        <p:spPr>
          <a:xfrm>
            <a:off x="2087880" y="4864608"/>
            <a:ext cx="851916" cy="38404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4" name="Text 95"/>
          <p:cNvSpPr txBox="1"/>
          <p:nvPr/>
        </p:nvSpPr>
        <p:spPr>
          <a:xfrm>
            <a:off x="2197608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3</a:t>
            </a:r>
            <a:endParaRPr lang="en-US" sz="1050" dirty="0"/>
          </a:p>
        </p:txBody>
      </p:sp>
      <p:sp>
        <p:nvSpPr>
          <p:cNvPr id="105" name="Text 96"/>
          <p:cNvSpPr txBox="1"/>
          <p:nvPr/>
        </p:nvSpPr>
        <p:spPr>
          <a:xfrm>
            <a:off x="2133600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06" name="gate"/>
          <p:cNvSpPr/>
          <p:nvPr/>
        </p:nvSpPr>
        <p:spPr>
          <a:xfrm>
            <a:off x="2866644" y="4864608"/>
            <a:ext cx="851916" cy="38404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7" name="Text 98"/>
          <p:cNvSpPr txBox="1"/>
          <p:nvPr/>
        </p:nvSpPr>
        <p:spPr>
          <a:xfrm>
            <a:off x="2976372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4</a:t>
            </a:r>
            <a:endParaRPr lang="en-US" sz="1050" dirty="0"/>
          </a:p>
        </p:txBody>
      </p:sp>
      <p:sp>
        <p:nvSpPr>
          <p:cNvPr id="108" name="Text 99"/>
          <p:cNvSpPr txBox="1"/>
          <p:nvPr/>
        </p:nvSpPr>
        <p:spPr>
          <a:xfrm>
            <a:off x="2912364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09" name="gate"/>
          <p:cNvSpPr/>
          <p:nvPr/>
        </p:nvSpPr>
        <p:spPr>
          <a:xfrm>
            <a:off x="3645408" y="4864608"/>
            <a:ext cx="851916" cy="384048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0" name="Text 101"/>
          <p:cNvSpPr txBox="1"/>
          <p:nvPr/>
        </p:nvSpPr>
        <p:spPr>
          <a:xfrm>
            <a:off x="3755136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5</a:t>
            </a:r>
            <a:endParaRPr lang="en-US" sz="1050" dirty="0"/>
          </a:p>
        </p:txBody>
      </p:sp>
      <p:sp>
        <p:nvSpPr>
          <p:cNvPr id="111" name="Text 102"/>
          <p:cNvSpPr txBox="1"/>
          <p:nvPr/>
        </p:nvSpPr>
        <p:spPr>
          <a:xfrm>
            <a:off x="3691128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12" name="gate"/>
          <p:cNvSpPr/>
          <p:nvPr/>
        </p:nvSpPr>
        <p:spPr>
          <a:xfrm>
            <a:off x="4424172" y="4864608"/>
            <a:ext cx="851916" cy="384048"/>
          </a:xfrm>
          <a:prstGeom prst="chevron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3" name="Text 104"/>
          <p:cNvSpPr txBox="1"/>
          <p:nvPr/>
        </p:nvSpPr>
        <p:spPr>
          <a:xfrm>
            <a:off x="4533900" y="4864608"/>
            <a:ext cx="632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Phase 6</a:t>
            </a:r>
            <a:endParaRPr lang="en-US" sz="1050" dirty="0"/>
          </a:p>
        </p:txBody>
      </p:sp>
      <p:sp>
        <p:nvSpPr>
          <p:cNvPr id="114" name="Text 105"/>
          <p:cNvSpPr txBox="1"/>
          <p:nvPr/>
        </p:nvSpPr>
        <p:spPr>
          <a:xfrm>
            <a:off x="4469892" y="5321808"/>
            <a:ext cx="6873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Exit criterion</a:t>
            </a:r>
            <a:endParaRPr lang="en-US" sz="1000" dirty="0"/>
          </a:p>
        </p:txBody>
      </p:sp>
      <p:sp>
        <p:nvSpPr>
          <p:cNvPr id="115" name="Text 106"/>
          <p:cNvSpPr txBox="1"/>
          <p:nvPr/>
        </p:nvSpPr>
        <p:spPr>
          <a:xfrm>
            <a:off x="530352" y="5925312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Timeline: </a:t>
            </a:r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note on when dates will be committed.</a:t>
            </a:r>
            <a:endParaRPr lang="en-US" sz="1050" dirty="0"/>
          </a:p>
        </p:txBody>
      </p:sp>
      <p:sp>
        <p:nvSpPr>
          <p:cNvPr id="116" name="risks"/>
          <p:cNvSpPr/>
          <p:nvPr/>
        </p:nvSpPr>
        <p:spPr>
          <a:xfrm>
            <a:off x="5577840" y="4389120"/>
            <a:ext cx="3246120" cy="1901952"/>
          </a:xfrm>
          <a:prstGeom prst="roundRect">
            <a:avLst>
              <a:gd name="adj" fmla="val 33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7" name="Text 108"/>
          <p:cNvSpPr txBox="1"/>
          <p:nvPr/>
        </p:nvSpPr>
        <p:spPr>
          <a:xfrm>
            <a:off x="5742432" y="4498848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Key risks</a:t>
            </a:r>
            <a:endParaRPr lang="en-US" sz="1400" dirty="0"/>
          </a:p>
        </p:txBody>
      </p:sp>
      <p:sp>
        <p:nvSpPr>
          <p:cNvPr id="118" name="risk-dot"/>
          <p:cNvSpPr/>
          <p:nvPr/>
        </p:nvSpPr>
        <p:spPr>
          <a:xfrm>
            <a:off x="5742432" y="4928616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9" name="Text 110"/>
          <p:cNvSpPr txBox="1"/>
          <p:nvPr/>
        </p:nvSpPr>
        <p:spPr>
          <a:xfrm>
            <a:off x="5943600" y="4846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Risk 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20" name="risk-dot"/>
          <p:cNvSpPr/>
          <p:nvPr/>
        </p:nvSpPr>
        <p:spPr>
          <a:xfrm>
            <a:off x="5742432" y="5276088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1" name="Text 112"/>
          <p:cNvSpPr txBox="1"/>
          <p:nvPr/>
        </p:nvSpPr>
        <p:spPr>
          <a:xfrm>
            <a:off x="5943600" y="5193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Risk two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22" name="risk-dot"/>
          <p:cNvSpPr/>
          <p:nvPr/>
        </p:nvSpPr>
        <p:spPr>
          <a:xfrm>
            <a:off x="5742432" y="562356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3" name="Text 114"/>
          <p:cNvSpPr txBox="1"/>
          <p:nvPr/>
        </p:nvSpPr>
        <p:spPr>
          <a:xfrm>
            <a:off x="5943600" y="55412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Risk three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24" name="risk-dot"/>
          <p:cNvSpPr/>
          <p:nvPr/>
        </p:nvSpPr>
        <p:spPr>
          <a:xfrm>
            <a:off x="5742432" y="5971032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5" name="Text 116"/>
          <p:cNvSpPr txBox="1"/>
          <p:nvPr/>
        </p:nvSpPr>
        <p:spPr>
          <a:xfrm>
            <a:off x="5943600" y="58887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Risk four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26" name="asks"/>
          <p:cNvSpPr/>
          <p:nvPr/>
        </p:nvSpPr>
        <p:spPr>
          <a:xfrm>
            <a:off x="8961120" y="4389120"/>
            <a:ext cx="2864815" cy="1901952"/>
          </a:xfrm>
          <a:prstGeom prst="roundRect">
            <a:avLst>
              <a:gd name="adj" fmla="val 336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7" name="Text 118"/>
          <p:cNvSpPr txBox="1"/>
          <p:nvPr/>
        </p:nvSpPr>
        <p:spPr>
          <a:xfrm>
            <a:off x="9125712" y="449884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Asks</a:t>
            </a:r>
            <a:endParaRPr lang="en-US" sz="1400" dirty="0"/>
          </a:p>
        </p:txBody>
      </p:sp>
      <p:pic>
        <p:nvPicPr>
          <p:cNvPr id="128" name="icon-FaServer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4873752"/>
            <a:ext cx="182880" cy="182880"/>
          </a:xfrm>
          <a:prstGeom prst="rect">
            <a:avLst/>
          </a:prstGeom>
        </p:spPr>
      </p:pic>
      <p:sp>
        <p:nvSpPr>
          <p:cNvPr id="129" name="Text 119"/>
          <p:cNvSpPr txBox="1"/>
          <p:nvPr/>
        </p:nvSpPr>
        <p:spPr>
          <a:xfrm>
            <a:off x="9400032" y="4846320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Ask one</a:t>
            </a:r>
            <a:endParaRPr lang="en-US" sz="1050" dirty="0"/>
          </a:p>
        </p:txBody>
      </p:sp>
      <p:pic>
        <p:nvPicPr>
          <p:cNvPr id="130" name="icon-FaUserTi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5712" y="5157216"/>
            <a:ext cx="182880" cy="182880"/>
          </a:xfrm>
          <a:prstGeom prst="rect">
            <a:avLst/>
          </a:prstGeom>
        </p:spPr>
      </p:pic>
      <p:sp>
        <p:nvSpPr>
          <p:cNvPr id="131" name="Text 120"/>
          <p:cNvSpPr txBox="1"/>
          <p:nvPr/>
        </p:nvSpPr>
        <p:spPr>
          <a:xfrm>
            <a:off x="9400032" y="5129784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Ask two</a:t>
            </a:r>
            <a:endParaRPr lang="en-US" sz="1050" dirty="0"/>
          </a:p>
        </p:txBody>
      </p:sp>
      <p:pic>
        <p:nvPicPr>
          <p:cNvPr id="132" name="icon-FaHandshake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5440680"/>
            <a:ext cx="182880" cy="182880"/>
          </a:xfrm>
          <a:prstGeom prst="rect">
            <a:avLst/>
          </a:prstGeom>
        </p:spPr>
      </p:pic>
      <p:sp>
        <p:nvSpPr>
          <p:cNvPr id="133" name="Text 121"/>
          <p:cNvSpPr txBox="1"/>
          <p:nvPr/>
        </p:nvSpPr>
        <p:spPr>
          <a:xfrm>
            <a:off x="9400032" y="5413248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Ask three</a:t>
            </a:r>
            <a:endParaRPr lang="en-US" sz="1050" dirty="0"/>
          </a:p>
        </p:txBody>
      </p:sp>
      <p:pic>
        <p:nvPicPr>
          <p:cNvPr id="134" name="icon-FaUsers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25712" y="5724144"/>
            <a:ext cx="182880" cy="182880"/>
          </a:xfrm>
          <a:prstGeom prst="rect">
            <a:avLst/>
          </a:prstGeom>
        </p:spPr>
      </p:pic>
      <p:sp>
        <p:nvSpPr>
          <p:cNvPr id="135" name="Text 122"/>
          <p:cNvSpPr txBox="1"/>
          <p:nvPr/>
        </p:nvSpPr>
        <p:spPr>
          <a:xfrm>
            <a:off x="9400032" y="5696712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Ask four</a:t>
            </a:r>
            <a:endParaRPr lang="en-US" sz="1050" dirty="0"/>
          </a:p>
        </p:txBody>
      </p:sp>
      <p:pic>
        <p:nvPicPr>
          <p:cNvPr id="136" name="icon-FaRobot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5712" y="6007608"/>
            <a:ext cx="182880" cy="182880"/>
          </a:xfrm>
          <a:prstGeom prst="rect">
            <a:avLst/>
          </a:prstGeom>
        </p:spPr>
      </p:pic>
      <p:sp>
        <p:nvSpPr>
          <p:cNvPr id="137" name="Text 123"/>
          <p:cNvSpPr txBox="1"/>
          <p:nvPr/>
        </p:nvSpPr>
        <p:spPr>
          <a:xfrm>
            <a:off x="9400032" y="5980176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Ask five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">
  <a:themeElements>
    <a:clrScheme name="Green">
      <a:dk1>
        <a:srgbClr val="1C2B1E"/>
      </a:dk1>
      <a:lt1>
        <a:srgbClr val="FFFFFF"/>
      </a:lt1>
      <a:dk2>
        <a:srgbClr val="0E3B16"/>
      </a:dk2>
      <a:lt2>
        <a:srgbClr val="EDF5EA"/>
      </a:lt2>
      <a:accent1>
        <a:srgbClr val="368727"/>
      </a:accent1>
      <a:accent2>
        <a:srgbClr val="7AB800"/>
      </a:accent2>
      <a:accent3>
        <a:srgbClr val="1F5C26"/>
      </a:accent3>
      <a:accent4>
        <a:srgbClr val="D98E04"/>
      </a:accent4>
      <a:accent5>
        <a:srgbClr val="5B6770"/>
      </a:accent5>
      <a:accent6>
        <a:srgbClr val="CFE6C6"/>
      </a:accent6>
      <a:hlink>
        <a:srgbClr val="368727"/>
      </a:hlink>
      <a:folHlink>
        <a:srgbClr val="1F5C26"/>
      </a:folHlink>
    </a:clrScheme>
    <a:fontScheme name="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on a page</dc:title>
  <dc:subject>PptxGenJS Presentation</dc:subject>
  <dc:creator/>
  <cp:lastModifiedBy/>
  <cp:revision>1</cp:revision>
  <dcterms:created xsi:type="dcterms:W3CDTF">2026-10-04T21:41:38Z</dcterms:created>
  <dcterms:modified xsi:type="dcterms:W3CDTF">2026-10-04T21:41:38Z</dcterms:modified>
</cp:coreProperties>
</file>