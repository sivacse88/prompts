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Amber bands are apps approaching end of life on 1 Dec 2026; green bands are current. Trace the amber back to see which managers, audiences and stages it comes from. Internal/external is a new field — add an Audience column to the App Inventory to populate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Thresholds: 20% of apps approaching EOL, 6 findings per app — agree these with leadership. The ring around each bubble shows Sonar coverage: green arc = share of apps with a Sonar project. Bubbles are drawn shapes; move them if the numbers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128 apps: every EOL app is in production, and 29 of the 32 face customers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band is a group of apps flowing from its manager, through audience and ServiceNow stage, to its technology lifecycle status. Band width = number of apps.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49047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manager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05079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61111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stage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88552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78024" y="1915597"/>
            <a:ext cx="2414016" cy="2830568"/>
          </a:xfrm>
          <a:custGeom>
            <a:avLst/>
            <a:gdLst/>
            <a:ahLst/>
            <a:cxnLst/>
            <a:rect l="l" t="t" r="r" b="b"/>
            <a:pathLst>
              <a:path w="2414016" h="2830568">
                <a:moveTo>
                  <a:pt x="0" y="0"/>
                </a:moveTo>
                <a:cubicBezTo>
                  <a:pt x="1207008" y="0"/>
                  <a:pt x="1207008" y="2698051"/>
                  <a:pt x="2414016" y="2698051"/>
                </a:cubicBezTo>
                <a:lnTo>
                  <a:pt x="2414016" y="2830568"/>
                </a:lnTo>
                <a:cubicBezTo>
                  <a:pt x="1207008" y="2830568"/>
                  <a:pt x="1207008" y="132517"/>
                  <a:pt x="0" y="132517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478024" y="2048113"/>
            <a:ext cx="2414016" cy="2751058"/>
          </a:xfrm>
          <a:custGeom>
            <a:avLst/>
            <a:gdLst/>
            <a:ahLst/>
            <a:cxnLst/>
            <a:rect l="l" t="t" r="r" b="b"/>
            <a:pathLst>
              <a:path w="2414016" h="2751058">
                <a:moveTo>
                  <a:pt x="0" y="0"/>
                </a:moveTo>
                <a:cubicBezTo>
                  <a:pt x="1207008" y="0"/>
                  <a:pt x="1207008" y="2698051"/>
                  <a:pt x="2414016" y="2698051"/>
                </a:cubicBezTo>
                <a:lnTo>
                  <a:pt x="2414016" y="2751058"/>
                </a:lnTo>
                <a:cubicBezTo>
                  <a:pt x="1207008" y="2751058"/>
                  <a:pt x="1207008" y="53007"/>
                  <a:pt x="0" y="53007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78024" y="1783080"/>
            <a:ext cx="2414016" cy="351973"/>
          </a:xfrm>
          <a:custGeom>
            <a:avLst/>
            <a:gdLst/>
            <a:ahLst/>
            <a:cxnLst/>
            <a:rect l="l" t="t" r="r" b="b"/>
            <a:pathLst>
              <a:path w="2414016" h="351973">
                <a:moveTo>
                  <a:pt x="0" y="0"/>
                </a:moveTo>
                <a:cubicBezTo>
                  <a:pt x="1207008" y="0"/>
                  <a:pt x="1207008" y="219456"/>
                  <a:pt x="2414016" y="219456"/>
                </a:cubicBezTo>
                <a:lnTo>
                  <a:pt x="2414016" y="351973"/>
                </a:lnTo>
                <a:cubicBezTo>
                  <a:pt x="1207008" y="351973"/>
                  <a:pt x="1207008" y="132517"/>
                  <a:pt x="0" y="132517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78024" y="2750987"/>
            <a:ext cx="2414016" cy="2207204"/>
          </a:xfrm>
          <a:custGeom>
            <a:avLst/>
            <a:gdLst/>
            <a:ahLst/>
            <a:cxnLst/>
            <a:rect l="l" t="t" r="r" b="b"/>
            <a:pathLst>
              <a:path w="2414016" h="2207204">
                <a:moveTo>
                  <a:pt x="0" y="0"/>
                </a:moveTo>
                <a:cubicBezTo>
                  <a:pt x="1207008" y="0"/>
                  <a:pt x="1207008" y="2048185"/>
                  <a:pt x="2414016" y="2048185"/>
                </a:cubicBezTo>
                <a:lnTo>
                  <a:pt x="2414016" y="2207204"/>
                </a:lnTo>
                <a:cubicBezTo>
                  <a:pt x="1207008" y="2207204"/>
                  <a:pt x="1207008" y="159020"/>
                  <a:pt x="0" y="159020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78024" y="2135053"/>
            <a:ext cx="2414016" cy="615934"/>
          </a:xfrm>
          <a:custGeom>
            <a:avLst/>
            <a:gdLst/>
            <a:ahLst/>
            <a:cxnLst/>
            <a:rect l="l" t="t" r="r" b="b"/>
            <a:pathLst>
              <a:path w="2414016" h="615934">
                <a:moveTo>
                  <a:pt x="0" y="112371"/>
                </a:moveTo>
                <a:cubicBezTo>
                  <a:pt x="1207008" y="112371"/>
                  <a:pt x="1207008" y="0"/>
                  <a:pt x="2414016" y="0"/>
                </a:cubicBezTo>
                <a:lnTo>
                  <a:pt x="2414016" y="503563"/>
                </a:lnTo>
                <a:cubicBezTo>
                  <a:pt x="1207008" y="503563"/>
                  <a:pt x="1207008" y="615934"/>
                  <a:pt x="0" y="615934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78024" y="3851410"/>
            <a:ext cx="2414016" cy="1265801"/>
          </a:xfrm>
          <a:custGeom>
            <a:avLst/>
            <a:gdLst/>
            <a:ahLst/>
            <a:cxnLst/>
            <a:rect l="l" t="t" r="r" b="b"/>
            <a:pathLst>
              <a:path w="2414016" h="1265801">
                <a:moveTo>
                  <a:pt x="0" y="0"/>
                </a:moveTo>
                <a:cubicBezTo>
                  <a:pt x="1207008" y="0"/>
                  <a:pt x="1207008" y="1106781"/>
                  <a:pt x="2414016" y="1106781"/>
                </a:cubicBezTo>
                <a:lnTo>
                  <a:pt x="2414016" y="1265801"/>
                </a:lnTo>
                <a:cubicBezTo>
                  <a:pt x="1207008" y="1265801"/>
                  <a:pt x="1207008" y="159020"/>
                  <a:pt x="0" y="159020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78024" y="2638616"/>
            <a:ext cx="2414016" cy="497205"/>
          </a:xfrm>
          <a:custGeom>
            <a:avLst/>
            <a:gdLst/>
            <a:ahLst/>
            <a:cxnLst/>
            <a:rect l="l" t="t" r="r" b="b"/>
            <a:pathLst>
              <a:path w="2414016" h="497205">
                <a:moveTo>
                  <a:pt x="0" y="417695"/>
                </a:moveTo>
                <a:cubicBezTo>
                  <a:pt x="1207008" y="417695"/>
                  <a:pt x="1207008" y="0"/>
                  <a:pt x="2414016" y="0"/>
                </a:cubicBezTo>
                <a:lnTo>
                  <a:pt x="2414016" y="79510"/>
                </a:lnTo>
                <a:cubicBezTo>
                  <a:pt x="1207008" y="79510"/>
                  <a:pt x="1207008" y="497205"/>
                  <a:pt x="0" y="497205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78024" y="2718125"/>
            <a:ext cx="2414016" cy="1133285"/>
          </a:xfrm>
          <a:custGeom>
            <a:avLst/>
            <a:gdLst/>
            <a:ahLst/>
            <a:cxnLst/>
            <a:rect l="l" t="t" r="r" b="b"/>
            <a:pathLst>
              <a:path w="2414016" h="1133285">
                <a:moveTo>
                  <a:pt x="0" y="417695"/>
                </a:moveTo>
                <a:cubicBezTo>
                  <a:pt x="1207008" y="417695"/>
                  <a:pt x="1207008" y="0"/>
                  <a:pt x="2414016" y="0"/>
                </a:cubicBezTo>
                <a:lnTo>
                  <a:pt x="2414016" y="715589"/>
                </a:lnTo>
                <a:cubicBezTo>
                  <a:pt x="1207008" y="715589"/>
                  <a:pt x="1207008" y="1133285"/>
                  <a:pt x="0" y="1133285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8024" y="4554284"/>
            <a:ext cx="2414016" cy="642437"/>
          </a:xfrm>
          <a:custGeom>
            <a:avLst/>
            <a:gdLst/>
            <a:ahLst/>
            <a:cxnLst/>
            <a:rect l="l" t="t" r="r" b="b"/>
            <a:pathLst>
              <a:path w="2414016" h="642437">
                <a:moveTo>
                  <a:pt x="0" y="0"/>
                </a:moveTo>
                <a:cubicBezTo>
                  <a:pt x="1207008" y="0"/>
                  <a:pt x="1207008" y="562927"/>
                  <a:pt x="2414016" y="562927"/>
                </a:cubicBezTo>
                <a:lnTo>
                  <a:pt x="2414016" y="642437"/>
                </a:lnTo>
                <a:cubicBezTo>
                  <a:pt x="1207008" y="642437"/>
                  <a:pt x="1207008" y="79510"/>
                  <a:pt x="0" y="79510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478024" y="3433715"/>
            <a:ext cx="2414016" cy="1120569"/>
          </a:xfrm>
          <a:custGeom>
            <a:avLst/>
            <a:gdLst/>
            <a:ahLst/>
            <a:cxnLst/>
            <a:rect l="l" t="t" r="r" b="b"/>
            <a:pathLst>
              <a:path w="2414016" h="1120569">
                <a:moveTo>
                  <a:pt x="0" y="723019"/>
                </a:moveTo>
                <a:cubicBezTo>
                  <a:pt x="1207008" y="723019"/>
                  <a:pt x="1207008" y="0"/>
                  <a:pt x="2414016" y="0"/>
                </a:cubicBezTo>
                <a:lnTo>
                  <a:pt x="2414016" y="397550"/>
                </a:lnTo>
                <a:cubicBezTo>
                  <a:pt x="1207008" y="397550"/>
                  <a:pt x="1207008" y="1120569"/>
                  <a:pt x="0" y="1120569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8024" y="5196721"/>
            <a:ext cx="2414016" cy="537496"/>
          </a:xfrm>
          <a:custGeom>
            <a:avLst/>
            <a:gdLst/>
            <a:ahLst/>
            <a:cxnLst/>
            <a:rect l="l" t="t" r="r" b="b"/>
            <a:pathLst>
              <a:path w="2414016" h="537496">
                <a:moveTo>
                  <a:pt x="0" y="219456"/>
                </a:moveTo>
                <a:cubicBezTo>
                  <a:pt x="1207008" y="219456"/>
                  <a:pt x="1207008" y="0"/>
                  <a:pt x="2414016" y="0"/>
                </a:cubicBezTo>
                <a:lnTo>
                  <a:pt x="2414016" y="318040"/>
                </a:lnTo>
                <a:cubicBezTo>
                  <a:pt x="1207008" y="318040"/>
                  <a:pt x="1207008" y="537496"/>
                  <a:pt x="0" y="537496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478024" y="5514761"/>
            <a:ext cx="2414016" cy="245959"/>
          </a:xfrm>
          <a:custGeom>
            <a:avLst/>
            <a:gdLst/>
            <a:ahLst/>
            <a:cxnLst/>
            <a:rect l="l" t="t" r="r" b="b"/>
            <a:pathLst>
              <a:path w="2414016" h="245959">
                <a:moveTo>
                  <a:pt x="0" y="219456"/>
                </a:moveTo>
                <a:cubicBezTo>
                  <a:pt x="1207008" y="219456"/>
                  <a:pt x="1207008" y="0"/>
                  <a:pt x="2414016" y="0"/>
                </a:cubicBezTo>
                <a:lnTo>
                  <a:pt x="2414016" y="26503"/>
                </a:lnTo>
                <a:cubicBezTo>
                  <a:pt x="1207008" y="26503"/>
                  <a:pt x="1207008" y="245959"/>
                  <a:pt x="0" y="245959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478024" y="3831265"/>
            <a:ext cx="2414016" cy="1584912"/>
          </a:xfrm>
          <a:custGeom>
            <a:avLst/>
            <a:gdLst/>
            <a:ahLst/>
            <a:cxnLst/>
            <a:rect l="l" t="t" r="r" b="b"/>
            <a:pathLst>
              <a:path w="2414016" h="1584912">
                <a:moveTo>
                  <a:pt x="0" y="948833"/>
                </a:moveTo>
                <a:cubicBezTo>
                  <a:pt x="1207008" y="948833"/>
                  <a:pt x="1207008" y="0"/>
                  <a:pt x="2414016" y="0"/>
                </a:cubicBezTo>
                <a:lnTo>
                  <a:pt x="2414016" y="636079"/>
                </a:lnTo>
                <a:cubicBezTo>
                  <a:pt x="1207008" y="636079"/>
                  <a:pt x="1207008" y="1584912"/>
                  <a:pt x="0" y="1584912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38344" y="2465808"/>
            <a:ext cx="2414016" cy="2916436"/>
          </a:xfrm>
          <a:custGeom>
            <a:avLst/>
            <a:gdLst/>
            <a:ahLst/>
            <a:cxnLst/>
            <a:rect l="l" t="t" r="r" b="b"/>
            <a:pathLst>
              <a:path w="2414016" h="2916436">
                <a:moveTo>
                  <a:pt x="0" y="2147840"/>
                </a:moveTo>
                <a:cubicBezTo>
                  <a:pt x="1207008" y="2147840"/>
                  <a:pt x="1207008" y="0"/>
                  <a:pt x="2414016" y="0"/>
                </a:cubicBezTo>
                <a:lnTo>
                  <a:pt x="2414016" y="768596"/>
                </a:lnTo>
                <a:cubicBezTo>
                  <a:pt x="1207008" y="768596"/>
                  <a:pt x="1207008" y="2916436"/>
                  <a:pt x="0" y="2916436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38344" y="3234404"/>
            <a:ext cx="2414016" cy="2253853"/>
          </a:xfrm>
          <a:custGeom>
            <a:avLst/>
            <a:gdLst/>
            <a:ahLst/>
            <a:cxnLst/>
            <a:rect l="l" t="t" r="r" b="b"/>
            <a:pathLst>
              <a:path w="2414016" h="2253853">
                <a:moveTo>
                  <a:pt x="0" y="2147840"/>
                </a:moveTo>
                <a:cubicBezTo>
                  <a:pt x="1207008" y="2147840"/>
                  <a:pt x="1207008" y="0"/>
                  <a:pt x="2414016" y="0"/>
                </a:cubicBezTo>
                <a:lnTo>
                  <a:pt x="2414016" y="106013"/>
                </a:lnTo>
                <a:cubicBezTo>
                  <a:pt x="1207008" y="106013"/>
                  <a:pt x="1207008" y="2253853"/>
                  <a:pt x="0" y="2253853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38344" y="4136588"/>
            <a:ext cx="2414016" cy="1404676"/>
          </a:xfrm>
          <a:custGeom>
            <a:avLst/>
            <a:gdLst/>
            <a:ahLst/>
            <a:cxnLst/>
            <a:rect l="l" t="t" r="r" b="b"/>
            <a:pathLst>
              <a:path w="2414016" h="1404676">
                <a:moveTo>
                  <a:pt x="0" y="1351669"/>
                </a:moveTo>
                <a:cubicBezTo>
                  <a:pt x="1207008" y="1351669"/>
                  <a:pt x="1207008" y="0"/>
                  <a:pt x="2414016" y="0"/>
                </a:cubicBezTo>
                <a:lnTo>
                  <a:pt x="2414016" y="53007"/>
                </a:lnTo>
                <a:cubicBezTo>
                  <a:pt x="1207008" y="53007"/>
                  <a:pt x="1207008" y="1404676"/>
                  <a:pt x="0" y="1404676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038344" y="2638615"/>
            <a:ext cx="2414016" cy="1497973"/>
          </a:xfrm>
          <a:custGeom>
            <a:avLst/>
            <a:gdLst/>
            <a:ahLst/>
            <a:cxnLst/>
            <a:rect l="l" t="t" r="r" b="b"/>
            <a:pathLst>
              <a:path w="2414016" h="1497973">
                <a:moveTo>
                  <a:pt x="0" y="0"/>
                </a:moveTo>
                <a:cubicBezTo>
                  <a:pt x="1207008" y="0"/>
                  <a:pt x="1207008" y="1020913"/>
                  <a:pt x="2414016" y="1020913"/>
                </a:cubicBezTo>
                <a:lnTo>
                  <a:pt x="2414016" y="1497973"/>
                </a:lnTo>
                <a:cubicBezTo>
                  <a:pt x="1207008" y="1497973"/>
                  <a:pt x="1207008" y="477060"/>
                  <a:pt x="0" y="477060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38344" y="3115675"/>
            <a:ext cx="2414016" cy="2571893"/>
          </a:xfrm>
          <a:custGeom>
            <a:avLst/>
            <a:gdLst/>
            <a:ahLst/>
            <a:cxnLst/>
            <a:rect l="l" t="t" r="r" b="b"/>
            <a:pathLst>
              <a:path w="2414016" h="2571893">
                <a:moveTo>
                  <a:pt x="0" y="0"/>
                </a:moveTo>
                <a:cubicBezTo>
                  <a:pt x="1207008" y="0"/>
                  <a:pt x="1207008" y="1220224"/>
                  <a:pt x="2414016" y="1220224"/>
                </a:cubicBezTo>
                <a:lnTo>
                  <a:pt x="2414016" y="2571893"/>
                </a:lnTo>
                <a:cubicBezTo>
                  <a:pt x="1207008" y="2571893"/>
                  <a:pt x="1207008" y="1351669"/>
                  <a:pt x="0" y="1351669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38344" y="1935742"/>
            <a:ext cx="2414016" cy="676370"/>
          </a:xfrm>
          <a:custGeom>
            <a:avLst/>
            <a:gdLst/>
            <a:ahLst/>
            <a:cxnLst/>
            <a:rect l="l" t="t" r="r" b="b"/>
            <a:pathLst>
              <a:path w="2414016" h="676370">
                <a:moveTo>
                  <a:pt x="0" y="146304"/>
                </a:moveTo>
                <a:cubicBezTo>
                  <a:pt x="1207008" y="146304"/>
                  <a:pt x="1207008" y="0"/>
                  <a:pt x="2414016" y="0"/>
                </a:cubicBezTo>
                <a:lnTo>
                  <a:pt x="2414016" y="530066"/>
                </a:lnTo>
                <a:cubicBezTo>
                  <a:pt x="1207008" y="530066"/>
                  <a:pt x="1207008" y="676370"/>
                  <a:pt x="0" y="676370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38344" y="1856232"/>
            <a:ext cx="2414016" cy="225814"/>
          </a:xfrm>
          <a:custGeom>
            <a:avLst/>
            <a:gdLst/>
            <a:ahLst/>
            <a:cxnLst/>
            <a:rect l="l" t="t" r="r" b="b"/>
            <a:pathLst>
              <a:path w="2414016" h="225814">
                <a:moveTo>
                  <a:pt x="0" y="146304"/>
                </a:moveTo>
                <a:cubicBezTo>
                  <a:pt x="1207008" y="146304"/>
                  <a:pt x="1207008" y="0"/>
                  <a:pt x="2414016" y="0"/>
                </a:cubicBezTo>
                <a:lnTo>
                  <a:pt x="2414016" y="79510"/>
                </a:lnTo>
                <a:cubicBezTo>
                  <a:pt x="1207008" y="79510"/>
                  <a:pt x="1207008" y="225814"/>
                  <a:pt x="0" y="225814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38344" y="2612112"/>
            <a:ext cx="2414016" cy="901113"/>
          </a:xfrm>
          <a:custGeom>
            <a:avLst/>
            <a:gdLst/>
            <a:ahLst/>
            <a:cxnLst/>
            <a:rect l="l" t="t" r="r" b="b"/>
            <a:pathLst>
              <a:path w="2414016" h="901113">
                <a:moveTo>
                  <a:pt x="0" y="0"/>
                </a:moveTo>
                <a:cubicBezTo>
                  <a:pt x="1207008" y="0"/>
                  <a:pt x="1207008" y="874609"/>
                  <a:pt x="2414016" y="874609"/>
                </a:cubicBezTo>
                <a:lnTo>
                  <a:pt x="2414016" y="901113"/>
                </a:lnTo>
                <a:cubicBezTo>
                  <a:pt x="1207008" y="901113"/>
                  <a:pt x="1207008" y="26503"/>
                  <a:pt x="0" y="26503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98664" y="1856232"/>
            <a:ext cx="2231136" cy="994410"/>
          </a:xfrm>
          <a:custGeom>
            <a:avLst/>
            <a:gdLst/>
            <a:ahLst/>
            <a:cxnLst/>
            <a:rect l="l" t="t" r="r" b="b"/>
            <a:pathLst>
              <a:path w="2231136" h="994410">
                <a:moveTo>
                  <a:pt x="0" y="0"/>
                </a:moveTo>
                <a:cubicBezTo>
                  <a:pt x="1115568" y="0"/>
                  <a:pt x="1115568" y="146304"/>
                  <a:pt x="2231136" y="146304"/>
                </a:cubicBezTo>
                <a:lnTo>
                  <a:pt x="2231136" y="994410"/>
                </a:lnTo>
                <a:cubicBezTo>
                  <a:pt x="1115568" y="994410"/>
                  <a:pt x="1115568" y="848106"/>
                  <a:pt x="0" y="848106"/>
                </a:cubicBezTo>
                <a:close/>
              </a:path>
            </a:pathLst>
          </a:custGeom>
          <a:solidFill>
            <a:srgbClr val="E0A31A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98664" y="2704338"/>
            <a:ext cx="2231136" cy="928687"/>
          </a:xfrm>
          <a:custGeom>
            <a:avLst/>
            <a:gdLst/>
            <a:ahLst/>
            <a:cxnLst/>
            <a:rect l="l" t="t" r="r" b="b"/>
            <a:pathLst>
              <a:path w="2231136" h="928687">
                <a:moveTo>
                  <a:pt x="0" y="0"/>
                </a:moveTo>
                <a:cubicBezTo>
                  <a:pt x="1115568" y="0"/>
                  <a:pt x="1115568" y="292608"/>
                  <a:pt x="2231136" y="292608"/>
                </a:cubicBezTo>
                <a:lnTo>
                  <a:pt x="2231136" y="928687"/>
                </a:lnTo>
                <a:cubicBezTo>
                  <a:pt x="1115568" y="928687"/>
                  <a:pt x="1115568" y="636080"/>
                  <a:pt x="0" y="636080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598664" y="3659529"/>
            <a:ext cx="2231136" cy="530066"/>
          </a:xfrm>
          <a:custGeom>
            <a:avLst/>
            <a:gdLst/>
            <a:ahLst/>
            <a:cxnLst/>
            <a:rect l="l" t="t" r="r" b="b"/>
            <a:pathLst>
              <a:path w="2231136" h="530066">
                <a:moveTo>
                  <a:pt x="0" y="0"/>
                </a:moveTo>
                <a:cubicBezTo>
                  <a:pt x="1115568" y="0"/>
                  <a:pt x="1115568" y="0"/>
                  <a:pt x="2231136" y="0"/>
                </a:cubicBezTo>
                <a:lnTo>
                  <a:pt x="2231136" y="530066"/>
                </a:lnTo>
                <a:cubicBezTo>
                  <a:pt x="1115568" y="530066"/>
                  <a:pt x="1115568" y="530066"/>
                  <a:pt x="0" y="530066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98664" y="4189595"/>
            <a:ext cx="2231136" cy="1497973"/>
          </a:xfrm>
          <a:custGeom>
            <a:avLst/>
            <a:gdLst/>
            <a:ahLst/>
            <a:cxnLst/>
            <a:rect l="l" t="t" r="r" b="b"/>
            <a:pathLst>
              <a:path w="2231136" h="1497973">
                <a:moveTo>
                  <a:pt x="0" y="146304"/>
                </a:moveTo>
                <a:cubicBezTo>
                  <a:pt x="1115568" y="146304"/>
                  <a:pt x="1115568" y="0"/>
                  <a:pt x="2231136" y="0"/>
                </a:cubicBezTo>
                <a:lnTo>
                  <a:pt x="2231136" y="1351669"/>
                </a:lnTo>
                <a:cubicBezTo>
                  <a:pt x="1115568" y="1351669"/>
                  <a:pt x="1115568" y="1497973"/>
                  <a:pt x="0" y="1497973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98664" y="3486722"/>
            <a:ext cx="2231136" cy="172807"/>
          </a:xfrm>
          <a:custGeom>
            <a:avLst/>
            <a:gdLst/>
            <a:ahLst/>
            <a:cxnLst/>
            <a:rect l="l" t="t" r="r" b="b"/>
            <a:pathLst>
              <a:path w="2231136" h="172807">
                <a:moveTo>
                  <a:pt x="0" y="0"/>
                </a:moveTo>
                <a:cubicBezTo>
                  <a:pt x="1115568" y="0"/>
                  <a:pt x="1115568" y="146304"/>
                  <a:pt x="2231136" y="146304"/>
                </a:cubicBezTo>
                <a:lnTo>
                  <a:pt x="2231136" y="172807"/>
                </a:lnTo>
                <a:cubicBezTo>
                  <a:pt x="1115568" y="172807"/>
                  <a:pt x="1115568" y="26503"/>
                  <a:pt x="0" y="26503"/>
                </a:cubicBezTo>
                <a:close/>
              </a:path>
            </a:pathLst>
          </a:custGeom>
          <a:solidFill>
            <a:srgbClr val="A9D08E">
              <a:alpha val="5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31720" y="1783080"/>
            <a:ext cx="146304" cy="318040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179579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pPr algn="r" indent="0" marL="0">
              <a:buNone/>
            </a:pPr>
            <a:r>
              <a:rPr lang="en-US" sz="12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2247424"/>
            <a:ext cx="146304" cy="662583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2432411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pPr algn="r" indent="0" marL="0">
              <a:buNone/>
            </a:pPr>
            <a:r>
              <a:rPr lang="en-US" sz="12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3056311"/>
            <a:ext cx="146304" cy="954119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338706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pPr algn="r" indent="0" marL="0">
              <a:buNone/>
            </a:pPr>
            <a:r>
              <a:rPr lang="en-US" sz="12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331720" y="4156734"/>
            <a:ext cx="146304" cy="477060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424896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pPr algn="r" indent="0" marL="0">
              <a:buNone/>
            </a:pPr>
            <a:r>
              <a:rPr lang="en-US" sz="12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31720" y="4780097"/>
            <a:ext cx="146304" cy="980623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5124105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pPr algn="r" indent="0" marL="0">
              <a:buNone/>
            </a:pPr>
            <a:r>
              <a:rPr lang="en-US" sz="1200" b="1" dirty="0">
                <a:solidFill>
                  <a:srgbClr val="368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92040" y="2002536"/>
            <a:ext cx="146304" cy="2464808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11496" y="3106924"/>
            <a:ext cx="105156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4613648"/>
            <a:ext cx="146304" cy="927616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11496" y="4949440"/>
            <a:ext cx="105156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52360" y="1856232"/>
            <a:ext cx="146304" cy="1484185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71816" y="2470309"/>
            <a:ext cx="120700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52360" y="3486722"/>
            <a:ext cx="146304" cy="27432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71816" y="3371957"/>
            <a:ext cx="1595628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52360" y="3659529"/>
            <a:ext cx="146304" cy="530066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71816" y="3796546"/>
            <a:ext cx="1751076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/ Dev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52360" y="4335899"/>
            <a:ext cx="146304" cy="1351669"/>
          </a:xfrm>
          <a:prstGeom prst="rect">
            <a:avLst/>
          </a:prstGeom>
          <a:solidFill>
            <a:srgbClr val="12402A"/>
          </a:solidFill>
          <a:ln w="12700">
            <a:solidFill>
              <a:srgbClr val="12402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671816" y="4883718"/>
            <a:ext cx="973836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pPr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829800" y="2002536"/>
            <a:ext cx="146304" cy="848106"/>
          </a:xfrm>
          <a:prstGeom prst="rect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13264" y="2015109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EOL</a:t>
            </a:r>
            <a:endParaRPr lang="en-US" sz="3000" dirty="0"/>
          </a:p>
        </p:txBody>
      </p:sp>
      <p:sp>
        <p:nvSpPr>
          <p:cNvPr id="58" name="Shape 56"/>
          <p:cNvSpPr/>
          <p:nvPr/>
        </p:nvSpPr>
        <p:spPr>
          <a:xfrm>
            <a:off x="9829800" y="2996946"/>
            <a:ext cx="146304" cy="2544318"/>
          </a:xfrm>
          <a:prstGeom prst="rect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113264" y="3857625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3000" dirty="0"/>
          </a:p>
        </p:txBody>
      </p:sp>
      <p:sp>
        <p:nvSpPr>
          <p:cNvPr id="60" name="Shape 58"/>
          <p:cNvSpPr/>
          <p:nvPr/>
        </p:nvSpPr>
        <p:spPr>
          <a:xfrm>
            <a:off x="548640" y="5925312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6071616"/>
            <a:ext cx="164592" cy="164592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69264" y="5925312"/>
            <a:ext cx="304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of 32 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apps are in Production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322978" y="5925312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87570" y="6071616"/>
            <a:ext cx="164592" cy="164592"/>
          </a:xfrm>
          <a:prstGeom prst="ellipse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743602" y="5925312"/>
            <a:ext cx="304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of 32 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apps are external, customer-facing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097317" y="5925312"/>
            <a:ext cx="3545738" cy="457200"/>
          </a:xfrm>
          <a:prstGeom prst="roundRect">
            <a:avLst>
              <a:gd name="adj" fmla="val 16000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1909" y="6071616"/>
            <a:ext cx="164592" cy="164592"/>
          </a:xfrm>
          <a:prstGeom prst="ellipse">
            <a:avLst/>
          </a:prstGeom>
          <a:solidFill>
            <a:srgbClr val="A9D08E"/>
          </a:solidFill>
          <a:ln w="12700">
            <a:solidFill>
              <a:srgbClr val="A9D08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517941" y="5925312"/>
            <a:ext cx="3042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apps with no lifecycle risk yet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4754880" y="6473952"/>
            <a:ext cx="688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App Inventory + ServiceNow, Sep 2026  ·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portfolio sits on lifecycle and security risk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= % of apps approaching EOL × open findings per app. Bubble size = number of apps.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234440" y="1508760"/>
            <a:ext cx="3075709" cy="2841331"/>
          </a:xfrm>
          <a:prstGeom prst="rect">
            <a:avLst/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44168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vulnerable, not ageing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0149" y="1508760"/>
            <a:ext cx="3690851" cy="2841331"/>
          </a:xfrm>
          <a:prstGeom prst="rect">
            <a:avLst/>
          </a:prstGeom>
          <a:solidFill>
            <a:srgbClr val="F9E0DC"/>
          </a:solidFill>
          <a:ln w="12700">
            <a:solidFill>
              <a:srgbClr val="F9E0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and vulnerable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34440" y="4350091"/>
            <a:ext cx="3075709" cy="1639229"/>
          </a:xfrm>
          <a:prstGeom prst="rect">
            <a:avLst/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44168" y="4441531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— or unseen?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reported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0149" y="4350091"/>
            <a:ext cx="3690851" cy="1639229"/>
          </a:xfrm>
          <a:prstGeom prst="rect">
            <a:avLst/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5440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exposure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0149" y="1508760"/>
            <a:ext cx="0" cy="4480560"/>
          </a:xfrm>
          <a:prstGeom prst="line">
            <a:avLst/>
          </a:prstGeom>
          <a:noFill/>
          <a:ln w="12700">
            <a:solidFill>
              <a:srgbClr val="9AA3A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34440" y="4350091"/>
            <a:ext cx="6766560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1575262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805545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35829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66113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6396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6035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6089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86635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1237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2938123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20638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62636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apps approaching end of life  →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 rot="16200000">
            <a:off x="-5029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findings per app  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50345" y="4354160"/>
            <a:ext cx="778691" cy="778691"/>
          </a:xfrm>
          <a:prstGeom prst="ellipse">
            <a:avLst/>
          </a:prstGeom>
          <a:solidFill>
            <a:srgbClr val="1E5B34">
              <a:alpha val="7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50345" y="4354160"/>
            <a:ext cx="778691" cy="778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57052" y="450576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Nadella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EOL · 4.2 findings/app · 38% in Sonar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41243" y="4490596"/>
            <a:ext cx="768096" cy="768096"/>
          </a:xfrm>
          <a:prstGeom prst="ellipse">
            <a:avLst/>
          </a:prstGeom>
          <a:solidFill>
            <a:srgbClr val="1E5B34">
              <a:alpha val="7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41243" y="449059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944347" y="50666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Siddiqi</a:t>
            </a:r>
            <a:endParaRPr lang="en-US" sz="11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EOL · 3.6 findings/app · 39% in Sonar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82223" y="4183045"/>
            <a:ext cx="640080" cy="640080"/>
          </a:xfrm>
          <a:prstGeom prst="ellipse">
            <a:avLst/>
          </a:prstGeom>
          <a:solidFill>
            <a:srgbClr val="1E5B34">
              <a:alpha val="7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2223" y="41830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885327" y="3835573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Pratap Anchuri</a:t>
            </a:r>
            <a:endParaRPr lang="en-US" sz="11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EOL · 5.3 findings/app · 48% in Sonar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578019" y="5368055"/>
            <a:ext cx="543126" cy="543126"/>
          </a:xfrm>
          <a:prstGeom prst="ellipse">
            <a:avLst/>
          </a:prstGeom>
          <a:solidFill>
            <a:srgbClr val="1E5B34">
              <a:alpha val="7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78019" y="5368055"/>
            <a:ext cx="543126" cy="54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249161" y="540187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Venkataraman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EOL · 0.1 findings/app · 33% in Sonar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54033" y="2248711"/>
            <a:ext cx="443460" cy="443460"/>
          </a:xfrm>
          <a:prstGeom prst="ellipse">
            <a:avLst/>
          </a:prstGeom>
          <a:solidFill>
            <a:srgbClr val="1E5B34">
              <a:alpha val="7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54033" y="2248711"/>
            <a:ext cx="443460" cy="443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741324" y="2737891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Velusamy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EOL · 14.6 findings/app · 50% in Sonar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03920" y="1508760"/>
            <a:ext cx="3139135" cy="4480560"/>
          </a:xfrm>
          <a:prstGeom prst="roundRect">
            <a:avLst>
              <a:gd name="adj" fmla="val 2913"/>
            </a:avLst>
          </a:prstGeom>
          <a:solidFill>
            <a:srgbClr val="F1F7EE"/>
          </a:solidFill>
          <a:ln w="12700">
            <a:solidFill>
              <a:srgbClr val="F1F7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32520" y="1645920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map says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732520" y="216712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79408" y="2103120"/>
            <a:ext cx="24807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portfolio in Act now: small, but ageing and carrying 14.6 findings per app.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732520" y="3099816"/>
            <a:ext cx="146304" cy="146304"/>
          </a:xfrm>
          <a:prstGeom prst="ellipse">
            <a:avLst/>
          </a:prstGeom>
          <a:solidFill>
            <a:srgbClr val="E0A31A"/>
          </a:solidFill>
          <a:ln w="12700">
            <a:solidFill>
              <a:srgbClr val="E0A3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79408" y="3035808"/>
            <a:ext cx="24807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Saikiran and Asim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most apps and sit in Modernise: EOL is the problem, not vulnerabilities.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732520" y="4032504"/>
            <a:ext cx="146304" cy="146304"/>
          </a:xfrm>
          <a:prstGeom prst="ellipse">
            <a:avLst/>
          </a:prstGeom>
          <a:solidFill>
            <a:srgbClr val="368727"/>
          </a:solidFill>
          <a:ln w="12700">
            <a:solidFill>
              <a:srgbClr val="36872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79408" y="3968496"/>
            <a:ext cx="24807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Pushkala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healthy, but only a third of apps are in Sonar and most are Concept. Low risk may be low visibility.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732520" y="4965192"/>
            <a:ext cx="146304" cy="146304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79408" y="4901184"/>
            <a:ext cx="24807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portfolio </a:t>
            </a:r>
            <a:pPr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more than half its apps in Sonar, so findings are likely undercounted everywhere.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754880" y="6473952"/>
            <a:ext cx="688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illustrative, replace before sharing  ·  App Inventory + ServiceNow, Sep 2026  · 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Flow and Risk Map</dc:title>
  <dc:subject>PptxGenJS Presentation</dc:subject>
  <dc:creator>PptxGenJS</dc:creator>
  <cp:lastModifiedBy>PptxGenJS</cp:lastModifiedBy>
  <cp:revision>1</cp:revision>
  <dcterms:created xsi:type="dcterms:W3CDTF">2026-09-29T23:08:19Z</dcterms:created>
  <dcterms:modified xsi:type="dcterms:W3CDTF">2026-09-29T23:08:19Z</dcterms:modified>
</cp:coreProperties>
</file>