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8e07cc54-07ca-fa2d-0b09-ec2bcd1d6ecc}">
          <p14:sldIdLst>
            <p14:sldId id="256"/>
            <p14:sldId id="257"/>
          </p14:sldIdLst>
        </p14:section>
        <p14:section name="The two choices" id="{b39d8f6d-097b-fd49-aa04-b75fd646b110}">
          <p14:sldIdLst>
            <p14:sldId id="258"/>
            <p14:sldId id="259"/>
          </p14:sldIdLst>
        </p14:section>
        <p14:section name="Comparison" id="{e0d7e053-8796-b808-9d1e-55929ae3f6fc}">
          <p14:sldIdLst>
            <p14:sldId id="260"/>
            <p14:sldId id="261"/>
            <p14:sldId id="262"/>
            <p14:sldId id="263"/>
          </p14:sldIdLst>
        </p14:section>
        <p14:section name="Micro frontend patterns" id="{1e44c1ed-3834-ae77-b4d9-146b5bfa1c70}">
          <p14:sldIdLst>
            <p14:sldId id="264"/>
            <p14:sldId id="265"/>
          </p14:sldIdLst>
        </p14:section>
        <p14:section name="Path and proof of concept" id="{d3d96310-4328-e48f-b428-ba41b0bf6c4b}">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compare two choices fairly and get views from architects, product and management. Both choices split the app into domain slices owned by separate teams. The only difference is whether a slice ships as an installed library or as a separately deployed micro frontend. We are asking for agreement on a short proof of concept that tests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domain teams change the same codebase and ship through one pipeline. That couples their release schedules, test cycles and risk. Both choices in this deck aim to fix this by giving each domain team its own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keeps the comparison fair. In both choices the account opening team owns account opening end to end, the money movement team owns contributions and grants, and so on. Both use one framework, one design system and the same shared foundation. What differs is the packaging: a deployable micro frontend versus a library that the app installs and deploys.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comparison. Under the library choice, the account opening team can publish a new version whenever it likes, but users only see it after the app bumps the version, rebuilds, runs regression and releases. Under the micro frontend choice, the team's own pipeline deploys straight to users. How much that difference matters depends on how often and how cheaply the app can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Library has the edge on 6 rows, micro frontend on 4, and 2 are even. The rows the micro frontend wins (release independence, lead time, blast radius, integration bottleneck) are exactly the problems on slide 2. The rows the library wins are about cost, simplicity and safety. The decision comes down to how much the release coupling costs us compared with the extra platform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makes the time-to-market question concrete. The fair question for the library choice is: how fast can we make the app's release? If we can get to automated, frequent releases, the library choice keeps most of the speed at much lower cost. If we can't, the micro frontend removes the wait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get product and management to say which conditions hold for us. If most of the left column is true, the micro frontend's extra cost is justified. If most of the right column is true, libraries are the better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guidance is consistent. Micro frontends are a proven pattern, but the Angular team and Nx both say to check simpler build-time options first and to use micro frontends when independent deployment is a hard requirement. Both choices need the same discipline on domain boundaries, one framework and shared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common patterns. 1: Runtime federation. The shell loads domain code at runtime and shares one copy of Angular; it is the usual choice for an all-Angular app. 2: Web components. Each domain exposes a custom element that any page can host, even a legacy server-rendered page, at the cost of bigger bundles. 3: iframe. Strong isolation and a quick way to wrap a legacy page, but awkward for sizing, deep links, styling and accessibility. 4: Route-based split. The gateway sends each path to a different app; it is simple, but moving between domains reloads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setup, runtime federation is the natural fit for new Angular domains. For legacy pages during the migration, route-based or iframe keep them reachable without rework. Web components are only worth it if a legacy page must host a new piece of UI before it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point for a low-regret decision. If every domain slice is built as a library with clean boundaries and a route entry point, we can install it in the app now and later wrap the same library in a small remote app if a domain needs independent releases. The deployment mode can even differ by domain. The proof of concept should confirm how little rework the switch really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Library risks center on the release path staying coupled. Micro frontend risks center on runtime drift and running cost. One risk applies to both: if the backend still releases as one unit, front-end independence only helps for UI-only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builds the slice once and ships it both ways, so the comparison is fair and measured. Account opening is a good candidate because we are rebuilding it anyway and it uses the other team's shared library. The scorecard gives management real numbers for lead time, effort and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group for their view, then for one decision: approve the proof of concept that ships one slice both ways and compares them on measured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9174175"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9174175"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9174175" cy="1463040"/>
          </a:xfrm>
          <a:prstGeom prst="rect">
            <a:avLst/>
          </a:prstGeom>
          <a:noFill/>
          <a:ln/>
        </p:spPr>
        <p:txBody>
          <a:bodyPr wrap="square" lIns="0" tIns="0" rIns="0" bIns="0" rtlCol="0" anchor="b"/>
          <a:lstStyle/>
          <a:p>
            <a:pPr algn="l" indent="0" marL="0">
              <a:buNone/>
            </a:pPr>
            <a:r>
              <a:rPr lang="en-US" sz="4000" b="1" dirty="0">
                <a:solidFill>
                  <a:schemeClr val="bg1"/>
                </a:solidFill>
              </a:rPr>
              <a:t>Decoupling the app by domain: libraries or micro frontends?</a:t>
            </a:r>
            <a:endParaRPr lang="en-US" sz="4000" dirty="0"/>
          </a:p>
        </p:txBody>
      </p:sp>
      <p:sp>
        <p:nvSpPr>
          <p:cNvPr id="3" name="Text 0"/>
          <p:cNvSpPr/>
          <p:nvPr>
            <p:ph idx="101" type="body" hasCustomPrompt="1"/>
          </p:nvPr>
        </p:nvSpPr>
        <p:spPr>
          <a:xfrm>
            <a:off x="731520" y="3657600"/>
            <a:ext cx="9174175" cy="1097280"/>
          </a:xfrm>
          <a:prstGeom prst="rect">
            <a:avLst/>
          </a:prstGeom>
          <a:noFill/>
          <a:ln/>
        </p:spPr>
        <p:txBody>
          <a:bodyPr wrap="square" lIns="0" tIns="0" rIns="0" bIns="0" rtlCol="0" anchor="t"/>
          <a:lstStyle/>
          <a:p>
            <a:pPr algn="l" indent="0" marL="0">
              <a:buNone/>
            </a:pPr>
            <a:r>
              <a:rPr lang="en-US" sz="1800" dirty="0">
                <a:solidFill>
                  <a:schemeClr val="accent6"/>
                </a:solidFill>
              </a:rPr>
              <a:t>An even comparison of two ways to give each domain team ownership of its part of the app. For discussion with architects, product and management.</a:t>
            </a:r>
            <a:endParaRPr lang="en-US" sz="1800" dirty="0"/>
          </a:p>
        </p:txBody>
      </p:sp>
      <p:sp>
        <p:nvSpPr>
          <p:cNvPr id="4" name="icon-circle-FaBalanceScale"/>
          <p:cNvSpPr/>
          <p:nvPr/>
        </p:nvSpPr>
        <p:spPr>
          <a:xfrm>
            <a:off x="10271455" y="2377440"/>
            <a:ext cx="1097280" cy="1097280"/>
          </a:xfrm>
          <a:prstGeom prst="ellipse">
            <a:avLst/>
          </a:prstGeom>
          <a:solidFill>
            <a:schemeClr val="accent1"/>
          </a:solidFill>
          <a:ln w="12700">
            <a:solidFill>
              <a:schemeClr val="accent1"/>
            </a:solidFill>
            <a:prstDash val="solid"/>
          </a:ln>
        </p:spPr>
      </p:sp>
      <p:pic>
        <p:nvPicPr>
          <p:cNvPr id="5" name="icon-FaBalanceScale" descr="preencoded.png">    </p:cNvPr>
          <p:cNvPicPr>
            <a:picLocks noChangeAspect="1"/>
          </p:cNvPicPr>
          <p:nvPr/>
        </p:nvPicPr>
        <p:blipFill>
          <a:blip r:embed="rId1"/>
          <a:stretch>
            <a:fillRect/>
          </a:stretch>
        </p:blipFill>
        <p:spPr>
          <a:xfrm>
            <a:off x="10556748" y="2662733"/>
            <a:ext cx="526694" cy="5266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Many teams, one codebase, one release</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Every team ships through the same code, pipeline and release, so the slowest change sets the pace for everyone.</a:t>
            </a:r>
            <a:endParaRPr lang="en-US" sz="1600" dirty="0"/>
          </a:p>
        </p:txBody>
      </p:sp>
      <p:sp>
        <p:nvSpPr>
          <p:cNvPr id="4" name="team-0"/>
          <p:cNvSpPr/>
          <p:nvPr/>
        </p:nvSpPr>
        <p:spPr>
          <a:xfrm>
            <a:off x="457200" y="1600200"/>
            <a:ext cx="2743200" cy="603504"/>
          </a:xfrm>
          <a:prstGeom prst="roundRect">
            <a:avLst>
              <a:gd name="adj" fmla="val 12121"/>
            </a:avLst>
          </a:prstGeom>
          <a:solidFill>
            <a:schemeClr val="bg2"/>
          </a:solidFill>
          <a:ln w="9525">
            <a:solidFill>
              <a:schemeClr val="bg2"/>
            </a:solidFill>
            <a:prstDash val="solid"/>
          </a:ln>
        </p:spPr>
      </p:sp>
      <p:sp>
        <p:nvSpPr>
          <p:cNvPr id="5" name="Text 3"/>
          <p:cNvSpPr txBox="1"/>
          <p:nvPr/>
        </p:nvSpPr>
        <p:spPr>
          <a:xfrm>
            <a:off x="621792" y="1600200"/>
            <a:ext cx="2468880" cy="603504"/>
          </a:xfrm>
          <a:prstGeom prst="rect">
            <a:avLst/>
          </a:prstGeom>
          <a:noFill/>
          <a:ln/>
        </p:spPr>
        <p:txBody>
          <a:bodyPr wrap="square" lIns="0" tIns="0" rIns="0" bIns="0" rtlCol="0" anchor="ctr"/>
          <a:lstStyle/>
          <a:p>
            <a:pPr indent="0" marL="0">
              <a:buNone/>
            </a:pPr>
            <a:r>
              <a:rPr lang="en-US" sz="1400" b="1" dirty="0">
                <a:solidFill>
                  <a:schemeClr val="tx2"/>
                </a:solidFill>
              </a:rPr>
              <a:t>Account opening team</a:t>
            </a:r>
            <a:endParaRPr lang="en-US" sz="1400" dirty="0"/>
          </a:p>
          <a:p>
            <a:pPr indent="0" marL="0">
              <a:buNone/>
            </a:pPr>
            <a:r>
              <a:rPr lang="en-US" sz="1200" dirty="0">
                <a:solidFill>
                  <a:schemeClr val="accent5"/>
                </a:solidFill>
              </a:rPr>
              <a:t>account opening</a:t>
            </a:r>
            <a:endParaRPr lang="en-US" sz="1400" dirty="0"/>
          </a:p>
        </p:txBody>
      </p:sp>
      <p:sp>
        <p:nvSpPr>
          <p:cNvPr id="6" name="team-1"/>
          <p:cNvSpPr/>
          <p:nvPr/>
        </p:nvSpPr>
        <p:spPr>
          <a:xfrm>
            <a:off x="457200" y="2313432"/>
            <a:ext cx="2743200" cy="603504"/>
          </a:xfrm>
          <a:prstGeom prst="roundRect">
            <a:avLst>
              <a:gd name="adj" fmla="val 12121"/>
            </a:avLst>
          </a:prstGeom>
          <a:solidFill>
            <a:schemeClr val="bg2"/>
          </a:solidFill>
          <a:ln w="9525">
            <a:solidFill>
              <a:schemeClr val="bg2"/>
            </a:solidFill>
            <a:prstDash val="solid"/>
          </a:ln>
        </p:spPr>
      </p:sp>
      <p:sp>
        <p:nvSpPr>
          <p:cNvPr id="7" name="Text 5"/>
          <p:cNvSpPr txBox="1"/>
          <p:nvPr/>
        </p:nvSpPr>
        <p:spPr>
          <a:xfrm>
            <a:off x="621792" y="2313432"/>
            <a:ext cx="2468880" cy="603504"/>
          </a:xfrm>
          <a:prstGeom prst="rect">
            <a:avLst/>
          </a:prstGeom>
          <a:noFill/>
          <a:ln/>
        </p:spPr>
        <p:txBody>
          <a:bodyPr wrap="square" lIns="0" tIns="0" rIns="0" bIns="0" rtlCol="0" anchor="ctr"/>
          <a:lstStyle/>
          <a:p>
            <a:pPr indent="0" marL="0">
              <a:buNone/>
            </a:pPr>
            <a:r>
              <a:rPr lang="en-US" sz="1400" b="1" dirty="0">
                <a:solidFill>
                  <a:schemeClr val="tx2"/>
                </a:solidFill>
              </a:rPr>
              <a:t>Money movement team</a:t>
            </a:r>
            <a:endParaRPr lang="en-US" sz="1400" dirty="0"/>
          </a:p>
          <a:p>
            <a:pPr indent="0" marL="0">
              <a:buNone/>
            </a:pPr>
            <a:r>
              <a:rPr lang="en-US" sz="1200" dirty="0">
                <a:solidFill>
                  <a:schemeClr val="accent5"/>
                </a:solidFill>
              </a:rPr>
              <a:t>contributions, grants</a:t>
            </a:r>
            <a:endParaRPr lang="en-US" sz="1400" dirty="0"/>
          </a:p>
        </p:txBody>
      </p:sp>
      <p:sp>
        <p:nvSpPr>
          <p:cNvPr id="8" name="team-2"/>
          <p:cNvSpPr/>
          <p:nvPr/>
        </p:nvSpPr>
        <p:spPr>
          <a:xfrm>
            <a:off x="457200" y="3026664"/>
            <a:ext cx="2743200" cy="603504"/>
          </a:xfrm>
          <a:prstGeom prst="roundRect">
            <a:avLst>
              <a:gd name="adj" fmla="val 12121"/>
            </a:avLst>
          </a:prstGeom>
          <a:solidFill>
            <a:schemeClr val="bg2"/>
          </a:solidFill>
          <a:ln w="9525">
            <a:solidFill>
              <a:schemeClr val="bg2"/>
            </a:solidFill>
            <a:prstDash val="solid"/>
          </a:ln>
        </p:spPr>
      </p:sp>
      <p:sp>
        <p:nvSpPr>
          <p:cNvPr id="9" name="Text 7"/>
          <p:cNvSpPr txBox="1"/>
          <p:nvPr/>
        </p:nvSpPr>
        <p:spPr>
          <a:xfrm>
            <a:off x="621792" y="3026664"/>
            <a:ext cx="2468880" cy="603504"/>
          </a:xfrm>
          <a:prstGeom prst="rect">
            <a:avLst/>
          </a:prstGeom>
          <a:noFill/>
          <a:ln/>
        </p:spPr>
        <p:txBody>
          <a:bodyPr wrap="square" lIns="0" tIns="0" rIns="0" bIns="0" rtlCol="0" anchor="ctr"/>
          <a:lstStyle/>
          <a:p>
            <a:pPr indent="0" marL="0">
              <a:buNone/>
            </a:pPr>
            <a:r>
              <a:rPr lang="en-US" sz="1400" b="1" dirty="0">
                <a:solidFill>
                  <a:schemeClr val="tx2"/>
                </a:solidFill>
              </a:rPr>
              <a:t>Other domain teams</a:t>
            </a:r>
            <a:endParaRPr lang="en-US" sz="1400" dirty="0"/>
          </a:p>
          <a:p>
            <a:pPr indent="0" marL="0">
              <a:buNone/>
            </a:pPr>
            <a:r>
              <a:rPr lang="en-US" sz="1200" dirty="0">
                <a:solidFill>
                  <a:schemeClr val="accent5"/>
                </a:solidFill>
              </a:rPr>
              <a:t>servicing and other flows</a:t>
            </a:r>
            <a:endParaRPr lang="en-US" sz="1400" dirty="0"/>
          </a:p>
        </p:txBody>
      </p:sp>
      <p:sp>
        <p:nvSpPr>
          <p:cNvPr id="10" name="arr-1"/>
          <p:cNvSpPr/>
          <p:nvPr/>
        </p:nvSpPr>
        <p:spPr>
          <a:xfrm>
            <a:off x="3337560" y="2377440"/>
            <a:ext cx="411480" cy="274320"/>
          </a:xfrm>
          <a:prstGeom prst="rightArrow">
            <a:avLst/>
          </a:prstGeom>
          <a:solidFill>
            <a:schemeClr val="accent3"/>
          </a:solidFill>
          <a:ln w="12700">
            <a:solidFill>
              <a:schemeClr val="accent3"/>
            </a:solidFill>
            <a:prstDash val="solid"/>
          </a:ln>
        </p:spPr>
      </p:sp>
      <p:sp>
        <p:nvSpPr>
          <p:cNvPr id="11" name="codebase"/>
          <p:cNvSpPr/>
          <p:nvPr/>
        </p:nvSpPr>
        <p:spPr>
          <a:xfrm>
            <a:off x="3886200" y="1920240"/>
            <a:ext cx="2331720" cy="1207008"/>
          </a:xfrm>
          <a:prstGeom prst="roundRect">
            <a:avLst>
              <a:gd name="adj" fmla="val 6061"/>
            </a:avLst>
          </a:prstGeom>
          <a:solidFill>
            <a:schemeClr val="tx2"/>
          </a:solidFill>
          <a:ln w="9525">
            <a:solidFill>
              <a:schemeClr val="tx2"/>
            </a:solidFill>
            <a:prstDash val="solid"/>
          </a:ln>
        </p:spPr>
      </p:sp>
      <p:sp>
        <p:nvSpPr>
          <p:cNvPr id="12" name="Text 10"/>
          <p:cNvSpPr txBox="1"/>
          <p:nvPr/>
        </p:nvSpPr>
        <p:spPr>
          <a:xfrm>
            <a:off x="4041648" y="1920240"/>
            <a:ext cx="2057400" cy="1207008"/>
          </a:xfrm>
          <a:prstGeom prst="rect">
            <a:avLst/>
          </a:prstGeom>
          <a:noFill/>
          <a:ln/>
        </p:spPr>
        <p:txBody>
          <a:bodyPr wrap="square" lIns="0" tIns="0" rIns="0" bIns="0" rtlCol="0" anchor="ctr"/>
          <a:lstStyle/>
          <a:p>
            <a:pPr indent="0" marL="0">
              <a:buNone/>
            </a:pPr>
            <a:r>
              <a:rPr lang="en-US" sz="1700" b="1" dirty="0">
                <a:solidFill>
                  <a:schemeClr val="bg1"/>
                </a:solidFill>
              </a:rPr>
              <a:t>One codebase</a:t>
            </a:r>
            <a:endParaRPr lang="en-US" sz="1400" dirty="0"/>
          </a:p>
          <a:p>
            <a:pPr indent="0" marL="0">
              <a:buNone/>
            </a:pPr>
            <a:r>
              <a:rPr lang="en-US" sz="1200" dirty="0">
                <a:solidFill>
                  <a:schemeClr val="accent6"/>
                </a:solidFill>
              </a:rPr>
              <a:t>Angular UI plus legacy pages, edited by every team</a:t>
            </a:r>
            <a:endParaRPr lang="en-US" sz="1400" dirty="0"/>
          </a:p>
        </p:txBody>
      </p:sp>
      <p:sp>
        <p:nvSpPr>
          <p:cNvPr id="13" name="arr-2"/>
          <p:cNvSpPr/>
          <p:nvPr/>
        </p:nvSpPr>
        <p:spPr>
          <a:xfrm>
            <a:off x="6355080" y="2377440"/>
            <a:ext cx="411480" cy="274320"/>
          </a:xfrm>
          <a:prstGeom prst="rightArrow">
            <a:avLst/>
          </a:prstGeom>
          <a:solidFill>
            <a:schemeClr val="accent3"/>
          </a:solidFill>
          <a:ln w="12700">
            <a:solidFill>
              <a:schemeClr val="accent3"/>
            </a:solidFill>
            <a:prstDash val="solid"/>
          </a:ln>
        </p:spPr>
      </p:sp>
      <p:sp>
        <p:nvSpPr>
          <p:cNvPr id="14" name="release"/>
          <p:cNvSpPr/>
          <p:nvPr/>
        </p:nvSpPr>
        <p:spPr>
          <a:xfrm>
            <a:off x="6903720" y="1920240"/>
            <a:ext cx="2331720" cy="1207008"/>
          </a:xfrm>
          <a:prstGeom prst="roundRect">
            <a:avLst>
              <a:gd name="adj" fmla="val 6061"/>
            </a:avLst>
          </a:prstGeom>
          <a:solidFill>
            <a:schemeClr val="tx2"/>
          </a:solidFill>
          <a:ln w="9525">
            <a:solidFill>
              <a:schemeClr val="tx2"/>
            </a:solidFill>
            <a:prstDash val="solid"/>
          </a:ln>
        </p:spPr>
      </p:sp>
      <p:sp>
        <p:nvSpPr>
          <p:cNvPr id="15" name="Text 13"/>
          <p:cNvSpPr txBox="1"/>
          <p:nvPr/>
        </p:nvSpPr>
        <p:spPr>
          <a:xfrm>
            <a:off x="7059168" y="1920240"/>
            <a:ext cx="2057400" cy="1207008"/>
          </a:xfrm>
          <a:prstGeom prst="rect">
            <a:avLst/>
          </a:prstGeom>
          <a:noFill/>
          <a:ln/>
        </p:spPr>
        <p:txBody>
          <a:bodyPr wrap="square" lIns="0" tIns="0" rIns="0" bIns="0" rtlCol="0" anchor="ctr"/>
          <a:lstStyle/>
          <a:p>
            <a:pPr indent="0" marL="0">
              <a:buNone/>
            </a:pPr>
            <a:r>
              <a:rPr lang="en-US" sz="1700" b="1" dirty="0">
                <a:solidFill>
                  <a:schemeClr val="bg1"/>
                </a:solidFill>
              </a:rPr>
              <a:t>One pipeline, one release</a:t>
            </a:r>
            <a:endParaRPr lang="en-US" sz="1400" dirty="0"/>
          </a:p>
          <a:p>
            <a:pPr indent="0" marL="0">
              <a:buNone/>
            </a:pPr>
            <a:r>
              <a:rPr lang="en-US" sz="1200" dirty="0">
                <a:solidFill>
                  <a:schemeClr val="accent6"/>
                </a:solidFill>
              </a:rPr>
              <a:t>all changes test and ship together</a:t>
            </a:r>
            <a:endParaRPr lang="en-US" sz="1400" dirty="0"/>
          </a:p>
        </p:txBody>
      </p:sp>
      <p:sp>
        <p:nvSpPr>
          <p:cNvPr id="16" name="arr-3"/>
          <p:cNvSpPr/>
          <p:nvPr/>
        </p:nvSpPr>
        <p:spPr>
          <a:xfrm>
            <a:off x="9372600" y="2377440"/>
            <a:ext cx="411480" cy="274320"/>
          </a:xfrm>
          <a:prstGeom prst="rightArrow">
            <a:avLst/>
          </a:prstGeom>
          <a:solidFill>
            <a:schemeClr val="accent3"/>
          </a:solidFill>
          <a:ln w="12700">
            <a:solidFill>
              <a:schemeClr val="accent3"/>
            </a:solidFill>
            <a:prstDash val="solid"/>
          </a:ln>
        </p:spPr>
      </p:sp>
      <p:sp>
        <p:nvSpPr>
          <p:cNvPr id="17" name="users"/>
          <p:cNvSpPr/>
          <p:nvPr/>
        </p:nvSpPr>
        <p:spPr>
          <a:xfrm>
            <a:off x="9921240" y="1920240"/>
            <a:ext cx="1813255" cy="1207008"/>
          </a:xfrm>
          <a:prstGeom prst="roundRect">
            <a:avLst>
              <a:gd name="adj" fmla="val 6061"/>
            </a:avLst>
          </a:prstGeom>
          <a:solidFill>
            <a:schemeClr val="bg2"/>
          </a:solidFill>
          <a:ln w="9525">
            <a:solidFill>
              <a:schemeClr val="bg2"/>
            </a:solidFill>
            <a:prstDash val="solid"/>
          </a:ln>
        </p:spPr>
      </p:sp>
      <p:sp>
        <p:nvSpPr>
          <p:cNvPr id="18" name="Text 16"/>
          <p:cNvSpPr txBox="1"/>
          <p:nvPr/>
        </p:nvSpPr>
        <p:spPr>
          <a:xfrm>
            <a:off x="10058400" y="1920240"/>
            <a:ext cx="1538935" cy="1207008"/>
          </a:xfrm>
          <a:prstGeom prst="rect">
            <a:avLst/>
          </a:prstGeom>
          <a:noFill/>
          <a:ln/>
        </p:spPr>
        <p:txBody>
          <a:bodyPr wrap="square" lIns="0" tIns="0" rIns="0" bIns="0" rtlCol="0" anchor="ctr"/>
          <a:lstStyle/>
          <a:p>
            <a:pPr indent="0" marL="0">
              <a:buNone/>
            </a:pPr>
            <a:r>
              <a:rPr lang="en-US" sz="1700" b="1" dirty="0">
                <a:solidFill>
                  <a:schemeClr val="tx2"/>
                </a:solidFill>
              </a:rPr>
              <a:t>Users</a:t>
            </a:r>
            <a:endParaRPr lang="en-US" sz="1400" dirty="0"/>
          </a:p>
          <a:p>
            <a:pPr indent="0" marL="0">
              <a:buNone/>
            </a:pPr>
            <a:r>
              <a:rPr lang="en-US" sz="1200" dirty="0">
                <a:solidFill>
                  <a:schemeClr val="accent5"/>
                </a:solidFill>
              </a:rPr>
              <a:t>get a change only when every team is ready</a:t>
            </a:r>
            <a:endParaRPr lang="en-US" sz="1400" dirty="0"/>
          </a:p>
        </p:txBody>
      </p:sp>
      <p:sp>
        <p:nvSpPr>
          <p:cNvPr id="19" name="sym-0"/>
          <p:cNvSpPr/>
          <p:nvPr/>
        </p:nvSpPr>
        <p:spPr>
          <a:xfrm>
            <a:off x="457200" y="3931920"/>
            <a:ext cx="2647874" cy="2240280"/>
          </a:xfrm>
          <a:prstGeom prst="roundRect">
            <a:avLst>
              <a:gd name="adj" fmla="val 3265"/>
            </a:avLst>
          </a:prstGeom>
          <a:solidFill>
            <a:schemeClr val="bg2"/>
          </a:solidFill>
          <a:ln w="9525">
            <a:solidFill>
              <a:schemeClr val="bg2"/>
            </a:solidFill>
            <a:prstDash val="solid"/>
          </a:ln>
        </p:spPr>
      </p:sp>
      <p:sp>
        <p:nvSpPr>
          <p:cNvPr id="20" name="icon-circle-FaUsers"/>
          <p:cNvSpPr/>
          <p:nvPr/>
        </p:nvSpPr>
        <p:spPr>
          <a:xfrm>
            <a:off x="658368" y="4133088"/>
            <a:ext cx="502920" cy="502920"/>
          </a:xfrm>
          <a:prstGeom prst="ellipse">
            <a:avLst/>
          </a:prstGeom>
          <a:solidFill>
            <a:schemeClr val="accent4"/>
          </a:solidFill>
          <a:ln w="12700">
            <a:solidFill>
              <a:schemeClr val="accent4"/>
            </a:solidFill>
            <a:prstDash val="solid"/>
          </a:ln>
        </p:spPr>
      </p:sp>
      <p:pic>
        <p:nvPicPr>
          <p:cNvPr id="21" name="icon-FaUsers" descr="preencoded.png">    </p:cNvPr>
          <p:cNvPicPr>
            <a:picLocks noChangeAspect="1"/>
          </p:cNvPicPr>
          <p:nvPr/>
        </p:nvPicPr>
        <p:blipFill>
          <a:blip r:embed="rId1"/>
          <a:stretch>
            <a:fillRect/>
          </a:stretch>
        </p:blipFill>
        <p:spPr>
          <a:xfrm>
            <a:off x="789127" y="4263847"/>
            <a:ext cx="241402" cy="241402"/>
          </a:xfrm>
          <a:prstGeom prst="rect">
            <a:avLst/>
          </a:prstGeom>
        </p:spPr>
      </p:pic>
      <p:sp>
        <p:nvSpPr>
          <p:cNvPr id="22" name="Text 19"/>
          <p:cNvSpPr txBox="1"/>
          <p:nvPr/>
        </p:nvSpPr>
        <p:spPr>
          <a:xfrm>
            <a:off x="658368" y="4754880"/>
            <a:ext cx="2245538" cy="320040"/>
          </a:xfrm>
          <a:prstGeom prst="rect">
            <a:avLst/>
          </a:prstGeom>
          <a:noFill/>
          <a:ln/>
        </p:spPr>
        <p:txBody>
          <a:bodyPr wrap="square" lIns="0" tIns="0" rIns="0" bIns="0" rtlCol="0" anchor="t"/>
          <a:lstStyle/>
          <a:p>
            <a:pPr indent="0" marL="0">
              <a:buNone/>
            </a:pPr>
            <a:r>
              <a:rPr lang="en-US" sz="1600" b="1" dirty="0">
                <a:solidFill>
                  <a:schemeClr val="tx2"/>
                </a:solidFill>
              </a:rPr>
              <a:t>Coordination cost</a:t>
            </a:r>
            <a:endParaRPr lang="en-US" sz="1600" dirty="0"/>
          </a:p>
        </p:txBody>
      </p:sp>
      <p:sp>
        <p:nvSpPr>
          <p:cNvPr id="23" name="Text 20"/>
          <p:cNvSpPr txBox="1"/>
          <p:nvPr/>
        </p:nvSpPr>
        <p:spPr>
          <a:xfrm>
            <a:off x="658368" y="5120640"/>
            <a:ext cx="2245538" cy="960120"/>
          </a:xfrm>
          <a:prstGeom prst="rect">
            <a:avLst/>
          </a:prstGeom>
          <a:noFill/>
          <a:ln/>
        </p:spPr>
        <p:txBody>
          <a:bodyPr wrap="square" lIns="0" tIns="0" rIns="0" bIns="0" rtlCol="0" anchor="t"/>
          <a:lstStyle/>
          <a:p>
            <a:pPr indent="0" marL="0">
              <a:buNone/>
            </a:pPr>
            <a:r>
              <a:rPr lang="en-US" sz="1400" dirty="0">
                <a:solidFill>
                  <a:schemeClr val="tx1"/>
                </a:solidFill>
              </a:rPr>
              <a:t>Every release needs all teams to merge, test and sign off together.</a:t>
            </a:r>
            <a:endParaRPr lang="en-US" sz="1400" dirty="0"/>
          </a:p>
        </p:txBody>
      </p:sp>
      <p:sp>
        <p:nvSpPr>
          <p:cNvPr id="24" name="sym-1"/>
          <p:cNvSpPr/>
          <p:nvPr/>
        </p:nvSpPr>
        <p:spPr>
          <a:xfrm>
            <a:off x="3333674" y="3931920"/>
            <a:ext cx="2647874" cy="2240280"/>
          </a:xfrm>
          <a:prstGeom prst="roundRect">
            <a:avLst>
              <a:gd name="adj" fmla="val 3265"/>
            </a:avLst>
          </a:prstGeom>
          <a:solidFill>
            <a:schemeClr val="bg2"/>
          </a:solidFill>
          <a:ln w="9525">
            <a:solidFill>
              <a:schemeClr val="bg2"/>
            </a:solidFill>
            <a:prstDash val="solid"/>
          </a:ln>
        </p:spPr>
      </p:sp>
      <p:sp>
        <p:nvSpPr>
          <p:cNvPr id="25" name="icon-circle-FaBomb"/>
          <p:cNvSpPr/>
          <p:nvPr/>
        </p:nvSpPr>
        <p:spPr>
          <a:xfrm>
            <a:off x="3534842" y="4133088"/>
            <a:ext cx="502920" cy="502920"/>
          </a:xfrm>
          <a:prstGeom prst="ellipse">
            <a:avLst/>
          </a:prstGeom>
          <a:solidFill>
            <a:schemeClr val="accent4"/>
          </a:solidFill>
          <a:ln w="12700">
            <a:solidFill>
              <a:schemeClr val="accent4"/>
            </a:solidFill>
            <a:prstDash val="solid"/>
          </a:ln>
        </p:spPr>
      </p:sp>
      <p:pic>
        <p:nvPicPr>
          <p:cNvPr id="26" name="icon-FaBomb" descr="preencoded.png">    </p:cNvPr>
          <p:cNvPicPr>
            <a:picLocks noChangeAspect="1"/>
          </p:cNvPicPr>
          <p:nvPr/>
        </p:nvPicPr>
        <p:blipFill>
          <a:blip r:embed="rId2"/>
          <a:stretch>
            <a:fillRect/>
          </a:stretch>
        </p:blipFill>
        <p:spPr>
          <a:xfrm>
            <a:off x="3665601" y="4263847"/>
            <a:ext cx="241402" cy="241402"/>
          </a:xfrm>
          <a:prstGeom prst="rect">
            <a:avLst/>
          </a:prstGeom>
        </p:spPr>
      </p:pic>
      <p:sp>
        <p:nvSpPr>
          <p:cNvPr id="27" name="Text 23"/>
          <p:cNvSpPr txBox="1"/>
          <p:nvPr/>
        </p:nvSpPr>
        <p:spPr>
          <a:xfrm>
            <a:off x="3534842" y="4754880"/>
            <a:ext cx="2245538" cy="320040"/>
          </a:xfrm>
          <a:prstGeom prst="rect">
            <a:avLst/>
          </a:prstGeom>
          <a:noFill/>
          <a:ln/>
        </p:spPr>
        <p:txBody>
          <a:bodyPr wrap="square" lIns="0" tIns="0" rIns="0" bIns="0" rtlCol="0" anchor="t"/>
          <a:lstStyle/>
          <a:p>
            <a:pPr indent="0" marL="0">
              <a:buNone/>
            </a:pPr>
            <a:r>
              <a:rPr lang="en-US" sz="1600" b="1" dirty="0">
                <a:solidFill>
                  <a:schemeClr val="tx2"/>
                </a:solidFill>
              </a:rPr>
              <a:t>Shared blast radius</a:t>
            </a:r>
            <a:endParaRPr lang="en-US" sz="1600" dirty="0"/>
          </a:p>
        </p:txBody>
      </p:sp>
      <p:sp>
        <p:nvSpPr>
          <p:cNvPr id="28" name="Text 24"/>
          <p:cNvSpPr txBox="1"/>
          <p:nvPr/>
        </p:nvSpPr>
        <p:spPr>
          <a:xfrm>
            <a:off x="3534842" y="5120640"/>
            <a:ext cx="2245538" cy="960120"/>
          </a:xfrm>
          <a:prstGeom prst="rect">
            <a:avLst/>
          </a:prstGeom>
          <a:noFill/>
          <a:ln/>
        </p:spPr>
        <p:txBody>
          <a:bodyPr wrap="square" lIns="0" tIns="0" rIns="0" bIns="0" rtlCol="0" anchor="t"/>
          <a:lstStyle/>
          <a:p>
            <a:pPr indent="0" marL="0">
              <a:buNone/>
            </a:pPr>
            <a:r>
              <a:rPr lang="en-US" sz="1400" dirty="0">
                <a:solidFill>
                  <a:schemeClr val="tx1"/>
                </a:solidFill>
              </a:rPr>
              <a:t>One team's failing test, quality gate or defect blocks every other team.</a:t>
            </a:r>
            <a:endParaRPr lang="en-US" sz="1400" dirty="0"/>
          </a:p>
        </p:txBody>
      </p:sp>
      <p:sp>
        <p:nvSpPr>
          <p:cNvPr id="29" name="sym-2"/>
          <p:cNvSpPr/>
          <p:nvPr/>
        </p:nvSpPr>
        <p:spPr>
          <a:xfrm>
            <a:off x="6210148" y="3931920"/>
            <a:ext cx="2647874" cy="2240280"/>
          </a:xfrm>
          <a:prstGeom prst="roundRect">
            <a:avLst>
              <a:gd name="adj" fmla="val 3265"/>
            </a:avLst>
          </a:prstGeom>
          <a:solidFill>
            <a:schemeClr val="bg2"/>
          </a:solidFill>
          <a:ln w="9525">
            <a:solidFill>
              <a:schemeClr val="bg2"/>
            </a:solidFill>
            <a:prstDash val="solid"/>
          </a:ln>
        </p:spPr>
      </p:sp>
      <p:sp>
        <p:nvSpPr>
          <p:cNvPr id="30" name="icon-circle-FaRedo"/>
          <p:cNvSpPr/>
          <p:nvPr/>
        </p:nvSpPr>
        <p:spPr>
          <a:xfrm>
            <a:off x="6411316" y="4133088"/>
            <a:ext cx="502920" cy="502920"/>
          </a:xfrm>
          <a:prstGeom prst="ellipse">
            <a:avLst/>
          </a:prstGeom>
          <a:solidFill>
            <a:schemeClr val="accent4"/>
          </a:solidFill>
          <a:ln w="12700">
            <a:solidFill>
              <a:schemeClr val="accent4"/>
            </a:solidFill>
            <a:prstDash val="solid"/>
          </a:ln>
        </p:spPr>
      </p:sp>
      <p:pic>
        <p:nvPicPr>
          <p:cNvPr id="31" name="icon-FaRedo" descr="preencoded.png">    </p:cNvPr>
          <p:cNvPicPr>
            <a:picLocks noChangeAspect="1"/>
          </p:cNvPicPr>
          <p:nvPr/>
        </p:nvPicPr>
        <p:blipFill>
          <a:blip r:embed="rId3"/>
          <a:stretch>
            <a:fillRect/>
          </a:stretch>
        </p:blipFill>
        <p:spPr>
          <a:xfrm>
            <a:off x="6542075" y="4263847"/>
            <a:ext cx="241402" cy="241402"/>
          </a:xfrm>
          <a:prstGeom prst="rect">
            <a:avLst/>
          </a:prstGeom>
        </p:spPr>
      </p:pic>
      <p:sp>
        <p:nvSpPr>
          <p:cNvPr id="32" name="Text 27"/>
          <p:cNvSpPr txBox="1"/>
          <p:nvPr/>
        </p:nvSpPr>
        <p:spPr>
          <a:xfrm>
            <a:off x="6411316" y="4754880"/>
            <a:ext cx="2245538" cy="320040"/>
          </a:xfrm>
          <a:prstGeom prst="rect">
            <a:avLst/>
          </a:prstGeom>
          <a:noFill/>
          <a:ln/>
        </p:spPr>
        <p:txBody>
          <a:bodyPr wrap="square" lIns="0" tIns="0" rIns="0" bIns="0" rtlCol="0" anchor="t"/>
          <a:lstStyle/>
          <a:p>
            <a:pPr indent="0" marL="0">
              <a:buNone/>
            </a:pPr>
            <a:r>
              <a:rPr lang="en-US" sz="1600" b="1" dirty="0">
                <a:solidFill>
                  <a:schemeClr val="tx2"/>
                </a:solidFill>
              </a:rPr>
              <a:t>Full regression each time</a:t>
            </a:r>
            <a:endParaRPr lang="en-US" sz="1600" dirty="0"/>
          </a:p>
        </p:txBody>
      </p:sp>
      <p:sp>
        <p:nvSpPr>
          <p:cNvPr id="33" name="Text 28"/>
          <p:cNvSpPr txBox="1"/>
          <p:nvPr/>
        </p:nvSpPr>
        <p:spPr>
          <a:xfrm>
            <a:off x="6411316" y="5120640"/>
            <a:ext cx="2245538" cy="960120"/>
          </a:xfrm>
          <a:prstGeom prst="rect">
            <a:avLst/>
          </a:prstGeom>
          <a:noFill/>
          <a:ln/>
        </p:spPr>
        <p:txBody>
          <a:bodyPr wrap="square" lIns="0" tIns="0" rIns="0" bIns="0" rtlCol="0" anchor="t"/>
          <a:lstStyle/>
          <a:p>
            <a:pPr indent="0" marL="0">
              <a:buNone/>
            </a:pPr>
            <a:r>
              <a:rPr lang="en-US" sz="1400" dirty="0">
                <a:solidFill>
                  <a:schemeClr val="tx1"/>
                </a:solidFill>
              </a:rPr>
              <a:t>A small change in grants means retesting account opening too.</a:t>
            </a:r>
            <a:endParaRPr lang="en-US" sz="1400" dirty="0"/>
          </a:p>
        </p:txBody>
      </p:sp>
      <p:sp>
        <p:nvSpPr>
          <p:cNvPr id="34" name="sym-3"/>
          <p:cNvSpPr/>
          <p:nvPr/>
        </p:nvSpPr>
        <p:spPr>
          <a:xfrm>
            <a:off x="9086621" y="3931920"/>
            <a:ext cx="2647874" cy="2240280"/>
          </a:xfrm>
          <a:prstGeom prst="roundRect">
            <a:avLst>
              <a:gd name="adj" fmla="val 3265"/>
            </a:avLst>
          </a:prstGeom>
          <a:solidFill>
            <a:schemeClr val="bg2"/>
          </a:solidFill>
          <a:ln w="9525">
            <a:solidFill>
              <a:schemeClr val="bg2"/>
            </a:solidFill>
            <a:prstDash val="solid"/>
          </a:ln>
        </p:spPr>
      </p:sp>
      <p:sp>
        <p:nvSpPr>
          <p:cNvPr id="35" name="icon-circle-FaHourglassHalf"/>
          <p:cNvSpPr/>
          <p:nvPr/>
        </p:nvSpPr>
        <p:spPr>
          <a:xfrm>
            <a:off x="9287789" y="4133088"/>
            <a:ext cx="502920" cy="502920"/>
          </a:xfrm>
          <a:prstGeom prst="ellipse">
            <a:avLst/>
          </a:prstGeom>
          <a:solidFill>
            <a:schemeClr val="accent4"/>
          </a:solidFill>
          <a:ln w="12700">
            <a:solidFill>
              <a:schemeClr val="accent4"/>
            </a:solidFill>
            <a:prstDash val="solid"/>
          </a:ln>
        </p:spPr>
      </p:sp>
      <p:pic>
        <p:nvPicPr>
          <p:cNvPr id="36" name="icon-FaHourglassHalf" descr="preencoded.png">    </p:cNvPr>
          <p:cNvPicPr>
            <a:picLocks noChangeAspect="1"/>
          </p:cNvPicPr>
          <p:nvPr/>
        </p:nvPicPr>
        <p:blipFill>
          <a:blip r:embed="rId4"/>
          <a:stretch>
            <a:fillRect/>
          </a:stretch>
        </p:blipFill>
        <p:spPr>
          <a:xfrm>
            <a:off x="9418549" y="4263847"/>
            <a:ext cx="241402" cy="241402"/>
          </a:xfrm>
          <a:prstGeom prst="rect">
            <a:avLst/>
          </a:prstGeom>
        </p:spPr>
      </p:pic>
      <p:sp>
        <p:nvSpPr>
          <p:cNvPr id="37" name="Text 31"/>
          <p:cNvSpPr txBox="1"/>
          <p:nvPr/>
        </p:nvSpPr>
        <p:spPr>
          <a:xfrm>
            <a:off x="9287789" y="4754880"/>
            <a:ext cx="2245538" cy="320040"/>
          </a:xfrm>
          <a:prstGeom prst="rect">
            <a:avLst/>
          </a:prstGeom>
          <a:noFill/>
          <a:ln/>
        </p:spPr>
        <p:txBody>
          <a:bodyPr wrap="square" lIns="0" tIns="0" rIns="0" bIns="0" rtlCol="0" anchor="t"/>
          <a:lstStyle/>
          <a:p>
            <a:pPr indent="0" marL="0">
              <a:buNone/>
            </a:pPr>
            <a:r>
              <a:rPr lang="en-US" sz="1600" b="1" dirty="0">
                <a:solidFill>
                  <a:schemeClr val="tx2"/>
                </a:solidFill>
              </a:rPr>
              <a:t>Slowest sets the pace</a:t>
            </a:r>
            <a:endParaRPr lang="en-US" sz="1600" dirty="0"/>
          </a:p>
        </p:txBody>
      </p:sp>
      <p:sp>
        <p:nvSpPr>
          <p:cNvPr id="38" name="Text 32"/>
          <p:cNvSpPr txBox="1"/>
          <p:nvPr/>
        </p:nvSpPr>
        <p:spPr>
          <a:xfrm>
            <a:off x="9287789" y="5120640"/>
            <a:ext cx="2245538" cy="960120"/>
          </a:xfrm>
          <a:prstGeom prst="rect">
            <a:avLst/>
          </a:prstGeom>
          <a:noFill/>
          <a:ln/>
        </p:spPr>
        <p:txBody>
          <a:bodyPr wrap="square" lIns="0" tIns="0" rIns="0" bIns="0" rtlCol="0" anchor="t"/>
          <a:lstStyle/>
          <a:p>
            <a:pPr indent="0" marL="0">
              <a:buNone/>
            </a:pPr>
            <a:r>
              <a:rPr lang="en-US" sz="1400" dirty="0">
                <a:solidFill>
                  <a:schemeClr val="tx1"/>
                </a:solidFill>
              </a:rPr>
              <a:t>Release cadence can't be faster than the least-ready change.</a:t>
            </a:r>
            <a:endParaRPr lang="en-US" sz="14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Both choices split the app the same way</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Each domain team owns a vertical slice end to end. The only difference is how that slice reaches users.</a:t>
            </a:r>
            <a:endParaRPr lang="en-US" sz="1600" dirty="0"/>
          </a:p>
        </p:txBody>
      </p:sp>
      <p:sp>
        <p:nvSpPr>
          <p:cNvPr id="4" name="slice-0"/>
          <p:cNvSpPr/>
          <p:nvPr/>
        </p:nvSpPr>
        <p:spPr>
          <a:xfrm>
            <a:off x="457200" y="1600200"/>
            <a:ext cx="2182368" cy="3429000"/>
          </a:xfrm>
          <a:prstGeom prst="roundRect">
            <a:avLst>
              <a:gd name="adj" fmla="val 3352"/>
            </a:avLst>
          </a:prstGeom>
          <a:solidFill>
            <a:schemeClr val="bg2"/>
          </a:solidFill>
          <a:ln w="15875">
            <a:solidFill>
              <a:schemeClr val="accent1"/>
            </a:solidFill>
            <a:prstDash val="solid"/>
          </a:ln>
        </p:spPr>
      </p:sp>
      <p:sp>
        <p:nvSpPr>
          <p:cNvPr id="5" name="Text 3"/>
          <p:cNvSpPr txBox="1"/>
          <p:nvPr/>
        </p:nvSpPr>
        <p:spPr>
          <a:xfrm>
            <a:off x="594360" y="1709928"/>
            <a:ext cx="1908048" cy="640080"/>
          </a:xfrm>
          <a:prstGeom prst="rect">
            <a:avLst/>
          </a:prstGeom>
          <a:noFill/>
          <a:ln/>
        </p:spPr>
        <p:txBody>
          <a:bodyPr wrap="square" lIns="0" tIns="0" rIns="0" bIns="0" rtlCol="0" anchor="t"/>
          <a:lstStyle/>
          <a:p>
            <a:pPr algn="ctr" indent="0" marL="0">
              <a:buNone/>
            </a:pPr>
            <a:r>
              <a:rPr lang="en-US" sz="1500" b="1" dirty="0">
                <a:solidFill>
                  <a:schemeClr val="tx2"/>
                </a:solidFill>
              </a:rPr>
              <a:t>Account opening</a:t>
            </a:r>
            <a:endParaRPr lang="en-US" sz="1400" dirty="0"/>
          </a:p>
          <a:p>
            <a:pPr algn="ctr" indent="0" marL="0">
              <a:buNone/>
            </a:pPr>
            <a:r>
              <a:rPr lang="en-US" sz="1200" dirty="0">
                <a:solidFill>
                  <a:schemeClr val="accent3"/>
                </a:solidFill>
              </a:rPr>
              <a:t>Account opening team</a:t>
            </a:r>
            <a:endParaRPr lang="en-US" sz="1400" dirty="0"/>
          </a:p>
        </p:txBody>
      </p:sp>
      <p:sp>
        <p:nvSpPr>
          <p:cNvPr id="6" name="layer-0-0"/>
          <p:cNvSpPr/>
          <p:nvPr/>
        </p:nvSpPr>
        <p:spPr>
          <a:xfrm>
            <a:off x="621792" y="2468880"/>
            <a:ext cx="1853184" cy="640080"/>
          </a:xfrm>
          <a:prstGeom prst="rect">
            <a:avLst/>
          </a:prstGeom>
          <a:solidFill>
            <a:schemeClr val="bg1"/>
          </a:solidFill>
          <a:ln w="12700">
            <a:solidFill>
              <a:srgbClr val="BFD3C2"/>
            </a:solidFill>
            <a:prstDash val="solid"/>
          </a:ln>
        </p:spPr>
      </p:sp>
      <p:sp>
        <p:nvSpPr>
          <p:cNvPr id="7" name="Text 5"/>
          <p:cNvSpPr txBox="1"/>
          <p:nvPr/>
        </p:nvSpPr>
        <p:spPr>
          <a:xfrm>
            <a:off x="621792" y="2468880"/>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Screens and flows</a:t>
            </a:r>
            <a:endParaRPr lang="en-US" sz="1300" dirty="0"/>
          </a:p>
        </p:txBody>
      </p:sp>
      <p:sp>
        <p:nvSpPr>
          <p:cNvPr id="8" name="layer-0-1"/>
          <p:cNvSpPr/>
          <p:nvPr/>
        </p:nvSpPr>
        <p:spPr>
          <a:xfrm>
            <a:off x="621792" y="3273552"/>
            <a:ext cx="1853184" cy="640080"/>
          </a:xfrm>
          <a:prstGeom prst="rect">
            <a:avLst/>
          </a:prstGeom>
          <a:solidFill>
            <a:schemeClr val="bg1"/>
          </a:solidFill>
          <a:ln w="12700">
            <a:solidFill>
              <a:srgbClr val="BFD3C2"/>
            </a:solidFill>
            <a:prstDash val="solid"/>
          </a:ln>
        </p:spPr>
      </p:sp>
      <p:sp>
        <p:nvSpPr>
          <p:cNvPr id="9" name="Text 7"/>
          <p:cNvSpPr txBox="1"/>
          <p:nvPr/>
        </p:nvSpPr>
        <p:spPr>
          <a:xfrm>
            <a:off x="621792" y="3273552"/>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State and API adapters</a:t>
            </a:r>
            <a:endParaRPr lang="en-US" sz="1300" dirty="0"/>
          </a:p>
        </p:txBody>
      </p:sp>
      <p:sp>
        <p:nvSpPr>
          <p:cNvPr id="10" name="layer-0-2"/>
          <p:cNvSpPr/>
          <p:nvPr/>
        </p:nvSpPr>
        <p:spPr>
          <a:xfrm>
            <a:off x="621792" y="4078224"/>
            <a:ext cx="1853184" cy="640080"/>
          </a:xfrm>
          <a:prstGeom prst="rect">
            <a:avLst/>
          </a:prstGeom>
          <a:solidFill>
            <a:schemeClr val="accent6"/>
          </a:solidFill>
          <a:ln w="12700">
            <a:solidFill>
              <a:srgbClr val="BFD3C2"/>
            </a:solidFill>
            <a:prstDash val="solid"/>
          </a:ln>
        </p:spPr>
      </p:sp>
      <p:sp>
        <p:nvSpPr>
          <p:cNvPr id="11" name="Text 9"/>
          <p:cNvSpPr txBox="1"/>
          <p:nvPr/>
        </p:nvSpPr>
        <p:spPr>
          <a:xfrm>
            <a:off x="621792" y="4078224"/>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Domain APIs</a:t>
            </a:r>
            <a:endParaRPr lang="en-US" sz="1300" dirty="0"/>
          </a:p>
        </p:txBody>
      </p:sp>
      <p:sp>
        <p:nvSpPr>
          <p:cNvPr id="12" name="slice-1"/>
          <p:cNvSpPr/>
          <p:nvPr/>
        </p:nvSpPr>
        <p:spPr>
          <a:xfrm>
            <a:off x="2840736" y="1600200"/>
            <a:ext cx="2182368" cy="3429000"/>
          </a:xfrm>
          <a:prstGeom prst="roundRect">
            <a:avLst>
              <a:gd name="adj" fmla="val 3352"/>
            </a:avLst>
          </a:prstGeom>
          <a:solidFill>
            <a:schemeClr val="bg2"/>
          </a:solidFill>
          <a:ln w="15875">
            <a:solidFill>
              <a:schemeClr val="accent1"/>
            </a:solidFill>
            <a:prstDash val="solid"/>
          </a:ln>
        </p:spPr>
      </p:sp>
      <p:sp>
        <p:nvSpPr>
          <p:cNvPr id="13" name="Text 11"/>
          <p:cNvSpPr txBox="1"/>
          <p:nvPr/>
        </p:nvSpPr>
        <p:spPr>
          <a:xfrm>
            <a:off x="2977896" y="1709928"/>
            <a:ext cx="1908048" cy="640080"/>
          </a:xfrm>
          <a:prstGeom prst="rect">
            <a:avLst/>
          </a:prstGeom>
          <a:noFill/>
          <a:ln/>
        </p:spPr>
        <p:txBody>
          <a:bodyPr wrap="square" lIns="0" tIns="0" rIns="0" bIns="0" rtlCol="0" anchor="t"/>
          <a:lstStyle/>
          <a:p>
            <a:pPr algn="ctr" indent="0" marL="0">
              <a:buNone/>
            </a:pPr>
            <a:r>
              <a:rPr lang="en-US" sz="1500" b="1" dirty="0">
                <a:solidFill>
                  <a:schemeClr val="tx2"/>
                </a:solidFill>
              </a:rPr>
              <a:t>Money movement</a:t>
            </a:r>
            <a:endParaRPr lang="en-US" sz="1400" dirty="0"/>
          </a:p>
          <a:p>
            <a:pPr algn="ctr" indent="0" marL="0">
              <a:buNone/>
            </a:pPr>
            <a:r>
              <a:rPr lang="en-US" sz="1200" dirty="0">
                <a:solidFill>
                  <a:schemeClr val="accent3"/>
                </a:solidFill>
              </a:rPr>
              <a:t>Contributions, grants</a:t>
            </a:r>
            <a:endParaRPr lang="en-US" sz="1400" dirty="0"/>
          </a:p>
        </p:txBody>
      </p:sp>
      <p:sp>
        <p:nvSpPr>
          <p:cNvPr id="14" name="layer-1-0"/>
          <p:cNvSpPr/>
          <p:nvPr/>
        </p:nvSpPr>
        <p:spPr>
          <a:xfrm>
            <a:off x="3005328" y="2468880"/>
            <a:ext cx="1853184" cy="640080"/>
          </a:xfrm>
          <a:prstGeom prst="rect">
            <a:avLst/>
          </a:prstGeom>
          <a:solidFill>
            <a:schemeClr val="bg1"/>
          </a:solidFill>
          <a:ln w="12700">
            <a:solidFill>
              <a:srgbClr val="BFD3C2"/>
            </a:solidFill>
            <a:prstDash val="solid"/>
          </a:ln>
        </p:spPr>
      </p:sp>
      <p:sp>
        <p:nvSpPr>
          <p:cNvPr id="15" name="Text 13"/>
          <p:cNvSpPr txBox="1"/>
          <p:nvPr/>
        </p:nvSpPr>
        <p:spPr>
          <a:xfrm>
            <a:off x="3005328" y="2468880"/>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Screens and flows</a:t>
            </a:r>
            <a:endParaRPr lang="en-US" sz="1300" dirty="0"/>
          </a:p>
        </p:txBody>
      </p:sp>
      <p:sp>
        <p:nvSpPr>
          <p:cNvPr id="16" name="layer-1-1"/>
          <p:cNvSpPr/>
          <p:nvPr/>
        </p:nvSpPr>
        <p:spPr>
          <a:xfrm>
            <a:off x="3005328" y="3273552"/>
            <a:ext cx="1853184" cy="640080"/>
          </a:xfrm>
          <a:prstGeom prst="rect">
            <a:avLst/>
          </a:prstGeom>
          <a:solidFill>
            <a:schemeClr val="bg1"/>
          </a:solidFill>
          <a:ln w="12700">
            <a:solidFill>
              <a:srgbClr val="BFD3C2"/>
            </a:solidFill>
            <a:prstDash val="solid"/>
          </a:ln>
        </p:spPr>
      </p:sp>
      <p:sp>
        <p:nvSpPr>
          <p:cNvPr id="17" name="Text 15"/>
          <p:cNvSpPr txBox="1"/>
          <p:nvPr/>
        </p:nvSpPr>
        <p:spPr>
          <a:xfrm>
            <a:off x="3005328" y="3273552"/>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State and API adapters</a:t>
            </a:r>
            <a:endParaRPr lang="en-US" sz="1300" dirty="0"/>
          </a:p>
        </p:txBody>
      </p:sp>
      <p:sp>
        <p:nvSpPr>
          <p:cNvPr id="18" name="layer-1-2"/>
          <p:cNvSpPr/>
          <p:nvPr/>
        </p:nvSpPr>
        <p:spPr>
          <a:xfrm>
            <a:off x="3005328" y="4078224"/>
            <a:ext cx="1853184" cy="640080"/>
          </a:xfrm>
          <a:prstGeom prst="rect">
            <a:avLst/>
          </a:prstGeom>
          <a:solidFill>
            <a:schemeClr val="accent6"/>
          </a:solidFill>
          <a:ln w="12700">
            <a:solidFill>
              <a:srgbClr val="BFD3C2"/>
            </a:solidFill>
            <a:prstDash val="solid"/>
          </a:ln>
        </p:spPr>
      </p:sp>
      <p:sp>
        <p:nvSpPr>
          <p:cNvPr id="19" name="Text 17"/>
          <p:cNvSpPr txBox="1"/>
          <p:nvPr/>
        </p:nvSpPr>
        <p:spPr>
          <a:xfrm>
            <a:off x="3005328" y="4078224"/>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Domain APIs</a:t>
            </a:r>
            <a:endParaRPr lang="en-US" sz="1300" dirty="0"/>
          </a:p>
        </p:txBody>
      </p:sp>
      <p:sp>
        <p:nvSpPr>
          <p:cNvPr id="20" name="slice-2"/>
          <p:cNvSpPr/>
          <p:nvPr/>
        </p:nvSpPr>
        <p:spPr>
          <a:xfrm>
            <a:off x="5224272" y="1600200"/>
            <a:ext cx="2182368" cy="3429000"/>
          </a:xfrm>
          <a:prstGeom prst="roundRect">
            <a:avLst>
              <a:gd name="adj" fmla="val 3352"/>
            </a:avLst>
          </a:prstGeom>
          <a:solidFill>
            <a:schemeClr val="bg2"/>
          </a:solidFill>
          <a:ln w="15875">
            <a:solidFill>
              <a:schemeClr val="accent1"/>
            </a:solidFill>
            <a:prstDash val="solid"/>
          </a:ln>
        </p:spPr>
      </p:sp>
      <p:sp>
        <p:nvSpPr>
          <p:cNvPr id="21" name="Text 19"/>
          <p:cNvSpPr txBox="1"/>
          <p:nvPr/>
        </p:nvSpPr>
        <p:spPr>
          <a:xfrm>
            <a:off x="5361432" y="1709928"/>
            <a:ext cx="1908048" cy="640080"/>
          </a:xfrm>
          <a:prstGeom prst="rect">
            <a:avLst/>
          </a:prstGeom>
          <a:noFill/>
          <a:ln/>
        </p:spPr>
        <p:txBody>
          <a:bodyPr wrap="square" lIns="0" tIns="0" rIns="0" bIns="0" rtlCol="0" anchor="t"/>
          <a:lstStyle/>
          <a:p>
            <a:pPr algn="ctr" indent="0" marL="0">
              <a:buNone/>
            </a:pPr>
            <a:r>
              <a:rPr lang="en-US" sz="1500" b="1" dirty="0">
                <a:solidFill>
                  <a:schemeClr val="tx2"/>
                </a:solidFill>
              </a:rPr>
              <a:t>Other domains</a:t>
            </a:r>
            <a:endParaRPr lang="en-US" sz="1400" dirty="0"/>
          </a:p>
          <a:p>
            <a:pPr algn="ctr" indent="0" marL="0">
              <a:buNone/>
            </a:pPr>
            <a:r>
              <a:rPr lang="en-US" sz="1200" dirty="0">
                <a:solidFill>
                  <a:schemeClr val="accent3"/>
                </a:solidFill>
              </a:rPr>
              <a:t>Owning teams</a:t>
            </a:r>
            <a:endParaRPr lang="en-US" sz="1400" dirty="0"/>
          </a:p>
        </p:txBody>
      </p:sp>
      <p:sp>
        <p:nvSpPr>
          <p:cNvPr id="22" name="layer-2-0"/>
          <p:cNvSpPr/>
          <p:nvPr/>
        </p:nvSpPr>
        <p:spPr>
          <a:xfrm>
            <a:off x="5388864" y="2468880"/>
            <a:ext cx="1853184" cy="640080"/>
          </a:xfrm>
          <a:prstGeom prst="rect">
            <a:avLst/>
          </a:prstGeom>
          <a:solidFill>
            <a:schemeClr val="bg1"/>
          </a:solidFill>
          <a:ln w="12700">
            <a:solidFill>
              <a:srgbClr val="BFD3C2"/>
            </a:solidFill>
            <a:prstDash val="solid"/>
          </a:ln>
        </p:spPr>
      </p:sp>
      <p:sp>
        <p:nvSpPr>
          <p:cNvPr id="23" name="Text 21"/>
          <p:cNvSpPr txBox="1"/>
          <p:nvPr/>
        </p:nvSpPr>
        <p:spPr>
          <a:xfrm>
            <a:off x="5388864" y="2468880"/>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Screens and flows</a:t>
            </a:r>
            <a:endParaRPr lang="en-US" sz="1300" dirty="0"/>
          </a:p>
        </p:txBody>
      </p:sp>
      <p:sp>
        <p:nvSpPr>
          <p:cNvPr id="24" name="layer-2-1"/>
          <p:cNvSpPr/>
          <p:nvPr/>
        </p:nvSpPr>
        <p:spPr>
          <a:xfrm>
            <a:off x="5388864" y="3273552"/>
            <a:ext cx="1853184" cy="640080"/>
          </a:xfrm>
          <a:prstGeom prst="rect">
            <a:avLst/>
          </a:prstGeom>
          <a:solidFill>
            <a:schemeClr val="bg1"/>
          </a:solidFill>
          <a:ln w="12700">
            <a:solidFill>
              <a:srgbClr val="BFD3C2"/>
            </a:solidFill>
            <a:prstDash val="solid"/>
          </a:ln>
        </p:spPr>
      </p:sp>
      <p:sp>
        <p:nvSpPr>
          <p:cNvPr id="25" name="Text 23"/>
          <p:cNvSpPr txBox="1"/>
          <p:nvPr/>
        </p:nvSpPr>
        <p:spPr>
          <a:xfrm>
            <a:off x="5388864" y="3273552"/>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State and API adapters</a:t>
            </a:r>
            <a:endParaRPr lang="en-US" sz="1300" dirty="0"/>
          </a:p>
        </p:txBody>
      </p:sp>
      <p:sp>
        <p:nvSpPr>
          <p:cNvPr id="26" name="layer-2-2"/>
          <p:cNvSpPr/>
          <p:nvPr/>
        </p:nvSpPr>
        <p:spPr>
          <a:xfrm>
            <a:off x="5388864" y="4078224"/>
            <a:ext cx="1853184" cy="640080"/>
          </a:xfrm>
          <a:prstGeom prst="rect">
            <a:avLst/>
          </a:prstGeom>
          <a:solidFill>
            <a:schemeClr val="accent6"/>
          </a:solidFill>
          <a:ln w="12700">
            <a:solidFill>
              <a:srgbClr val="BFD3C2"/>
            </a:solidFill>
            <a:prstDash val="solid"/>
          </a:ln>
        </p:spPr>
      </p:sp>
      <p:sp>
        <p:nvSpPr>
          <p:cNvPr id="27" name="Text 25"/>
          <p:cNvSpPr txBox="1"/>
          <p:nvPr/>
        </p:nvSpPr>
        <p:spPr>
          <a:xfrm>
            <a:off x="5388864" y="4078224"/>
            <a:ext cx="1853184" cy="640080"/>
          </a:xfrm>
          <a:prstGeom prst="rect">
            <a:avLst/>
          </a:prstGeom>
          <a:noFill/>
          <a:ln/>
        </p:spPr>
        <p:txBody>
          <a:bodyPr wrap="square" lIns="0" tIns="0" rIns="0" bIns="0" rtlCol="0" anchor="ctr"/>
          <a:lstStyle/>
          <a:p>
            <a:pPr algn="ctr" indent="0" marL="0">
              <a:buNone/>
            </a:pPr>
            <a:r>
              <a:rPr lang="en-US" sz="1300" dirty="0">
                <a:solidFill>
                  <a:schemeClr val="tx2"/>
                </a:solidFill>
              </a:rPr>
              <a:t>Domain APIs</a:t>
            </a:r>
            <a:endParaRPr lang="en-US" sz="1300" dirty="0"/>
          </a:p>
        </p:txBody>
      </p:sp>
      <p:sp>
        <p:nvSpPr>
          <p:cNvPr id="28" name="foundation"/>
          <p:cNvSpPr/>
          <p:nvPr/>
        </p:nvSpPr>
        <p:spPr>
          <a:xfrm>
            <a:off x="457200" y="5212080"/>
            <a:ext cx="6949440" cy="685800"/>
          </a:xfrm>
          <a:prstGeom prst="roundRect">
            <a:avLst>
              <a:gd name="adj" fmla="val 10667"/>
            </a:avLst>
          </a:prstGeom>
          <a:solidFill>
            <a:schemeClr val="tx2"/>
          </a:solidFill>
          <a:ln w="9525">
            <a:solidFill>
              <a:schemeClr val="tx2"/>
            </a:solidFill>
            <a:prstDash val="solid"/>
          </a:ln>
        </p:spPr>
      </p:sp>
      <p:sp>
        <p:nvSpPr>
          <p:cNvPr id="29" name="Text 27"/>
          <p:cNvSpPr txBox="1"/>
          <p:nvPr/>
        </p:nvSpPr>
        <p:spPr>
          <a:xfrm>
            <a:off x="685800" y="5212080"/>
            <a:ext cx="6492240" cy="685800"/>
          </a:xfrm>
          <a:prstGeom prst="rect">
            <a:avLst/>
          </a:prstGeom>
          <a:noFill/>
          <a:ln/>
        </p:spPr>
        <p:txBody>
          <a:bodyPr wrap="square" lIns="0" tIns="0" rIns="0" bIns="0" rtlCol="0" anchor="ctr"/>
          <a:lstStyle/>
          <a:p>
            <a:pPr indent="0" marL="0">
              <a:buNone/>
            </a:pPr>
            <a:r>
              <a:rPr lang="en-US" sz="1400" b="1" dirty="0">
                <a:solidFill>
                  <a:schemeClr val="accent2"/>
                </a:solidFill>
              </a:rPr>
              <a:t>Shared foundation  </a:t>
            </a:r>
            <a:pPr indent="0" marL="0">
              <a:buNone/>
            </a:pPr>
            <a:r>
              <a:rPr lang="en-US" sz="1400" dirty="0">
                <a:solidFill>
                  <a:schemeClr val="bg1"/>
                </a:solidFill>
              </a:rPr>
              <a:t>design system  |  auth  |  shared contracts  |  monitoring</a:t>
            </a:r>
            <a:endParaRPr lang="en-US" sz="1400" dirty="0"/>
          </a:p>
        </p:txBody>
      </p:sp>
      <p:sp>
        <p:nvSpPr>
          <p:cNvPr id="30" name="same"/>
          <p:cNvSpPr/>
          <p:nvPr/>
        </p:nvSpPr>
        <p:spPr>
          <a:xfrm>
            <a:off x="7726680" y="1600200"/>
            <a:ext cx="4007815" cy="2514600"/>
          </a:xfrm>
          <a:prstGeom prst="roundRect">
            <a:avLst>
              <a:gd name="adj" fmla="val 2909"/>
            </a:avLst>
          </a:prstGeom>
          <a:solidFill>
            <a:schemeClr val="bg1"/>
          </a:solidFill>
          <a:ln w="15875">
            <a:solidFill>
              <a:srgbClr val="CFD8D1"/>
            </a:solidFill>
            <a:prstDash val="solid"/>
          </a:ln>
        </p:spPr>
      </p:sp>
      <p:sp>
        <p:nvSpPr>
          <p:cNvPr id="31" name="Text 29"/>
          <p:cNvSpPr txBox="1"/>
          <p:nvPr/>
        </p:nvSpPr>
        <p:spPr>
          <a:xfrm>
            <a:off x="7955280" y="1737360"/>
            <a:ext cx="3550615" cy="320040"/>
          </a:xfrm>
          <a:prstGeom prst="rect">
            <a:avLst/>
          </a:prstGeom>
          <a:noFill/>
          <a:ln/>
        </p:spPr>
        <p:txBody>
          <a:bodyPr wrap="square" lIns="0" tIns="0" rIns="0" bIns="0" rtlCol="0" anchor="t"/>
          <a:lstStyle/>
          <a:p>
            <a:pPr indent="0" marL="0">
              <a:buNone/>
            </a:pPr>
            <a:r>
              <a:rPr lang="en-US" sz="1600" b="1" dirty="0">
                <a:solidFill>
                  <a:schemeClr val="tx2"/>
                </a:solidFill>
              </a:rPr>
              <a:t>Same in both choices</a:t>
            </a:r>
            <a:endParaRPr lang="en-US" sz="1600" dirty="0"/>
          </a:p>
        </p:txBody>
      </p:sp>
      <p:sp>
        <p:nvSpPr>
          <p:cNvPr id="32" name="Text 30"/>
          <p:cNvSpPr txBox="1"/>
          <p:nvPr/>
        </p:nvSpPr>
        <p:spPr>
          <a:xfrm>
            <a:off x="7955280" y="2148840"/>
            <a:ext cx="3550615" cy="1920240"/>
          </a:xfrm>
          <a:prstGeom prst="rect">
            <a:avLst/>
          </a:prstGeom>
          <a:noFill/>
          <a:ln/>
        </p:spPr>
        <p:txBody>
          <a:bodyPr wrap="square" lIns="0" tIns="0" rIns="0" bIns="0" rtlCol="0" anchor="t"/>
          <a:lstStyle/>
          <a:p>
            <a:pPr marL="165100" indent="-165100">
              <a:spcAft>
                <a:spcPts val="600"/>
              </a:spcAft>
              <a:buSzPct val="100000"/>
              <a:buChar char="•"/>
            </a:pPr>
            <a:r>
              <a:rPr lang="en-US" sz="1400" dirty="0">
                <a:solidFill>
                  <a:schemeClr val="tx1"/>
                </a:solidFill>
              </a:rPr>
              <a:t>Team owns its code, tests and quality gates</a:t>
            </a:r>
            <a:endParaRPr lang="en-US" sz="1400" dirty="0"/>
          </a:p>
          <a:p>
            <a:pPr marL="165100" indent="-165100">
              <a:spcAft>
                <a:spcPts val="600"/>
              </a:spcAft>
              <a:buSzPct val="100000"/>
              <a:buChar char="•"/>
            </a:pPr>
            <a:r>
              <a:rPr lang="en-US" sz="1400" dirty="0">
                <a:solidFill>
                  <a:schemeClr val="tx1"/>
                </a:solidFill>
              </a:rPr>
              <a:t>One framework and one design system</a:t>
            </a:r>
            <a:endParaRPr lang="en-US" sz="1400" dirty="0"/>
          </a:p>
          <a:p>
            <a:pPr marL="165100" indent="-165100">
              <a:spcAft>
                <a:spcPts val="600"/>
              </a:spcAft>
              <a:buSzPct val="100000"/>
              <a:buChar char="•"/>
            </a:pPr>
            <a:r>
              <a:rPr lang="en-US" sz="1400" dirty="0">
                <a:solidFill>
                  <a:schemeClr val="tx1"/>
                </a:solidFill>
              </a:rPr>
              <a:t>APIs owned per domain</a:t>
            </a:r>
            <a:endParaRPr lang="en-US" sz="1400" dirty="0"/>
          </a:p>
          <a:p>
            <a:pPr marL="165100" indent="-165100">
              <a:spcAft>
                <a:spcPts val="600"/>
              </a:spcAft>
              <a:buSzPct val="100000"/>
              <a:buChar char="•"/>
            </a:pPr>
            <a:r>
              <a:rPr lang="en-US" sz="1400" dirty="0">
                <a:solidFill>
                  <a:schemeClr val="tx1"/>
                </a:solidFill>
              </a:rPr>
              <a:t>Feature flags and the strangler path for legacy pages</a:t>
            </a:r>
            <a:endParaRPr lang="en-US" sz="1400" dirty="0"/>
          </a:p>
        </p:txBody>
      </p:sp>
      <p:sp>
        <p:nvSpPr>
          <p:cNvPr id="33" name="diff"/>
          <p:cNvSpPr/>
          <p:nvPr/>
        </p:nvSpPr>
        <p:spPr>
          <a:xfrm>
            <a:off x="7726680" y="4297680"/>
            <a:ext cx="4007815" cy="1600200"/>
          </a:xfrm>
          <a:prstGeom prst="roundRect">
            <a:avLst>
              <a:gd name="adj" fmla="val 4571"/>
            </a:avLst>
          </a:prstGeom>
          <a:solidFill>
            <a:schemeClr val="bg2"/>
          </a:solidFill>
          <a:ln w="15875">
            <a:solidFill>
              <a:schemeClr val="accent1"/>
            </a:solidFill>
            <a:prstDash val="solid"/>
          </a:ln>
        </p:spPr>
      </p:sp>
      <p:sp>
        <p:nvSpPr>
          <p:cNvPr id="34" name="Text 32"/>
          <p:cNvSpPr txBox="1"/>
          <p:nvPr/>
        </p:nvSpPr>
        <p:spPr>
          <a:xfrm>
            <a:off x="7955280" y="4416552"/>
            <a:ext cx="3550615" cy="320040"/>
          </a:xfrm>
          <a:prstGeom prst="rect">
            <a:avLst/>
          </a:prstGeom>
          <a:noFill/>
          <a:ln/>
        </p:spPr>
        <p:txBody>
          <a:bodyPr wrap="square" lIns="0" tIns="0" rIns="0" bIns="0" rtlCol="0" anchor="t"/>
          <a:lstStyle/>
          <a:p>
            <a:pPr indent="0" marL="0">
              <a:buNone/>
            </a:pPr>
            <a:r>
              <a:rPr lang="en-US" sz="1600" b="1" dirty="0">
                <a:solidFill>
                  <a:schemeClr val="tx2"/>
                </a:solidFill>
              </a:rPr>
              <a:t>The one difference</a:t>
            </a:r>
            <a:endParaRPr lang="en-US" sz="1600" dirty="0"/>
          </a:p>
        </p:txBody>
      </p:sp>
      <p:sp>
        <p:nvSpPr>
          <p:cNvPr id="35" name="Text 33"/>
          <p:cNvSpPr txBox="1"/>
          <p:nvPr/>
        </p:nvSpPr>
        <p:spPr>
          <a:xfrm>
            <a:off x="7955280" y="4800600"/>
            <a:ext cx="3550615" cy="100584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Micro frontend: </a:t>
            </a:r>
            <a:pPr indent="0" marL="0">
              <a:spcAft>
                <a:spcPts val="400"/>
              </a:spcAft>
              <a:buNone/>
            </a:pPr>
            <a:r>
              <a:rPr lang="en-US" sz="1400" dirty="0">
                <a:solidFill>
                  <a:schemeClr val="tx1"/>
                </a:solidFill>
              </a:rPr>
              <a:t>the slice is deployed on its own.</a:t>
            </a:r>
            <a:endParaRPr lang="en-US" sz="1400" dirty="0"/>
          </a:p>
          <a:p>
            <a:pPr indent="0" marL="0">
              <a:spcAft>
                <a:spcPts val="400"/>
              </a:spcAft>
              <a:buNone/>
            </a:pPr>
            <a:r>
              <a:rPr lang="en-US" sz="1400" b="1" dirty="0">
                <a:solidFill>
                  <a:srgbClr val="2D6A8A"/>
                </a:solidFill>
              </a:rPr>
              <a:t>Library: </a:t>
            </a:r>
            <a:pPr indent="0" marL="0">
              <a:spcAft>
                <a:spcPts val="400"/>
              </a:spcAft>
              <a:buNone/>
            </a:pPr>
            <a:r>
              <a:rPr lang="en-US" sz="1400" dirty="0">
                <a:solidFill>
                  <a:schemeClr val="tx1"/>
                </a:solidFill>
              </a:rPr>
              <a:t>the slice is installed into the app, which deploys it.</a:t>
            </a:r>
            <a:endParaRPr lang="en-US" sz="14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How a change reaches users under each choice</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With a library, every slice still travels through the app's build and release. With a micro frontend, it doesn't.</a:t>
            </a:r>
            <a:endParaRPr lang="en-US" sz="1600" dirty="0"/>
          </a:p>
        </p:txBody>
      </p:sp>
      <p:sp>
        <p:nvSpPr>
          <p:cNvPr id="4" name="lane-Choice 1"/>
          <p:cNvSpPr/>
          <p:nvPr/>
        </p:nvSpPr>
        <p:spPr>
          <a:xfrm>
            <a:off x="457200" y="1600200"/>
            <a:ext cx="1737360" cy="1417320"/>
          </a:xfrm>
          <a:prstGeom prst="roundRect">
            <a:avLst>
              <a:gd name="adj" fmla="val 5161"/>
            </a:avLst>
          </a:prstGeom>
          <a:solidFill>
            <a:schemeClr val="accent1"/>
          </a:solidFill>
          <a:ln w="9525">
            <a:solidFill>
              <a:schemeClr val="accent1"/>
            </a:solidFill>
            <a:prstDash val="solid"/>
          </a:ln>
        </p:spPr>
      </p:sp>
      <p:sp>
        <p:nvSpPr>
          <p:cNvPr id="5" name="Text 3"/>
          <p:cNvSpPr txBox="1"/>
          <p:nvPr/>
        </p:nvSpPr>
        <p:spPr>
          <a:xfrm>
            <a:off x="594360" y="1600200"/>
            <a:ext cx="1463040" cy="1417320"/>
          </a:xfrm>
          <a:prstGeom prst="rect">
            <a:avLst/>
          </a:prstGeom>
          <a:noFill/>
          <a:ln/>
        </p:spPr>
        <p:txBody>
          <a:bodyPr wrap="square" lIns="0" tIns="0" rIns="0" bIns="0" rtlCol="0" anchor="ctr"/>
          <a:lstStyle/>
          <a:p>
            <a:pPr indent="0" marL="0">
              <a:buNone/>
            </a:pPr>
            <a:r>
              <a:rPr lang="en-US" sz="1700" b="1" dirty="0">
                <a:solidFill>
                  <a:schemeClr val="bg1"/>
                </a:solidFill>
              </a:rPr>
              <a:t>Choice 1</a:t>
            </a:r>
            <a:endParaRPr lang="en-US" sz="1400" dirty="0"/>
          </a:p>
          <a:p>
            <a:pPr indent="0" marL="0">
              <a:buNone/>
            </a:pPr>
            <a:r>
              <a:rPr lang="en-US" sz="1200" dirty="0">
                <a:solidFill>
                  <a:schemeClr val="bg1"/>
                </a:solidFill>
              </a:rPr>
              <a:t>Micro frontend (deployable)</a:t>
            </a:r>
            <a:endParaRPr lang="en-US" sz="1400" dirty="0"/>
          </a:p>
        </p:txBody>
      </p:sp>
      <p:sp>
        <p:nvSpPr>
          <p:cNvPr id="6" name="step-Choice 1-0"/>
          <p:cNvSpPr/>
          <p:nvPr/>
        </p:nvSpPr>
        <p:spPr>
          <a:xfrm>
            <a:off x="2468880" y="1783080"/>
            <a:ext cx="1619037" cy="1051560"/>
          </a:xfrm>
          <a:prstGeom prst="roundRect">
            <a:avLst>
              <a:gd name="adj" fmla="val 6957"/>
            </a:avLst>
          </a:prstGeom>
          <a:solidFill>
            <a:srgbClr val="D9EED0"/>
          </a:solidFill>
          <a:ln w="9525">
            <a:solidFill>
              <a:srgbClr val="D9EED0"/>
            </a:solidFill>
            <a:prstDash val="solid"/>
          </a:ln>
        </p:spPr>
      </p:sp>
      <p:sp>
        <p:nvSpPr>
          <p:cNvPr id="7" name="Text 5"/>
          <p:cNvSpPr txBox="1"/>
          <p:nvPr/>
        </p:nvSpPr>
        <p:spPr>
          <a:xfrm>
            <a:off x="2560320" y="1783080"/>
            <a:ext cx="1436157" cy="1051560"/>
          </a:xfrm>
          <a:prstGeom prst="rect">
            <a:avLst/>
          </a:prstGeom>
          <a:noFill/>
          <a:ln/>
        </p:spPr>
        <p:txBody>
          <a:bodyPr wrap="square" lIns="0" tIns="0" rIns="0" bIns="0" rtlCol="0" anchor="ctr"/>
          <a:lstStyle/>
          <a:p>
            <a:pPr algn="ctr" indent="0" marL="0">
              <a:buNone/>
            </a:pPr>
            <a:r>
              <a:rPr lang="en-US" sz="1300" b="1" dirty="0">
                <a:solidFill>
                  <a:srgbClr val="0E3B16"/>
                </a:solidFill>
              </a:rPr>
              <a:t>Team changes its slice</a:t>
            </a:r>
            <a:endParaRPr lang="en-US" sz="1400" dirty="0"/>
          </a:p>
        </p:txBody>
      </p:sp>
      <p:sp>
        <p:nvSpPr>
          <p:cNvPr id="8" name="sa-Choice 1-0"/>
          <p:cNvSpPr/>
          <p:nvPr/>
        </p:nvSpPr>
        <p:spPr>
          <a:xfrm>
            <a:off x="4133637" y="2194560"/>
            <a:ext cx="201168" cy="228600"/>
          </a:xfrm>
          <a:prstGeom prst="rightArrow">
            <a:avLst/>
          </a:prstGeom>
          <a:solidFill>
            <a:schemeClr val="accent1"/>
          </a:solidFill>
          <a:ln w="12700">
            <a:solidFill>
              <a:schemeClr val="accent1"/>
            </a:solidFill>
            <a:prstDash val="solid"/>
          </a:ln>
        </p:spPr>
      </p:sp>
      <p:sp>
        <p:nvSpPr>
          <p:cNvPr id="9" name="step-Choice 1-1"/>
          <p:cNvSpPr/>
          <p:nvPr/>
        </p:nvSpPr>
        <p:spPr>
          <a:xfrm>
            <a:off x="4380525" y="1783080"/>
            <a:ext cx="1619037" cy="1051560"/>
          </a:xfrm>
          <a:prstGeom prst="roundRect">
            <a:avLst>
              <a:gd name="adj" fmla="val 6957"/>
            </a:avLst>
          </a:prstGeom>
          <a:solidFill>
            <a:srgbClr val="D9EED0"/>
          </a:solidFill>
          <a:ln w="9525">
            <a:solidFill>
              <a:srgbClr val="D9EED0"/>
            </a:solidFill>
            <a:prstDash val="solid"/>
          </a:ln>
        </p:spPr>
      </p:sp>
      <p:sp>
        <p:nvSpPr>
          <p:cNvPr id="10" name="Text 8"/>
          <p:cNvSpPr txBox="1"/>
          <p:nvPr/>
        </p:nvSpPr>
        <p:spPr>
          <a:xfrm>
            <a:off x="4471965" y="1783080"/>
            <a:ext cx="1436157" cy="1051560"/>
          </a:xfrm>
          <a:prstGeom prst="rect">
            <a:avLst/>
          </a:prstGeom>
          <a:noFill/>
          <a:ln/>
        </p:spPr>
        <p:txBody>
          <a:bodyPr wrap="square" lIns="0" tIns="0" rIns="0" bIns="0" rtlCol="0" anchor="ctr"/>
          <a:lstStyle/>
          <a:p>
            <a:pPr algn="ctr" indent="0" marL="0">
              <a:buNone/>
            </a:pPr>
            <a:r>
              <a:rPr lang="en-US" sz="1300" b="1" dirty="0">
                <a:solidFill>
                  <a:srgbClr val="0E3B16"/>
                </a:solidFill>
              </a:rPr>
              <a:t>Slice pipeline</a:t>
            </a:r>
            <a:endParaRPr lang="en-US" sz="1400" dirty="0"/>
          </a:p>
          <a:p>
            <a:pPr algn="ctr" indent="0" marL="0">
              <a:buNone/>
            </a:pPr>
            <a:r>
              <a:rPr lang="en-US" sz="1100" dirty="0">
                <a:solidFill>
                  <a:srgbClr val="5B6770"/>
                </a:solidFill>
              </a:rPr>
              <a:t>build, test, quality gates</a:t>
            </a:r>
            <a:endParaRPr lang="en-US" sz="1400" dirty="0"/>
          </a:p>
        </p:txBody>
      </p:sp>
      <p:sp>
        <p:nvSpPr>
          <p:cNvPr id="11" name="sa-Choice 1-1"/>
          <p:cNvSpPr/>
          <p:nvPr/>
        </p:nvSpPr>
        <p:spPr>
          <a:xfrm>
            <a:off x="6045281" y="2194560"/>
            <a:ext cx="201168" cy="228600"/>
          </a:xfrm>
          <a:prstGeom prst="rightArrow">
            <a:avLst/>
          </a:prstGeom>
          <a:solidFill>
            <a:schemeClr val="accent1"/>
          </a:solidFill>
          <a:ln w="12700">
            <a:solidFill>
              <a:schemeClr val="accent1"/>
            </a:solidFill>
            <a:prstDash val="solid"/>
          </a:ln>
        </p:spPr>
      </p:sp>
      <p:sp>
        <p:nvSpPr>
          <p:cNvPr id="12" name="step-Choice 1-2"/>
          <p:cNvSpPr/>
          <p:nvPr/>
        </p:nvSpPr>
        <p:spPr>
          <a:xfrm>
            <a:off x="6292169" y="1783080"/>
            <a:ext cx="1619037" cy="1051560"/>
          </a:xfrm>
          <a:prstGeom prst="roundRect">
            <a:avLst>
              <a:gd name="adj" fmla="val 6957"/>
            </a:avLst>
          </a:prstGeom>
          <a:solidFill>
            <a:srgbClr val="D9EED0"/>
          </a:solidFill>
          <a:ln w="9525">
            <a:solidFill>
              <a:srgbClr val="D9EED0"/>
            </a:solidFill>
            <a:prstDash val="solid"/>
          </a:ln>
        </p:spPr>
      </p:sp>
      <p:sp>
        <p:nvSpPr>
          <p:cNvPr id="13" name="Text 11"/>
          <p:cNvSpPr txBox="1"/>
          <p:nvPr/>
        </p:nvSpPr>
        <p:spPr>
          <a:xfrm>
            <a:off x="6383609" y="1783080"/>
            <a:ext cx="1436157" cy="1051560"/>
          </a:xfrm>
          <a:prstGeom prst="rect">
            <a:avLst/>
          </a:prstGeom>
          <a:noFill/>
          <a:ln/>
        </p:spPr>
        <p:txBody>
          <a:bodyPr wrap="square" lIns="0" tIns="0" rIns="0" bIns="0" rtlCol="0" anchor="ctr"/>
          <a:lstStyle/>
          <a:p>
            <a:pPr algn="ctr" indent="0" marL="0">
              <a:buNone/>
            </a:pPr>
            <a:r>
              <a:rPr lang="en-US" sz="1300" b="1" dirty="0">
                <a:solidFill>
                  <a:srgbClr val="0E3B16"/>
                </a:solidFill>
              </a:rPr>
              <a:t>Deploy the slice</a:t>
            </a:r>
            <a:endParaRPr lang="en-US" sz="1400" dirty="0"/>
          </a:p>
          <a:p>
            <a:pPr algn="ctr" indent="0" marL="0">
              <a:buNone/>
            </a:pPr>
            <a:r>
              <a:rPr lang="en-US" sz="1100" dirty="0">
                <a:solidFill>
                  <a:srgbClr val="5B6770"/>
                </a:solidFill>
              </a:rPr>
              <a:t>to its own hosting</a:t>
            </a:r>
            <a:endParaRPr lang="en-US" sz="1400" dirty="0"/>
          </a:p>
        </p:txBody>
      </p:sp>
      <p:sp>
        <p:nvSpPr>
          <p:cNvPr id="14" name="sa-Choice 1-2"/>
          <p:cNvSpPr/>
          <p:nvPr/>
        </p:nvSpPr>
        <p:spPr>
          <a:xfrm>
            <a:off x="7956926" y="2194560"/>
            <a:ext cx="201168" cy="228600"/>
          </a:xfrm>
          <a:prstGeom prst="rightArrow">
            <a:avLst/>
          </a:prstGeom>
          <a:solidFill>
            <a:schemeClr val="accent1"/>
          </a:solidFill>
          <a:ln w="12700">
            <a:solidFill>
              <a:schemeClr val="accent1"/>
            </a:solidFill>
            <a:prstDash val="solid"/>
          </a:ln>
        </p:spPr>
      </p:sp>
      <p:sp>
        <p:nvSpPr>
          <p:cNvPr id="15" name="step-Choice 1-3"/>
          <p:cNvSpPr/>
          <p:nvPr/>
        </p:nvSpPr>
        <p:spPr>
          <a:xfrm>
            <a:off x="8203814" y="1783080"/>
            <a:ext cx="1619037" cy="1051560"/>
          </a:xfrm>
          <a:prstGeom prst="roundRect">
            <a:avLst>
              <a:gd name="adj" fmla="val 6957"/>
            </a:avLst>
          </a:prstGeom>
          <a:solidFill>
            <a:srgbClr val="D9EED0"/>
          </a:solidFill>
          <a:ln w="9525">
            <a:solidFill>
              <a:srgbClr val="D9EED0"/>
            </a:solidFill>
            <a:prstDash val="solid"/>
          </a:ln>
        </p:spPr>
      </p:sp>
      <p:sp>
        <p:nvSpPr>
          <p:cNvPr id="16" name="Text 14"/>
          <p:cNvSpPr txBox="1"/>
          <p:nvPr/>
        </p:nvSpPr>
        <p:spPr>
          <a:xfrm>
            <a:off x="8295254" y="1783080"/>
            <a:ext cx="1436157" cy="1051560"/>
          </a:xfrm>
          <a:prstGeom prst="rect">
            <a:avLst/>
          </a:prstGeom>
          <a:noFill/>
          <a:ln/>
        </p:spPr>
        <p:txBody>
          <a:bodyPr wrap="square" lIns="0" tIns="0" rIns="0" bIns="0" rtlCol="0" anchor="ctr"/>
          <a:lstStyle/>
          <a:p>
            <a:pPr algn="ctr" indent="0" marL="0">
              <a:buNone/>
            </a:pPr>
            <a:r>
              <a:rPr lang="en-US" sz="1300" b="1" dirty="0">
                <a:solidFill>
                  <a:srgbClr val="0E3B16"/>
                </a:solidFill>
              </a:rPr>
              <a:t>Shell loads it</a:t>
            </a:r>
            <a:endParaRPr lang="en-US" sz="1400" dirty="0"/>
          </a:p>
          <a:p>
            <a:pPr algn="ctr" indent="0" marL="0">
              <a:buNone/>
            </a:pPr>
            <a:r>
              <a:rPr lang="en-US" sz="1100" dirty="0">
                <a:solidFill>
                  <a:srgbClr val="5B6770"/>
                </a:solidFill>
              </a:rPr>
              <a:t>on the next page load</a:t>
            </a:r>
            <a:endParaRPr lang="en-US" sz="1400" dirty="0"/>
          </a:p>
        </p:txBody>
      </p:sp>
      <p:sp>
        <p:nvSpPr>
          <p:cNvPr id="17" name="sa-Choice 1-3"/>
          <p:cNvSpPr/>
          <p:nvPr/>
        </p:nvSpPr>
        <p:spPr>
          <a:xfrm>
            <a:off x="9868571" y="2194560"/>
            <a:ext cx="201168" cy="228600"/>
          </a:xfrm>
          <a:prstGeom prst="rightArrow">
            <a:avLst/>
          </a:prstGeom>
          <a:solidFill>
            <a:schemeClr val="accent1"/>
          </a:solidFill>
          <a:ln w="12700">
            <a:solidFill>
              <a:schemeClr val="accent1"/>
            </a:solidFill>
            <a:prstDash val="solid"/>
          </a:ln>
        </p:spPr>
      </p:sp>
      <p:sp>
        <p:nvSpPr>
          <p:cNvPr id="18" name="step-Choice 1-4"/>
          <p:cNvSpPr/>
          <p:nvPr/>
        </p:nvSpPr>
        <p:spPr>
          <a:xfrm>
            <a:off x="10115459" y="1783080"/>
            <a:ext cx="1619037" cy="1051560"/>
          </a:xfrm>
          <a:prstGeom prst="roundRect">
            <a:avLst>
              <a:gd name="adj" fmla="val 6957"/>
            </a:avLst>
          </a:prstGeom>
          <a:solidFill>
            <a:schemeClr val="accent1"/>
          </a:solidFill>
          <a:ln w="9525">
            <a:solidFill>
              <a:schemeClr val="accent1"/>
            </a:solidFill>
            <a:prstDash val="solid"/>
          </a:ln>
        </p:spPr>
      </p:sp>
      <p:sp>
        <p:nvSpPr>
          <p:cNvPr id="19" name="Text 17"/>
          <p:cNvSpPr txBox="1"/>
          <p:nvPr/>
        </p:nvSpPr>
        <p:spPr>
          <a:xfrm>
            <a:off x="10206899" y="1783080"/>
            <a:ext cx="1436157" cy="1051560"/>
          </a:xfrm>
          <a:prstGeom prst="rect">
            <a:avLst/>
          </a:prstGeom>
          <a:noFill/>
          <a:ln/>
        </p:spPr>
        <p:txBody>
          <a:bodyPr wrap="square" lIns="0" tIns="0" rIns="0" bIns="0" rtlCol="0" anchor="ctr"/>
          <a:lstStyle/>
          <a:p>
            <a:pPr algn="ctr" indent="0" marL="0">
              <a:buNone/>
            </a:pPr>
            <a:r>
              <a:rPr lang="en-US" sz="1300" b="1" dirty="0">
                <a:solidFill>
                  <a:srgbClr val="FFFFFF"/>
                </a:solidFill>
              </a:rPr>
              <a:t>Users</a:t>
            </a:r>
            <a:endParaRPr lang="en-US" sz="1400" dirty="0"/>
          </a:p>
        </p:txBody>
      </p:sp>
      <p:sp>
        <p:nvSpPr>
          <p:cNvPr id="20" name="Text 18"/>
          <p:cNvSpPr txBox="1"/>
          <p:nvPr/>
        </p:nvSpPr>
        <p:spPr>
          <a:xfrm>
            <a:off x="2468880" y="3017520"/>
            <a:ext cx="9265615" cy="365760"/>
          </a:xfrm>
          <a:prstGeom prst="rect">
            <a:avLst/>
          </a:prstGeom>
          <a:noFill/>
          <a:ln/>
        </p:spPr>
        <p:txBody>
          <a:bodyPr wrap="square" lIns="0" tIns="0" rIns="0" bIns="0" rtlCol="0" anchor="t"/>
          <a:lstStyle/>
          <a:p>
            <a:pPr indent="0" marL="0">
              <a:buNone/>
            </a:pPr>
            <a:r>
              <a:rPr lang="en-US" sz="1300" i="1" dirty="0">
                <a:solidFill>
                  <a:schemeClr val="accent3"/>
                </a:solidFill>
              </a:rPr>
              <a:t>The owning team decides when. The app is not rebuilt.</a:t>
            </a:r>
            <a:endParaRPr lang="en-US" sz="1300" dirty="0"/>
          </a:p>
        </p:txBody>
      </p:sp>
      <p:sp>
        <p:nvSpPr>
          <p:cNvPr id="21" name="lane-Choice 2"/>
          <p:cNvSpPr/>
          <p:nvPr/>
        </p:nvSpPr>
        <p:spPr>
          <a:xfrm>
            <a:off x="457200" y="3886200"/>
            <a:ext cx="1737360" cy="1417320"/>
          </a:xfrm>
          <a:prstGeom prst="roundRect">
            <a:avLst>
              <a:gd name="adj" fmla="val 5161"/>
            </a:avLst>
          </a:prstGeom>
          <a:solidFill>
            <a:srgbClr val="2D6A8A"/>
          </a:solidFill>
          <a:ln w="9525">
            <a:solidFill>
              <a:srgbClr val="2D6A8A"/>
            </a:solidFill>
            <a:prstDash val="solid"/>
          </a:ln>
        </p:spPr>
      </p:sp>
      <p:sp>
        <p:nvSpPr>
          <p:cNvPr id="22" name="Text 20"/>
          <p:cNvSpPr txBox="1"/>
          <p:nvPr/>
        </p:nvSpPr>
        <p:spPr>
          <a:xfrm>
            <a:off x="594360" y="3886200"/>
            <a:ext cx="1463040" cy="1417320"/>
          </a:xfrm>
          <a:prstGeom prst="rect">
            <a:avLst/>
          </a:prstGeom>
          <a:noFill/>
          <a:ln/>
        </p:spPr>
        <p:txBody>
          <a:bodyPr wrap="square" lIns="0" tIns="0" rIns="0" bIns="0" rtlCol="0" anchor="ctr"/>
          <a:lstStyle/>
          <a:p>
            <a:pPr indent="0" marL="0">
              <a:buNone/>
            </a:pPr>
            <a:r>
              <a:rPr lang="en-US" sz="1700" b="1" dirty="0">
                <a:solidFill>
                  <a:schemeClr val="bg1"/>
                </a:solidFill>
              </a:rPr>
              <a:t>Choice 2</a:t>
            </a:r>
            <a:endParaRPr lang="en-US" sz="1400" dirty="0"/>
          </a:p>
          <a:p>
            <a:pPr indent="0" marL="0">
              <a:buNone/>
            </a:pPr>
            <a:r>
              <a:rPr lang="en-US" sz="1200" dirty="0">
                <a:solidFill>
                  <a:schemeClr val="bg1"/>
                </a:solidFill>
              </a:rPr>
              <a:t>Library (installed)</a:t>
            </a:r>
            <a:endParaRPr lang="en-US" sz="1400" dirty="0"/>
          </a:p>
        </p:txBody>
      </p:sp>
      <p:sp>
        <p:nvSpPr>
          <p:cNvPr id="23" name="step-Choice 2-0"/>
          <p:cNvSpPr/>
          <p:nvPr/>
        </p:nvSpPr>
        <p:spPr>
          <a:xfrm>
            <a:off x="2468880" y="4069080"/>
            <a:ext cx="1300429" cy="1051560"/>
          </a:xfrm>
          <a:prstGeom prst="roundRect">
            <a:avLst>
              <a:gd name="adj" fmla="val 6957"/>
            </a:avLst>
          </a:prstGeom>
          <a:solidFill>
            <a:srgbClr val="DCEAF2"/>
          </a:solidFill>
          <a:ln w="9525">
            <a:solidFill>
              <a:srgbClr val="DCEAF2"/>
            </a:solidFill>
            <a:prstDash val="solid"/>
          </a:ln>
        </p:spPr>
      </p:sp>
      <p:sp>
        <p:nvSpPr>
          <p:cNvPr id="24" name="Text 22"/>
          <p:cNvSpPr txBox="1"/>
          <p:nvPr/>
        </p:nvSpPr>
        <p:spPr>
          <a:xfrm>
            <a:off x="2560320" y="4069080"/>
            <a:ext cx="1117549" cy="1051560"/>
          </a:xfrm>
          <a:prstGeom prst="rect">
            <a:avLst/>
          </a:prstGeom>
          <a:noFill/>
          <a:ln/>
        </p:spPr>
        <p:txBody>
          <a:bodyPr wrap="square" lIns="0" tIns="0" rIns="0" bIns="0" rtlCol="0" anchor="ctr"/>
          <a:lstStyle/>
          <a:p>
            <a:pPr algn="ctr" indent="0" marL="0">
              <a:buNone/>
            </a:pPr>
            <a:r>
              <a:rPr lang="en-US" sz="1300" b="1" dirty="0">
                <a:solidFill>
                  <a:srgbClr val="0E3B16"/>
                </a:solidFill>
              </a:rPr>
              <a:t>Team changes its slice</a:t>
            </a:r>
            <a:endParaRPr lang="en-US" sz="1400" dirty="0"/>
          </a:p>
        </p:txBody>
      </p:sp>
      <p:sp>
        <p:nvSpPr>
          <p:cNvPr id="25" name="sa-Choice 2-0"/>
          <p:cNvSpPr/>
          <p:nvPr/>
        </p:nvSpPr>
        <p:spPr>
          <a:xfrm>
            <a:off x="3815029" y="4480560"/>
            <a:ext cx="201168" cy="228600"/>
          </a:xfrm>
          <a:prstGeom prst="rightArrow">
            <a:avLst/>
          </a:prstGeom>
          <a:solidFill>
            <a:srgbClr val="2D6A8A"/>
          </a:solidFill>
          <a:ln w="12700">
            <a:solidFill>
              <a:srgbClr val="2D6A8A"/>
            </a:solidFill>
            <a:prstDash val="solid"/>
          </a:ln>
        </p:spPr>
      </p:sp>
      <p:sp>
        <p:nvSpPr>
          <p:cNvPr id="26" name="step-Choice 2-1"/>
          <p:cNvSpPr/>
          <p:nvPr/>
        </p:nvSpPr>
        <p:spPr>
          <a:xfrm>
            <a:off x="4061917" y="4069080"/>
            <a:ext cx="1300429" cy="1051560"/>
          </a:xfrm>
          <a:prstGeom prst="roundRect">
            <a:avLst>
              <a:gd name="adj" fmla="val 6957"/>
            </a:avLst>
          </a:prstGeom>
          <a:solidFill>
            <a:srgbClr val="DCEAF2"/>
          </a:solidFill>
          <a:ln w="9525">
            <a:solidFill>
              <a:srgbClr val="DCEAF2"/>
            </a:solidFill>
            <a:prstDash val="solid"/>
          </a:ln>
        </p:spPr>
      </p:sp>
      <p:sp>
        <p:nvSpPr>
          <p:cNvPr id="27" name="Text 25"/>
          <p:cNvSpPr txBox="1"/>
          <p:nvPr/>
        </p:nvSpPr>
        <p:spPr>
          <a:xfrm>
            <a:off x="4153357" y="4069080"/>
            <a:ext cx="1117549" cy="1051560"/>
          </a:xfrm>
          <a:prstGeom prst="rect">
            <a:avLst/>
          </a:prstGeom>
          <a:noFill/>
          <a:ln/>
        </p:spPr>
        <p:txBody>
          <a:bodyPr wrap="square" lIns="0" tIns="0" rIns="0" bIns="0" rtlCol="0" anchor="ctr"/>
          <a:lstStyle/>
          <a:p>
            <a:pPr algn="ctr" indent="0" marL="0">
              <a:buNone/>
            </a:pPr>
            <a:r>
              <a:rPr lang="en-US" sz="1300" b="1" dirty="0">
                <a:solidFill>
                  <a:srgbClr val="0E3B16"/>
                </a:solidFill>
              </a:rPr>
              <a:t>Slice pipeline</a:t>
            </a:r>
            <a:endParaRPr lang="en-US" sz="1400" dirty="0"/>
          </a:p>
          <a:p>
            <a:pPr algn="ctr" indent="0" marL="0">
              <a:buNone/>
            </a:pPr>
            <a:r>
              <a:rPr lang="en-US" sz="1100" dirty="0">
                <a:solidFill>
                  <a:srgbClr val="5B6770"/>
                </a:solidFill>
              </a:rPr>
              <a:t>build, test, publish version</a:t>
            </a:r>
            <a:endParaRPr lang="en-US" sz="1400" dirty="0"/>
          </a:p>
        </p:txBody>
      </p:sp>
      <p:sp>
        <p:nvSpPr>
          <p:cNvPr id="28" name="sa-Choice 2-1"/>
          <p:cNvSpPr/>
          <p:nvPr/>
        </p:nvSpPr>
        <p:spPr>
          <a:xfrm>
            <a:off x="5408066" y="4480560"/>
            <a:ext cx="201168" cy="228600"/>
          </a:xfrm>
          <a:prstGeom prst="rightArrow">
            <a:avLst/>
          </a:prstGeom>
          <a:solidFill>
            <a:srgbClr val="2D6A8A"/>
          </a:solidFill>
          <a:ln w="12700">
            <a:solidFill>
              <a:srgbClr val="2D6A8A"/>
            </a:solidFill>
            <a:prstDash val="solid"/>
          </a:ln>
        </p:spPr>
      </p:sp>
      <p:sp>
        <p:nvSpPr>
          <p:cNvPr id="29" name="step-Choice 2-2"/>
          <p:cNvSpPr/>
          <p:nvPr/>
        </p:nvSpPr>
        <p:spPr>
          <a:xfrm>
            <a:off x="5654954" y="4069080"/>
            <a:ext cx="1300429" cy="1051560"/>
          </a:xfrm>
          <a:prstGeom prst="roundRect">
            <a:avLst>
              <a:gd name="adj" fmla="val 6957"/>
            </a:avLst>
          </a:prstGeom>
          <a:solidFill>
            <a:srgbClr val="DCEAF2"/>
          </a:solidFill>
          <a:ln w="9525">
            <a:solidFill>
              <a:srgbClr val="DCEAF2"/>
            </a:solidFill>
            <a:prstDash val="solid"/>
          </a:ln>
        </p:spPr>
      </p:sp>
      <p:sp>
        <p:nvSpPr>
          <p:cNvPr id="30" name="Text 28"/>
          <p:cNvSpPr txBox="1"/>
          <p:nvPr/>
        </p:nvSpPr>
        <p:spPr>
          <a:xfrm>
            <a:off x="5746394" y="4069080"/>
            <a:ext cx="1117549" cy="1051560"/>
          </a:xfrm>
          <a:prstGeom prst="rect">
            <a:avLst/>
          </a:prstGeom>
          <a:noFill/>
          <a:ln/>
        </p:spPr>
        <p:txBody>
          <a:bodyPr wrap="square" lIns="0" tIns="0" rIns="0" bIns="0" rtlCol="0" anchor="ctr"/>
          <a:lstStyle/>
          <a:p>
            <a:pPr algn="ctr" indent="0" marL="0">
              <a:buNone/>
            </a:pPr>
            <a:r>
              <a:rPr lang="en-US" sz="1300" b="1" dirty="0">
                <a:solidFill>
                  <a:srgbClr val="0E3B16"/>
                </a:solidFill>
              </a:rPr>
              <a:t>App bumps the version</a:t>
            </a:r>
            <a:endParaRPr lang="en-US" sz="1400" dirty="0"/>
          </a:p>
          <a:p>
            <a:pPr algn="ctr" indent="0" marL="0">
              <a:buNone/>
            </a:pPr>
            <a:r>
              <a:rPr lang="en-US" sz="1100" dirty="0">
                <a:solidFill>
                  <a:srgbClr val="5B6770"/>
                </a:solidFill>
              </a:rPr>
              <a:t>pull request in the app</a:t>
            </a:r>
            <a:endParaRPr lang="en-US" sz="1400" dirty="0"/>
          </a:p>
        </p:txBody>
      </p:sp>
      <p:sp>
        <p:nvSpPr>
          <p:cNvPr id="31" name="sa-Choice 2-2"/>
          <p:cNvSpPr/>
          <p:nvPr/>
        </p:nvSpPr>
        <p:spPr>
          <a:xfrm>
            <a:off x="7001104" y="4480560"/>
            <a:ext cx="201168" cy="228600"/>
          </a:xfrm>
          <a:prstGeom prst="rightArrow">
            <a:avLst/>
          </a:prstGeom>
          <a:solidFill>
            <a:srgbClr val="2D6A8A"/>
          </a:solidFill>
          <a:ln w="12700">
            <a:solidFill>
              <a:srgbClr val="2D6A8A"/>
            </a:solidFill>
            <a:prstDash val="solid"/>
          </a:ln>
        </p:spPr>
      </p:sp>
      <p:sp>
        <p:nvSpPr>
          <p:cNvPr id="32" name="step-Choice 2-3"/>
          <p:cNvSpPr/>
          <p:nvPr/>
        </p:nvSpPr>
        <p:spPr>
          <a:xfrm>
            <a:off x="7247992" y="4069080"/>
            <a:ext cx="1300429" cy="1051560"/>
          </a:xfrm>
          <a:prstGeom prst="roundRect">
            <a:avLst>
              <a:gd name="adj" fmla="val 6957"/>
            </a:avLst>
          </a:prstGeom>
          <a:solidFill>
            <a:srgbClr val="DCEAF2"/>
          </a:solidFill>
          <a:ln w="9525">
            <a:solidFill>
              <a:srgbClr val="DCEAF2"/>
            </a:solidFill>
            <a:prstDash val="solid"/>
          </a:ln>
        </p:spPr>
      </p:sp>
      <p:sp>
        <p:nvSpPr>
          <p:cNvPr id="33" name="Text 31"/>
          <p:cNvSpPr txBox="1"/>
          <p:nvPr/>
        </p:nvSpPr>
        <p:spPr>
          <a:xfrm>
            <a:off x="7339432" y="4069080"/>
            <a:ext cx="1117549" cy="1051560"/>
          </a:xfrm>
          <a:prstGeom prst="rect">
            <a:avLst/>
          </a:prstGeom>
          <a:noFill/>
          <a:ln/>
        </p:spPr>
        <p:txBody>
          <a:bodyPr wrap="square" lIns="0" tIns="0" rIns="0" bIns="0" rtlCol="0" anchor="ctr"/>
          <a:lstStyle/>
          <a:p>
            <a:pPr algn="ctr" indent="0" marL="0">
              <a:buNone/>
            </a:pPr>
            <a:r>
              <a:rPr lang="en-US" sz="1300" b="1" dirty="0">
                <a:solidFill>
                  <a:srgbClr val="0E3B16"/>
                </a:solidFill>
              </a:rPr>
              <a:t>App build and regression</a:t>
            </a:r>
            <a:endParaRPr lang="en-US" sz="1400" dirty="0"/>
          </a:p>
          <a:p>
            <a:pPr algn="ctr" indent="0" marL="0">
              <a:buNone/>
            </a:pPr>
            <a:r>
              <a:rPr lang="en-US" sz="1100" dirty="0">
                <a:solidFill>
                  <a:srgbClr val="5B6770"/>
                </a:solidFill>
              </a:rPr>
              <a:t>all slices together</a:t>
            </a:r>
            <a:endParaRPr lang="en-US" sz="1400" dirty="0"/>
          </a:p>
        </p:txBody>
      </p:sp>
      <p:sp>
        <p:nvSpPr>
          <p:cNvPr id="34" name="sa-Choice 2-3"/>
          <p:cNvSpPr/>
          <p:nvPr/>
        </p:nvSpPr>
        <p:spPr>
          <a:xfrm>
            <a:off x="8594141" y="4480560"/>
            <a:ext cx="201168" cy="228600"/>
          </a:xfrm>
          <a:prstGeom prst="rightArrow">
            <a:avLst/>
          </a:prstGeom>
          <a:solidFill>
            <a:srgbClr val="2D6A8A"/>
          </a:solidFill>
          <a:ln w="12700">
            <a:solidFill>
              <a:srgbClr val="2D6A8A"/>
            </a:solidFill>
            <a:prstDash val="solid"/>
          </a:ln>
        </p:spPr>
      </p:sp>
      <p:sp>
        <p:nvSpPr>
          <p:cNvPr id="35" name="step-Choice 2-4"/>
          <p:cNvSpPr/>
          <p:nvPr/>
        </p:nvSpPr>
        <p:spPr>
          <a:xfrm>
            <a:off x="8841029" y="4069080"/>
            <a:ext cx="1300429" cy="1051560"/>
          </a:xfrm>
          <a:prstGeom prst="roundRect">
            <a:avLst>
              <a:gd name="adj" fmla="val 6957"/>
            </a:avLst>
          </a:prstGeom>
          <a:solidFill>
            <a:srgbClr val="DCEAF2"/>
          </a:solidFill>
          <a:ln w="9525">
            <a:solidFill>
              <a:srgbClr val="DCEAF2"/>
            </a:solidFill>
            <a:prstDash val="solid"/>
          </a:ln>
        </p:spPr>
      </p:sp>
      <p:sp>
        <p:nvSpPr>
          <p:cNvPr id="36" name="Text 34"/>
          <p:cNvSpPr txBox="1"/>
          <p:nvPr/>
        </p:nvSpPr>
        <p:spPr>
          <a:xfrm>
            <a:off x="8932469" y="4069080"/>
            <a:ext cx="1117549" cy="1051560"/>
          </a:xfrm>
          <a:prstGeom prst="rect">
            <a:avLst/>
          </a:prstGeom>
          <a:noFill/>
          <a:ln/>
        </p:spPr>
        <p:txBody>
          <a:bodyPr wrap="square" lIns="0" tIns="0" rIns="0" bIns="0" rtlCol="0" anchor="ctr"/>
          <a:lstStyle/>
          <a:p>
            <a:pPr algn="ctr" indent="0" marL="0">
              <a:buNone/>
            </a:pPr>
            <a:r>
              <a:rPr lang="en-US" sz="1300" b="1" dirty="0">
                <a:solidFill>
                  <a:srgbClr val="0E3B16"/>
                </a:solidFill>
              </a:rPr>
              <a:t>App release</a:t>
            </a:r>
            <a:endParaRPr lang="en-US" sz="1400" dirty="0"/>
          </a:p>
          <a:p>
            <a:pPr algn="ctr" indent="0" marL="0">
              <a:buNone/>
            </a:pPr>
            <a:r>
              <a:rPr lang="en-US" sz="1100" dirty="0">
                <a:solidFill>
                  <a:srgbClr val="5B6770"/>
                </a:solidFill>
              </a:rPr>
              <a:t>next release window</a:t>
            </a:r>
            <a:endParaRPr lang="en-US" sz="1400" dirty="0"/>
          </a:p>
        </p:txBody>
      </p:sp>
      <p:sp>
        <p:nvSpPr>
          <p:cNvPr id="37" name="sa-Choice 2-4"/>
          <p:cNvSpPr/>
          <p:nvPr/>
        </p:nvSpPr>
        <p:spPr>
          <a:xfrm>
            <a:off x="10187178" y="4480560"/>
            <a:ext cx="201168" cy="228600"/>
          </a:xfrm>
          <a:prstGeom prst="rightArrow">
            <a:avLst/>
          </a:prstGeom>
          <a:solidFill>
            <a:srgbClr val="2D6A8A"/>
          </a:solidFill>
          <a:ln w="12700">
            <a:solidFill>
              <a:srgbClr val="2D6A8A"/>
            </a:solidFill>
            <a:prstDash val="solid"/>
          </a:ln>
        </p:spPr>
      </p:sp>
      <p:sp>
        <p:nvSpPr>
          <p:cNvPr id="38" name="step-Choice 2-5"/>
          <p:cNvSpPr/>
          <p:nvPr/>
        </p:nvSpPr>
        <p:spPr>
          <a:xfrm>
            <a:off x="10434066" y="4069080"/>
            <a:ext cx="1300429" cy="1051560"/>
          </a:xfrm>
          <a:prstGeom prst="roundRect">
            <a:avLst>
              <a:gd name="adj" fmla="val 6957"/>
            </a:avLst>
          </a:prstGeom>
          <a:solidFill>
            <a:srgbClr val="2D6A8A"/>
          </a:solidFill>
          <a:ln w="9525">
            <a:solidFill>
              <a:srgbClr val="2D6A8A"/>
            </a:solidFill>
            <a:prstDash val="solid"/>
          </a:ln>
        </p:spPr>
      </p:sp>
      <p:sp>
        <p:nvSpPr>
          <p:cNvPr id="39" name="Text 37"/>
          <p:cNvSpPr txBox="1"/>
          <p:nvPr/>
        </p:nvSpPr>
        <p:spPr>
          <a:xfrm>
            <a:off x="10525506" y="4069080"/>
            <a:ext cx="1117549" cy="1051560"/>
          </a:xfrm>
          <a:prstGeom prst="rect">
            <a:avLst/>
          </a:prstGeom>
          <a:noFill/>
          <a:ln/>
        </p:spPr>
        <p:txBody>
          <a:bodyPr wrap="square" lIns="0" tIns="0" rIns="0" bIns="0" rtlCol="0" anchor="ctr"/>
          <a:lstStyle/>
          <a:p>
            <a:pPr algn="ctr" indent="0" marL="0">
              <a:buNone/>
            </a:pPr>
            <a:r>
              <a:rPr lang="en-US" sz="1300" b="1" dirty="0">
                <a:solidFill>
                  <a:srgbClr val="FFFFFF"/>
                </a:solidFill>
              </a:rPr>
              <a:t>Users</a:t>
            </a:r>
            <a:endParaRPr lang="en-US" sz="1400" dirty="0"/>
          </a:p>
        </p:txBody>
      </p:sp>
      <p:sp>
        <p:nvSpPr>
          <p:cNvPr id="40" name="Text 38"/>
          <p:cNvSpPr txBox="1"/>
          <p:nvPr/>
        </p:nvSpPr>
        <p:spPr>
          <a:xfrm>
            <a:off x="2468880" y="5303520"/>
            <a:ext cx="9265615" cy="365760"/>
          </a:xfrm>
          <a:prstGeom prst="rect">
            <a:avLst/>
          </a:prstGeom>
          <a:noFill/>
          <a:ln/>
        </p:spPr>
        <p:txBody>
          <a:bodyPr wrap="square" lIns="0" tIns="0" rIns="0" bIns="0" rtlCol="0" anchor="t"/>
          <a:lstStyle/>
          <a:p>
            <a:pPr indent="0" marL="0">
              <a:buNone/>
            </a:pPr>
            <a:r>
              <a:rPr lang="en-US" sz="1300" i="1" dirty="0">
                <a:solidFill>
                  <a:srgbClr val="2D6A8A"/>
                </a:solidFill>
              </a:rPr>
              <a:t>The app's release decides when. All slices ship together.</a:t>
            </a:r>
            <a:endParaRPr lang="en-US" sz="13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Side-by-side comparison</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The library wins more rows; the micro frontend wins the rows tied to today's pain. Weigh, don't count.</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7295" cy="914400"/>
        </p:xfrm>
        <a:graphic>
          <a:graphicData uri="http://schemas.openxmlformats.org/drawingml/2006/table">
            <a:tbl>
              <a:tblPr/>
              <a:tblGrid>
                <a:gridCol w="2514600"/>
                <a:gridCol w="3657600"/>
                <a:gridCol w="3657600"/>
                <a:gridCol w="1444752"/>
              </a:tblGrid>
              <a:tr h="37033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Choice 1: Micro frontend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Choice 2: 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Edge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Time to first delivery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Slower: shell, hosting and pipelines first</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Faster: works with today's app and pipeline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Release independence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Each team deploys on its own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Teams publish; the app ships all slices together</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 frontend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368727"/>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Lead time for one fix</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Slice pipeline only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Slice pipeline + app integration + app release window</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 frontend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368727"/>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Setup effort</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High: federation, runtime config, shell</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Low: package registry and versioning</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Running cost</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More pipelines, hosting and runtime config</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One app pipeline plus library builds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Version safety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Versions meet at runtime; skew possible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Compiler checks all slices together</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Impact of a bad release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One domain; rolled back alone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The whole app release; rolled back together</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 frontend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368727"/>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Performance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Small runtime overhead; needs shared libraries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One optimized bundle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Local development</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Run the slice against a shell</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Run the app as today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Integration bottleneck</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Only shell changes need the platform team</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App team integrates every release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 frontend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368727"/>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Domain, contract and shell smoke tests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One integrated build, full regression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5B6770"/>
                          </a:solidFill>
                          <a:latin typeface="Calibri" pitchFamily="34" charset="0"/>
                          <a:ea typeface="Calibri" pitchFamily="34" charset="-122"/>
                          <a:cs typeface="Calibri" pitchFamily="34" charset="-120"/>
                        </a:rPr>
                        <a:t>Even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1F3F1"/>
                    </a:solidFill>
                  </a:tcPr>
                </a:tc>
              </a:tr>
              <a:tr h="370332">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User experience consistency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Same design system; needs governance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Same design system</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b="1" dirty="0">
                          <a:solidFill>
                            <a:srgbClr val="5B6770"/>
                          </a:solidFill>
                          <a:latin typeface="Calibri" pitchFamily="34" charset="0"/>
                          <a:ea typeface="Calibri" pitchFamily="34" charset="-122"/>
                          <a:cs typeface="Calibri" pitchFamily="34" charset="-120"/>
                        </a:rPr>
                        <a:t>Even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1F3F1"/>
                    </a:solidFill>
                  </a:tcPr>
                </a:tc>
              </a:tr>
            </a:tbl>
          </a:graphicData>
        </a:graphic>
      </p:graphicFrame>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Time to market depends on how often the app can release</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The library route is faster to start. After that, the gap between the two equals the wait for the app's next release.</a:t>
            </a:r>
            <a:endParaRPr lang="en-US" sz="1600" dirty="0"/>
          </a:p>
        </p:txBody>
      </p:sp>
      <p:sp>
        <p:nvSpPr>
          <p:cNvPr id="4" name="near"/>
          <p:cNvSpPr/>
          <p:nvPr/>
        </p:nvSpPr>
        <p:spPr>
          <a:xfrm>
            <a:off x="457200" y="1554480"/>
            <a:ext cx="5501488" cy="2057400"/>
          </a:xfrm>
          <a:prstGeom prst="roundRect">
            <a:avLst>
              <a:gd name="adj" fmla="val 3556"/>
            </a:avLst>
          </a:prstGeom>
          <a:solidFill>
            <a:srgbClr val="DCEAF2"/>
          </a:solidFill>
          <a:ln w="9525">
            <a:solidFill>
              <a:srgbClr val="DCEAF2"/>
            </a:solidFill>
            <a:prstDash val="solid"/>
          </a:ln>
        </p:spPr>
      </p:sp>
      <p:sp>
        <p:nvSpPr>
          <p:cNvPr id="5" name="Text 3"/>
          <p:cNvSpPr txBox="1"/>
          <p:nvPr/>
        </p:nvSpPr>
        <p:spPr>
          <a:xfrm>
            <a:off x="685800" y="1719072"/>
            <a:ext cx="5044288" cy="320040"/>
          </a:xfrm>
          <a:prstGeom prst="rect">
            <a:avLst/>
          </a:prstGeom>
          <a:noFill/>
          <a:ln/>
        </p:spPr>
        <p:txBody>
          <a:bodyPr wrap="square" lIns="0" tIns="0" rIns="0" bIns="0" rtlCol="0" anchor="t"/>
          <a:lstStyle/>
          <a:p>
            <a:pPr indent="0" marL="0">
              <a:buNone/>
            </a:pPr>
            <a:r>
              <a:rPr lang="en-US" sz="1600" b="1" dirty="0">
                <a:solidFill>
                  <a:schemeClr val="tx2"/>
                </a:solidFill>
              </a:rPr>
              <a:t>Near term: the first domain</a:t>
            </a:r>
            <a:endParaRPr lang="en-US" sz="1600" dirty="0"/>
          </a:p>
        </p:txBody>
      </p:sp>
      <p:sp>
        <p:nvSpPr>
          <p:cNvPr id="6" name="Text 4"/>
          <p:cNvSpPr txBox="1"/>
          <p:nvPr/>
        </p:nvSpPr>
        <p:spPr>
          <a:xfrm>
            <a:off x="685800" y="2148840"/>
            <a:ext cx="5044288" cy="1371600"/>
          </a:xfrm>
          <a:prstGeom prst="rect">
            <a:avLst/>
          </a:prstGeom>
          <a:noFill/>
          <a:ln/>
        </p:spPr>
        <p:txBody>
          <a:bodyPr wrap="square" lIns="0" tIns="0" rIns="0" bIns="0" rtlCol="0" anchor="t"/>
          <a:lstStyle/>
          <a:p>
            <a:pPr marL="165100" indent="-165100">
              <a:spcAft>
                <a:spcPts val="600"/>
              </a:spcAft>
              <a:buSzPct val="100000"/>
              <a:buChar char="•"/>
            </a:pPr>
            <a:r>
              <a:rPr lang="en-US" sz="1400" dirty="0">
                <a:solidFill>
                  <a:schemeClr val="tx1"/>
                </a:solidFill>
              </a:rPr>
              <a:t>Library: start now with today's app, pipeline and hosting</a:t>
            </a:r>
            <a:endParaRPr lang="en-US" sz="1400" dirty="0"/>
          </a:p>
          <a:p>
            <a:pPr marL="165100" indent="-165100">
              <a:spcAft>
                <a:spcPts val="600"/>
              </a:spcAft>
              <a:buSzPct val="100000"/>
              <a:buChar char="•"/>
            </a:pPr>
            <a:r>
              <a:rPr lang="en-US" sz="1400" dirty="0">
                <a:solidFill>
                  <a:schemeClr val="tx1"/>
                </a:solidFill>
              </a:rPr>
              <a:t>Micro frontend: shell, hosting, runtime config and pipelines come first</a:t>
            </a:r>
            <a:endParaRPr lang="en-US" sz="1400" dirty="0"/>
          </a:p>
          <a:p>
            <a:pPr marL="165100" indent="-165100">
              <a:spcAft>
                <a:spcPts val="600"/>
              </a:spcAft>
              <a:buSzPct val="100000"/>
              <a:buChar char="•"/>
            </a:pPr>
            <a:r>
              <a:rPr lang="en-US" sz="1400" dirty="0">
                <a:solidFill>
                  <a:schemeClr val="tx1"/>
                </a:solidFill>
              </a:rPr>
              <a:t>Edge: library</a:t>
            </a:r>
            <a:endParaRPr lang="en-US" sz="1400" dirty="0"/>
          </a:p>
        </p:txBody>
      </p:sp>
      <p:sp>
        <p:nvSpPr>
          <p:cNvPr id="7" name="steady"/>
          <p:cNvSpPr/>
          <p:nvPr/>
        </p:nvSpPr>
        <p:spPr>
          <a:xfrm>
            <a:off x="6233008" y="1554480"/>
            <a:ext cx="5501488" cy="2057400"/>
          </a:xfrm>
          <a:prstGeom prst="roundRect">
            <a:avLst>
              <a:gd name="adj" fmla="val 3556"/>
            </a:avLst>
          </a:prstGeom>
          <a:solidFill>
            <a:srgbClr val="D9EED0"/>
          </a:solidFill>
          <a:ln w="9525">
            <a:solidFill>
              <a:srgbClr val="D9EED0"/>
            </a:solidFill>
            <a:prstDash val="solid"/>
          </a:ln>
        </p:spPr>
      </p:sp>
      <p:sp>
        <p:nvSpPr>
          <p:cNvPr id="8" name="Text 6"/>
          <p:cNvSpPr txBox="1"/>
          <p:nvPr/>
        </p:nvSpPr>
        <p:spPr>
          <a:xfrm>
            <a:off x="6461608" y="1719072"/>
            <a:ext cx="5044288" cy="320040"/>
          </a:xfrm>
          <a:prstGeom prst="rect">
            <a:avLst/>
          </a:prstGeom>
          <a:noFill/>
          <a:ln/>
        </p:spPr>
        <p:txBody>
          <a:bodyPr wrap="square" lIns="0" tIns="0" rIns="0" bIns="0" rtlCol="0" anchor="t"/>
          <a:lstStyle/>
          <a:p>
            <a:pPr indent="0" marL="0">
              <a:buNone/>
            </a:pPr>
            <a:r>
              <a:rPr lang="en-US" sz="1600" b="1" dirty="0">
                <a:solidFill>
                  <a:schemeClr val="tx2"/>
                </a:solidFill>
              </a:rPr>
              <a:t>Steady state: every change after that</a:t>
            </a:r>
            <a:endParaRPr lang="en-US" sz="1600" dirty="0"/>
          </a:p>
        </p:txBody>
      </p:sp>
      <p:sp>
        <p:nvSpPr>
          <p:cNvPr id="9" name="Text 7"/>
          <p:cNvSpPr txBox="1"/>
          <p:nvPr/>
        </p:nvSpPr>
        <p:spPr>
          <a:xfrm>
            <a:off x="6461608" y="2148840"/>
            <a:ext cx="5044288" cy="1371600"/>
          </a:xfrm>
          <a:prstGeom prst="rect">
            <a:avLst/>
          </a:prstGeom>
          <a:noFill/>
          <a:ln/>
        </p:spPr>
        <p:txBody>
          <a:bodyPr wrap="square" lIns="0" tIns="0" rIns="0" bIns="0" rtlCol="0" anchor="t"/>
          <a:lstStyle/>
          <a:p>
            <a:pPr marL="165100" indent="-165100">
              <a:spcAft>
                <a:spcPts val="600"/>
              </a:spcAft>
              <a:buSzPct val="100000"/>
              <a:buChar char="•"/>
            </a:pPr>
            <a:r>
              <a:rPr lang="en-US" sz="1400" dirty="0">
                <a:solidFill>
                  <a:schemeClr val="tx1"/>
                </a:solidFill>
              </a:rPr>
              <a:t>Micro frontend: a change ships when its own pipeline finishes</a:t>
            </a:r>
            <a:endParaRPr lang="en-US" sz="1400" dirty="0"/>
          </a:p>
          <a:p>
            <a:pPr marL="165100" indent="-165100">
              <a:spcAft>
                <a:spcPts val="600"/>
              </a:spcAft>
              <a:buSzPct val="100000"/>
              <a:buChar char="•"/>
            </a:pPr>
            <a:r>
              <a:rPr lang="en-US" sz="1400" dirty="0">
                <a:solidFill>
                  <a:schemeClr val="tx1"/>
                </a:solidFill>
              </a:rPr>
              <a:t>Library: a change also waits for app integration and the next app release</a:t>
            </a:r>
            <a:endParaRPr lang="en-US" sz="1400" dirty="0"/>
          </a:p>
          <a:p>
            <a:pPr marL="165100" indent="-165100">
              <a:spcAft>
                <a:spcPts val="600"/>
              </a:spcAft>
              <a:buSzPct val="100000"/>
              <a:buChar char="•"/>
            </a:pPr>
            <a:r>
              <a:rPr lang="en-US" sz="1400" dirty="0">
                <a:solidFill>
                  <a:schemeClr val="tx1"/>
                </a:solidFill>
              </a:rPr>
              <a:t>Edge: micro frontend, by the size of that wait</a:t>
            </a:r>
            <a:endParaRPr lang="en-US" sz="1400" dirty="0"/>
          </a:p>
        </p:txBody>
      </p:sp>
      <p:sp>
        <p:nvSpPr>
          <p:cNvPr id="10" name="Text 8"/>
          <p:cNvSpPr txBox="1"/>
          <p:nvPr/>
        </p:nvSpPr>
        <p:spPr>
          <a:xfrm>
            <a:off x="457200" y="3840480"/>
            <a:ext cx="11277295" cy="320040"/>
          </a:xfrm>
          <a:prstGeom prst="rect">
            <a:avLst/>
          </a:prstGeom>
          <a:noFill/>
          <a:ln/>
        </p:spPr>
        <p:txBody>
          <a:bodyPr wrap="square" lIns="0" tIns="0" rIns="0" bIns="0" rtlCol="0" anchor="t"/>
          <a:lstStyle/>
          <a:p>
            <a:pPr indent="0" marL="0">
              <a:buNone/>
            </a:pPr>
            <a:r>
              <a:rPr lang="en-US" sz="1500" b="1" dirty="0">
                <a:solidFill>
                  <a:schemeClr val="tx2"/>
                </a:solidFill>
              </a:rPr>
              <a:t>Lead time for one change</a:t>
            </a:r>
            <a:endParaRPr lang="en-US" sz="1500" dirty="0"/>
          </a:p>
        </p:txBody>
      </p:sp>
      <p:sp>
        <p:nvSpPr>
          <p:cNvPr id="11" name="Text 9"/>
          <p:cNvSpPr txBox="1"/>
          <p:nvPr/>
        </p:nvSpPr>
        <p:spPr>
          <a:xfrm>
            <a:off x="457200" y="4297680"/>
            <a:ext cx="1737360" cy="502920"/>
          </a:xfrm>
          <a:prstGeom prst="rect">
            <a:avLst/>
          </a:prstGeom>
          <a:noFill/>
          <a:ln/>
        </p:spPr>
        <p:txBody>
          <a:bodyPr wrap="square" lIns="0" tIns="0" rIns="0" bIns="0" rtlCol="0" anchor="ctr"/>
          <a:lstStyle/>
          <a:p>
            <a:pPr indent="0" marL="0">
              <a:buNone/>
            </a:pPr>
            <a:r>
              <a:rPr lang="en-US" sz="1400" b="1" dirty="0">
                <a:solidFill>
                  <a:schemeClr val="accent3"/>
                </a:solidFill>
              </a:rPr>
              <a:t>Micro frontend</a:t>
            </a:r>
            <a:endParaRPr lang="en-US" sz="1400" dirty="0"/>
          </a:p>
        </p:txBody>
      </p:sp>
      <p:sp>
        <p:nvSpPr>
          <p:cNvPr id="12" name="seg-0-0"/>
          <p:cNvSpPr/>
          <p:nvPr/>
        </p:nvSpPr>
        <p:spPr>
          <a:xfrm>
            <a:off x="2286000" y="4297680"/>
            <a:ext cx="2926080" cy="502920"/>
          </a:xfrm>
          <a:prstGeom prst="rect">
            <a:avLst/>
          </a:prstGeom>
          <a:solidFill>
            <a:srgbClr val="D9EED0"/>
          </a:solidFill>
          <a:ln w="12700">
            <a:solidFill>
              <a:srgbClr val="C9D2CB"/>
            </a:solidFill>
            <a:prstDash val="solid"/>
          </a:ln>
        </p:spPr>
      </p:sp>
      <p:sp>
        <p:nvSpPr>
          <p:cNvPr id="13" name="Text 11"/>
          <p:cNvSpPr txBox="1"/>
          <p:nvPr/>
        </p:nvSpPr>
        <p:spPr>
          <a:xfrm>
            <a:off x="2286000" y="4297680"/>
            <a:ext cx="2926080" cy="502920"/>
          </a:xfrm>
          <a:prstGeom prst="rect">
            <a:avLst/>
          </a:prstGeom>
          <a:noFill/>
          <a:ln/>
        </p:spPr>
        <p:txBody>
          <a:bodyPr wrap="square" lIns="0" tIns="0" rIns="0" bIns="0" rtlCol="0" anchor="ctr"/>
          <a:lstStyle/>
          <a:p>
            <a:pPr algn="ctr" indent="0" marL="0">
              <a:buNone/>
            </a:pPr>
            <a:r>
              <a:rPr lang="en-US" sz="1200" dirty="0">
                <a:solidFill>
                  <a:schemeClr val="tx2"/>
                </a:solidFill>
              </a:rPr>
              <a:t>Slice pipeline</a:t>
            </a:r>
            <a:endParaRPr lang="en-US" sz="1200" dirty="0"/>
          </a:p>
        </p:txBody>
      </p:sp>
      <p:sp>
        <p:nvSpPr>
          <p:cNvPr id="14" name="Text 12"/>
          <p:cNvSpPr txBox="1"/>
          <p:nvPr/>
        </p:nvSpPr>
        <p:spPr>
          <a:xfrm>
            <a:off x="457200" y="4956048"/>
            <a:ext cx="1737360" cy="502920"/>
          </a:xfrm>
          <a:prstGeom prst="rect">
            <a:avLst/>
          </a:prstGeom>
          <a:noFill/>
          <a:ln/>
        </p:spPr>
        <p:txBody>
          <a:bodyPr wrap="square" lIns="0" tIns="0" rIns="0" bIns="0" rtlCol="0" anchor="ctr"/>
          <a:lstStyle/>
          <a:p>
            <a:pPr indent="0" marL="0">
              <a:buNone/>
            </a:pPr>
            <a:r>
              <a:rPr lang="en-US" sz="1400" b="1" dirty="0">
                <a:solidFill>
                  <a:srgbClr val="2D6A8A"/>
                </a:solidFill>
              </a:rPr>
              <a:t>Library</a:t>
            </a:r>
            <a:endParaRPr lang="en-US" sz="1400" dirty="0"/>
          </a:p>
        </p:txBody>
      </p:sp>
      <p:sp>
        <p:nvSpPr>
          <p:cNvPr id="15" name="seg-1-0"/>
          <p:cNvSpPr/>
          <p:nvPr/>
        </p:nvSpPr>
        <p:spPr>
          <a:xfrm>
            <a:off x="2286000" y="4956048"/>
            <a:ext cx="2926080" cy="502920"/>
          </a:xfrm>
          <a:prstGeom prst="rect">
            <a:avLst/>
          </a:prstGeom>
          <a:solidFill>
            <a:srgbClr val="DCEAF2"/>
          </a:solidFill>
          <a:ln w="12700">
            <a:solidFill>
              <a:srgbClr val="C9D2CB"/>
            </a:solidFill>
            <a:prstDash val="solid"/>
          </a:ln>
        </p:spPr>
      </p:sp>
      <p:sp>
        <p:nvSpPr>
          <p:cNvPr id="16" name="Text 14"/>
          <p:cNvSpPr txBox="1"/>
          <p:nvPr/>
        </p:nvSpPr>
        <p:spPr>
          <a:xfrm>
            <a:off x="2286000" y="4956048"/>
            <a:ext cx="2926080" cy="502920"/>
          </a:xfrm>
          <a:prstGeom prst="rect">
            <a:avLst/>
          </a:prstGeom>
          <a:noFill/>
          <a:ln/>
        </p:spPr>
        <p:txBody>
          <a:bodyPr wrap="square" lIns="0" tIns="0" rIns="0" bIns="0" rtlCol="0" anchor="ctr"/>
          <a:lstStyle/>
          <a:p>
            <a:pPr algn="ctr" indent="0" marL="0">
              <a:buNone/>
            </a:pPr>
            <a:r>
              <a:rPr lang="en-US" sz="1200" dirty="0">
                <a:solidFill>
                  <a:schemeClr val="tx2"/>
                </a:solidFill>
              </a:rPr>
              <a:t>Slice pipeline</a:t>
            </a:r>
            <a:endParaRPr lang="en-US" sz="1200" dirty="0"/>
          </a:p>
        </p:txBody>
      </p:sp>
      <p:sp>
        <p:nvSpPr>
          <p:cNvPr id="17" name="seg-1-1"/>
          <p:cNvSpPr/>
          <p:nvPr/>
        </p:nvSpPr>
        <p:spPr>
          <a:xfrm>
            <a:off x="5212080" y="4956048"/>
            <a:ext cx="2011680" cy="502920"/>
          </a:xfrm>
          <a:prstGeom prst="rect">
            <a:avLst/>
          </a:prstGeom>
          <a:solidFill>
            <a:srgbClr val="DCEAF2"/>
          </a:solidFill>
          <a:ln w="12700">
            <a:solidFill>
              <a:srgbClr val="C9D2CB"/>
            </a:solidFill>
            <a:prstDash val="solid"/>
          </a:ln>
        </p:spPr>
      </p:sp>
      <p:sp>
        <p:nvSpPr>
          <p:cNvPr id="18" name="Text 16"/>
          <p:cNvSpPr txBox="1"/>
          <p:nvPr/>
        </p:nvSpPr>
        <p:spPr>
          <a:xfrm>
            <a:off x="5212080" y="4956048"/>
            <a:ext cx="2011680" cy="502920"/>
          </a:xfrm>
          <a:prstGeom prst="rect">
            <a:avLst/>
          </a:prstGeom>
          <a:noFill/>
          <a:ln/>
        </p:spPr>
        <p:txBody>
          <a:bodyPr wrap="square" lIns="0" tIns="0" rIns="0" bIns="0" rtlCol="0" anchor="ctr"/>
          <a:lstStyle/>
          <a:p>
            <a:pPr algn="ctr" indent="0" marL="0">
              <a:buNone/>
            </a:pPr>
            <a:r>
              <a:rPr lang="en-US" sz="1200" dirty="0">
                <a:solidFill>
                  <a:schemeClr val="tx2"/>
                </a:solidFill>
              </a:rPr>
              <a:t>App integration</a:t>
            </a:r>
            <a:endParaRPr lang="en-US" sz="1200" dirty="0"/>
          </a:p>
        </p:txBody>
      </p:sp>
      <p:sp>
        <p:nvSpPr>
          <p:cNvPr id="19" name="seg-1-2"/>
          <p:cNvSpPr/>
          <p:nvPr/>
        </p:nvSpPr>
        <p:spPr>
          <a:xfrm>
            <a:off x="7223760" y="4956048"/>
            <a:ext cx="3200400" cy="502920"/>
          </a:xfrm>
          <a:prstGeom prst="rect">
            <a:avLst/>
          </a:prstGeom>
          <a:solidFill>
            <a:srgbClr val="FBE9C6"/>
          </a:solidFill>
          <a:ln w="12700">
            <a:solidFill>
              <a:srgbClr val="C9D2CB"/>
            </a:solidFill>
            <a:prstDash val="solid"/>
          </a:ln>
        </p:spPr>
      </p:sp>
      <p:sp>
        <p:nvSpPr>
          <p:cNvPr id="20" name="Text 18"/>
          <p:cNvSpPr txBox="1"/>
          <p:nvPr/>
        </p:nvSpPr>
        <p:spPr>
          <a:xfrm>
            <a:off x="7223760" y="4956048"/>
            <a:ext cx="3200400" cy="502920"/>
          </a:xfrm>
          <a:prstGeom prst="rect">
            <a:avLst/>
          </a:prstGeom>
          <a:noFill/>
          <a:ln/>
        </p:spPr>
        <p:txBody>
          <a:bodyPr wrap="square" lIns="0" tIns="0" rIns="0" bIns="0" rtlCol="0" anchor="ctr"/>
          <a:lstStyle/>
          <a:p>
            <a:pPr algn="ctr" indent="0" marL="0">
              <a:buNone/>
            </a:pPr>
            <a:r>
              <a:rPr lang="en-US" sz="1200" dirty="0">
                <a:solidFill>
                  <a:schemeClr val="tx2"/>
                </a:solidFill>
              </a:rPr>
              <a:t>Wait for the app release window</a:t>
            </a:r>
            <a:endParaRPr lang="en-US" sz="1200" dirty="0"/>
          </a:p>
        </p:txBody>
      </p:sp>
      <p:sp>
        <p:nvSpPr>
          <p:cNvPr id="21" name="Text 19"/>
          <p:cNvSpPr txBox="1"/>
          <p:nvPr/>
        </p:nvSpPr>
        <p:spPr>
          <a:xfrm>
            <a:off x="457200" y="5669280"/>
            <a:ext cx="11277295" cy="548640"/>
          </a:xfrm>
          <a:prstGeom prst="rect">
            <a:avLst/>
          </a:prstGeom>
          <a:noFill/>
          <a:ln/>
        </p:spPr>
        <p:txBody>
          <a:bodyPr wrap="square" lIns="0" tIns="0" rIns="0" bIns="0" rtlCol="0" anchor="t"/>
          <a:lstStyle/>
          <a:p>
            <a:pPr indent="0" marL="0">
              <a:buNone/>
            </a:pPr>
            <a:r>
              <a:rPr lang="en-US" sz="1300" i="1" dirty="0">
                <a:solidFill>
                  <a:schemeClr val="accent5"/>
                </a:solidFill>
              </a:rPr>
              <a:t>Not to scale. If the app releases daily with automated regression, the amber wait is small and the choices are close. If releases are weekly or need manual regression, the micro frontend is clearly faster.</a:t>
            </a:r>
            <a:endParaRPr lang="en-US" sz="13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When each choice fits best</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Neither is better in general. Each fits a different set of conditions, and we should check which set is ours.</a:t>
            </a:r>
            <a:endParaRPr lang="en-US" sz="1600" dirty="0"/>
          </a:p>
        </p:txBody>
      </p:sp>
      <p:sp>
        <p:nvSpPr>
          <p:cNvPr id="4" name="fit-0"/>
          <p:cNvSpPr/>
          <p:nvPr/>
        </p:nvSpPr>
        <p:spPr>
          <a:xfrm>
            <a:off x="457200" y="1554480"/>
            <a:ext cx="5501488" cy="4343400"/>
          </a:xfrm>
          <a:prstGeom prst="roundRect">
            <a:avLst>
              <a:gd name="adj" fmla="val 1684"/>
            </a:avLst>
          </a:prstGeom>
          <a:solidFill>
            <a:srgbClr val="D9EED0"/>
          </a:solidFill>
          <a:ln w="9525">
            <a:solidFill>
              <a:srgbClr val="D9EED0"/>
            </a:solidFill>
            <a:prstDash val="solid"/>
          </a:ln>
        </p:spPr>
      </p:sp>
      <p:sp>
        <p:nvSpPr>
          <p:cNvPr id="5" name="icon-circle-FaRocket"/>
          <p:cNvSpPr/>
          <p:nvPr/>
        </p:nvSpPr>
        <p:spPr>
          <a:xfrm>
            <a:off x="685800" y="1755648"/>
            <a:ext cx="502920" cy="502920"/>
          </a:xfrm>
          <a:prstGeom prst="ellipse">
            <a:avLst/>
          </a:prstGeom>
          <a:solidFill>
            <a:schemeClr val="accent1"/>
          </a:solidFill>
          <a:ln w="12700">
            <a:solidFill>
              <a:schemeClr val="accent1"/>
            </a:solidFill>
            <a:prstDash val="solid"/>
          </a:ln>
        </p:spPr>
      </p:sp>
      <p:pic>
        <p:nvPicPr>
          <p:cNvPr id="6" name="icon-FaRocket" descr="preencoded.png">    </p:cNvPr>
          <p:cNvPicPr>
            <a:picLocks noChangeAspect="1"/>
          </p:cNvPicPr>
          <p:nvPr/>
        </p:nvPicPr>
        <p:blipFill>
          <a:blip r:embed="rId1"/>
          <a:stretch>
            <a:fillRect/>
          </a:stretch>
        </p:blipFill>
        <p:spPr>
          <a:xfrm>
            <a:off x="816559" y="1886407"/>
            <a:ext cx="241402" cy="241402"/>
          </a:xfrm>
          <a:prstGeom prst="rect">
            <a:avLst/>
          </a:prstGeom>
        </p:spPr>
      </p:pic>
      <p:sp>
        <p:nvSpPr>
          <p:cNvPr id="7" name="Text 4"/>
          <p:cNvSpPr txBox="1"/>
          <p:nvPr/>
        </p:nvSpPr>
        <p:spPr>
          <a:xfrm>
            <a:off x="1325880" y="1755648"/>
            <a:ext cx="4495648" cy="502920"/>
          </a:xfrm>
          <a:prstGeom prst="rect">
            <a:avLst/>
          </a:prstGeom>
          <a:noFill/>
          <a:ln/>
        </p:spPr>
        <p:txBody>
          <a:bodyPr wrap="square" lIns="0" tIns="0" rIns="0" bIns="0" rtlCol="0" anchor="ctr"/>
          <a:lstStyle/>
          <a:p>
            <a:pPr indent="0" marL="0">
              <a:buNone/>
            </a:pPr>
            <a:r>
              <a:rPr lang="en-US" sz="1800" b="1" dirty="0">
                <a:solidFill>
                  <a:schemeClr val="tx2"/>
                </a:solidFill>
              </a:rPr>
              <a:t>Choose micro frontends when</a:t>
            </a:r>
            <a:endParaRPr lang="en-US" sz="1800" dirty="0"/>
          </a:p>
        </p:txBody>
      </p:sp>
      <p:sp>
        <p:nvSpPr>
          <p:cNvPr id="8" name="Text 5"/>
          <p:cNvSpPr txBox="1"/>
          <p:nvPr/>
        </p:nvSpPr>
        <p:spPr>
          <a:xfrm>
            <a:off x="731520" y="2468880"/>
            <a:ext cx="4952848" cy="3291840"/>
          </a:xfrm>
          <a:prstGeom prst="rect">
            <a:avLst/>
          </a:prstGeom>
          <a:noFill/>
          <a:ln/>
        </p:spPr>
        <p:txBody>
          <a:bodyPr wrap="square" lIns="0" tIns="0" rIns="0" bIns="0" rtlCol="0" anchor="t"/>
          <a:lstStyle/>
          <a:p>
            <a:pPr marL="165100" indent="-165100">
              <a:spcAft>
                <a:spcPts val="1200"/>
              </a:spcAft>
              <a:buSzPct val="100000"/>
              <a:buChar char="•"/>
            </a:pPr>
            <a:r>
              <a:rPr lang="en-US" sz="1500" dirty="0">
                <a:solidFill>
                  <a:schemeClr val="tx1"/>
                </a:solidFill>
              </a:rPr>
              <a:t>Domain teams need to release on different schedules</a:t>
            </a:r>
            <a:endParaRPr lang="en-US" sz="1400" dirty="0"/>
          </a:p>
          <a:p>
            <a:pPr marL="165100" indent="-165100">
              <a:spcAft>
                <a:spcPts val="1200"/>
              </a:spcAft>
              <a:buSzPct val="100000"/>
              <a:buChar char="•"/>
            </a:pPr>
            <a:r>
              <a:rPr lang="en-US" sz="1500" dirty="0">
                <a:solidFill>
                  <a:schemeClr val="tx1"/>
                </a:solidFill>
              </a:rPr>
              <a:t>Whole-app regression is the main bottleneck</a:t>
            </a:r>
            <a:endParaRPr lang="en-US" sz="1400" dirty="0"/>
          </a:p>
          <a:p>
            <a:pPr marL="165100" indent="-165100">
              <a:spcAft>
                <a:spcPts val="1200"/>
              </a:spcAft>
              <a:buSzPct val="100000"/>
              <a:buChar char="•"/>
            </a:pPr>
            <a:r>
              <a:rPr lang="en-US" sz="1500" dirty="0">
                <a:solidFill>
                  <a:schemeClr val="tx1"/>
                </a:solidFill>
              </a:rPr>
              <a:t>A defect in one domain must not hold back others</a:t>
            </a:r>
            <a:endParaRPr lang="en-US" sz="1400" dirty="0"/>
          </a:p>
          <a:p>
            <a:pPr marL="165100" indent="-165100">
              <a:spcAft>
                <a:spcPts val="1200"/>
              </a:spcAft>
              <a:buSzPct val="100000"/>
              <a:buChar char="•"/>
            </a:pPr>
            <a:r>
              <a:rPr lang="en-US" sz="1500" dirty="0">
                <a:solidFill>
                  <a:schemeClr val="tx1"/>
                </a:solidFill>
              </a:rPr>
              <a:t>Domains are loosely coupled and talk through routes and events</a:t>
            </a:r>
            <a:endParaRPr lang="en-US" sz="1400" dirty="0"/>
          </a:p>
          <a:p>
            <a:pPr marL="165100" indent="-165100">
              <a:spcAft>
                <a:spcPts val="1200"/>
              </a:spcAft>
              <a:buSzPct val="100000"/>
              <a:buChar char="•"/>
            </a:pPr>
            <a:r>
              <a:rPr lang="en-US" sz="1500" dirty="0">
                <a:solidFill>
                  <a:schemeClr val="tx1"/>
                </a:solidFill>
              </a:rPr>
              <a:t>There is capacity for a small platform group to own the shell</a:t>
            </a:r>
            <a:endParaRPr lang="en-US" sz="1400" dirty="0"/>
          </a:p>
          <a:p>
            <a:pPr marL="165100" indent="-165100">
              <a:spcAft>
                <a:spcPts val="1200"/>
              </a:spcAft>
              <a:buSzPct val="100000"/>
              <a:buChar char="•"/>
            </a:pPr>
            <a:r>
              <a:rPr lang="en-US" sz="1500" dirty="0">
                <a:solidFill>
                  <a:schemeClr val="tx1"/>
                </a:solidFill>
              </a:rPr>
              <a:t>The app will keep growing in teams and domains for years</a:t>
            </a:r>
            <a:endParaRPr lang="en-US" sz="1400" dirty="0"/>
          </a:p>
        </p:txBody>
      </p:sp>
      <p:sp>
        <p:nvSpPr>
          <p:cNvPr id="9" name="fit-1"/>
          <p:cNvSpPr/>
          <p:nvPr/>
        </p:nvSpPr>
        <p:spPr>
          <a:xfrm>
            <a:off x="6233008" y="1554480"/>
            <a:ext cx="5501488" cy="4343400"/>
          </a:xfrm>
          <a:prstGeom prst="roundRect">
            <a:avLst>
              <a:gd name="adj" fmla="val 1684"/>
            </a:avLst>
          </a:prstGeom>
          <a:solidFill>
            <a:srgbClr val="DCEAF2"/>
          </a:solidFill>
          <a:ln w="9525">
            <a:solidFill>
              <a:srgbClr val="DCEAF2"/>
            </a:solidFill>
            <a:prstDash val="solid"/>
          </a:ln>
        </p:spPr>
      </p:sp>
      <p:sp>
        <p:nvSpPr>
          <p:cNvPr id="10" name="icon-circle-FaBoxOpen"/>
          <p:cNvSpPr/>
          <p:nvPr/>
        </p:nvSpPr>
        <p:spPr>
          <a:xfrm>
            <a:off x="6461608" y="1755648"/>
            <a:ext cx="502920" cy="502920"/>
          </a:xfrm>
          <a:prstGeom prst="ellipse">
            <a:avLst/>
          </a:prstGeom>
          <a:solidFill>
            <a:srgbClr val="2D6A8A"/>
          </a:solidFill>
          <a:ln w="12700">
            <a:solidFill>
              <a:srgbClr val="2D6A8A"/>
            </a:solidFill>
            <a:prstDash val="solid"/>
          </a:ln>
        </p:spPr>
      </p:sp>
      <p:pic>
        <p:nvPicPr>
          <p:cNvPr id="11" name="icon-FaBoxOpen" descr="preencoded.png">    </p:cNvPr>
          <p:cNvPicPr>
            <a:picLocks noChangeAspect="1"/>
          </p:cNvPicPr>
          <p:nvPr/>
        </p:nvPicPr>
        <p:blipFill>
          <a:blip r:embed="rId2"/>
          <a:stretch>
            <a:fillRect/>
          </a:stretch>
        </p:blipFill>
        <p:spPr>
          <a:xfrm>
            <a:off x="6592367" y="1886407"/>
            <a:ext cx="241402" cy="241402"/>
          </a:xfrm>
          <a:prstGeom prst="rect">
            <a:avLst/>
          </a:prstGeom>
        </p:spPr>
      </p:pic>
      <p:sp>
        <p:nvSpPr>
          <p:cNvPr id="12" name="Text 8"/>
          <p:cNvSpPr txBox="1"/>
          <p:nvPr/>
        </p:nvSpPr>
        <p:spPr>
          <a:xfrm>
            <a:off x="7101688" y="1755648"/>
            <a:ext cx="4495648" cy="502920"/>
          </a:xfrm>
          <a:prstGeom prst="rect">
            <a:avLst/>
          </a:prstGeom>
          <a:noFill/>
          <a:ln/>
        </p:spPr>
        <p:txBody>
          <a:bodyPr wrap="square" lIns="0" tIns="0" rIns="0" bIns="0" rtlCol="0" anchor="ctr"/>
          <a:lstStyle/>
          <a:p>
            <a:pPr indent="0" marL="0">
              <a:buNone/>
            </a:pPr>
            <a:r>
              <a:rPr lang="en-US" sz="1800" b="1" dirty="0">
                <a:solidFill>
                  <a:schemeClr val="tx2"/>
                </a:solidFill>
              </a:rPr>
              <a:t>Choose libraries when</a:t>
            </a:r>
            <a:endParaRPr lang="en-US" sz="1800" dirty="0"/>
          </a:p>
        </p:txBody>
      </p:sp>
      <p:sp>
        <p:nvSpPr>
          <p:cNvPr id="13" name="Text 9"/>
          <p:cNvSpPr txBox="1"/>
          <p:nvPr/>
        </p:nvSpPr>
        <p:spPr>
          <a:xfrm>
            <a:off x="6507328" y="2468880"/>
            <a:ext cx="4952848" cy="3291840"/>
          </a:xfrm>
          <a:prstGeom prst="rect">
            <a:avLst/>
          </a:prstGeom>
          <a:noFill/>
          <a:ln/>
        </p:spPr>
        <p:txBody>
          <a:bodyPr wrap="square" lIns="0" tIns="0" rIns="0" bIns="0" rtlCol="0" anchor="t"/>
          <a:lstStyle/>
          <a:p>
            <a:pPr marL="165100" indent="-165100">
              <a:spcAft>
                <a:spcPts val="1200"/>
              </a:spcAft>
              <a:buSzPct val="100000"/>
              <a:buChar char="•"/>
            </a:pPr>
            <a:r>
              <a:rPr lang="en-US" sz="1500" dirty="0">
                <a:solidFill>
                  <a:schemeClr val="tx1"/>
                </a:solidFill>
              </a:rPr>
              <a:t>The app can release often, with automated regression</a:t>
            </a:r>
            <a:endParaRPr lang="en-US" sz="1400" dirty="0"/>
          </a:p>
          <a:p>
            <a:pPr marL="165100" indent="-165100">
              <a:spcAft>
                <a:spcPts val="1200"/>
              </a:spcAft>
              <a:buSzPct val="100000"/>
              <a:buChar char="•"/>
            </a:pPr>
            <a:r>
              <a:rPr lang="en-US" sz="1500" dirty="0">
                <a:solidFill>
                  <a:schemeClr val="tx1"/>
                </a:solidFill>
              </a:rPr>
              <a:t>Teams are fine shipping in a shared release</a:t>
            </a:r>
            <a:endParaRPr lang="en-US" sz="1400" dirty="0"/>
          </a:p>
          <a:p>
            <a:pPr marL="165100" indent="-165100">
              <a:spcAft>
                <a:spcPts val="1200"/>
              </a:spcAft>
              <a:buSzPct val="100000"/>
              <a:buChar char="•"/>
            </a:pPr>
            <a:r>
              <a:rPr lang="en-US" sz="1500" dirty="0">
                <a:solidFill>
                  <a:schemeClr val="tx1"/>
                </a:solidFill>
              </a:rPr>
              <a:t>Domains share a lot of state or navigation</a:t>
            </a:r>
            <a:endParaRPr lang="en-US" sz="1400" dirty="0"/>
          </a:p>
          <a:p>
            <a:pPr marL="165100" indent="-165100">
              <a:spcAft>
                <a:spcPts val="1200"/>
              </a:spcAft>
              <a:buSzPct val="100000"/>
              <a:buChar char="•"/>
            </a:pPr>
            <a:r>
              <a:rPr lang="en-US" sz="1500" dirty="0">
                <a:solidFill>
                  <a:schemeClr val="tx1"/>
                </a:solidFill>
              </a:rPr>
              <a:t>There is little capacity for platform and runtime work</a:t>
            </a:r>
            <a:endParaRPr lang="en-US" sz="1400" dirty="0"/>
          </a:p>
          <a:p>
            <a:pPr marL="165100" indent="-165100">
              <a:spcAft>
                <a:spcPts val="1200"/>
              </a:spcAft>
              <a:buSzPct val="100000"/>
              <a:buChar char="•"/>
            </a:pPr>
            <a:r>
              <a:rPr lang="en-US" sz="1500" dirty="0">
                <a:solidFill>
                  <a:schemeClr val="tx1"/>
                </a:solidFill>
              </a:rPr>
              <a:t>Fastest start and lowest running cost matter most</a:t>
            </a:r>
            <a:endParaRPr lang="en-US" sz="1400" dirty="0"/>
          </a:p>
          <a:p>
            <a:pPr marL="165100" indent="-165100">
              <a:spcAft>
                <a:spcPts val="1200"/>
              </a:spcAft>
              <a:buSzPct val="100000"/>
              <a:buChar char="•"/>
            </a:pPr>
            <a:r>
              <a:rPr lang="en-US" sz="1500" dirty="0">
                <a:solidFill>
                  <a:schemeClr val="tx1"/>
                </a:solidFill>
              </a:rPr>
              <a:t>Compile-time checks across all slices are valued</a:t>
            </a:r>
            <a:endParaRPr lang="en-US" sz="14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What industry guidance says</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Guidance supports both. It is consistent on when to choose micro frontends and on the rules that apply to either choice.</a:t>
            </a:r>
            <a:endParaRPr lang="en-US" sz="1600" dirty="0"/>
          </a:p>
        </p:txBody>
      </p:sp>
      <p:sp>
        <p:nvSpPr>
          <p:cNvPr id="4" name="ind-0"/>
          <p:cNvSpPr/>
          <p:nvPr/>
        </p:nvSpPr>
        <p:spPr>
          <a:xfrm>
            <a:off x="457200" y="1554480"/>
            <a:ext cx="3606698" cy="4206240"/>
          </a:xfrm>
          <a:prstGeom prst="roundRect">
            <a:avLst>
              <a:gd name="adj" fmla="val 2028"/>
            </a:avLst>
          </a:prstGeom>
          <a:solidFill>
            <a:srgbClr val="DCEAF2"/>
          </a:solidFill>
          <a:ln w="9525">
            <a:solidFill>
              <a:srgbClr val="DCEAF2"/>
            </a:solidFill>
            <a:prstDash val="solid"/>
          </a:ln>
        </p:spPr>
      </p:sp>
      <p:sp>
        <p:nvSpPr>
          <p:cNvPr id="5" name="ind-chip-0"/>
          <p:cNvSpPr/>
          <p:nvPr/>
        </p:nvSpPr>
        <p:spPr>
          <a:xfrm>
            <a:off x="640080" y="1737360"/>
            <a:ext cx="3240938" cy="310896"/>
          </a:xfrm>
          <a:prstGeom prst="roundRect">
            <a:avLst>
              <a:gd name="adj" fmla="val 50000"/>
            </a:avLst>
          </a:prstGeom>
          <a:solidFill>
            <a:srgbClr val="2D6A8A"/>
          </a:solidFill>
          <a:ln w="12700">
            <a:solidFill>
              <a:srgbClr val="2D6A8A"/>
            </a:solidFill>
            <a:prstDash val="solid"/>
          </a:ln>
        </p:spPr>
      </p:sp>
      <p:sp>
        <p:nvSpPr>
          <p:cNvPr id="6" name="Text 4"/>
          <p:cNvSpPr txBox="1"/>
          <p:nvPr/>
        </p:nvSpPr>
        <p:spPr>
          <a:xfrm>
            <a:off x="640080" y="1737360"/>
            <a:ext cx="3240938" cy="310896"/>
          </a:xfrm>
          <a:prstGeom prst="rect">
            <a:avLst/>
          </a:prstGeom>
          <a:noFill/>
          <a:ln/>
        </p:spPr>
        <p:txBody>
          <a:bodyPr wrap="square" lIns="0" tIns="0" rIns="0" bIns="0" rtlCol="0" anchor="ctr"/>
          <a:lstStyle/>
          <a:p>
            <a:pPr algn="ctr" indent="0" marL="0">
              <a:buNone/>
            </a:pPr>
            <a:r>
              <a:rPr lang="en-US" sz="1200" b="1" dirty="0">
                <a:solidFill>
                  <a:schemeClr val="bg1"/>
                </a:solidFill>
              </a:rPr>
              <a:t>In favor of libraries</a:t>
            </a:r>
            <a:endParaRPr lang="en-US" sz="1200" dirty="0"/>
          </a:p>
        </p:txBody>
      </p:sp>
      <p:sp>
        <p:nvSpPr>
          <p:cNvPr id="7" name="Text 5"/>
          <p:cNvSpPr txBox="1"/>
          <p:nvPr/>
        </p:nvSpPr>
        <p:spPr>
          <a:xfrm>
            <a:off x="685800" y="2240280"/>
            <a:ext cx="3149498" cy="33832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chemeClr val="tx1"/>
                </a:solidFill>
              </a:rPr>
              <a:t>The Angular team recommends first checking whether verticals in a monorepo, compiled together, are enough</a:t>
            </a:r>
            <a:endParaRPr lang="en-US" sz="1400" dirty="0"/>
          </a:p>
          <a:p>
            <a:pPr marL="165100" indent="-165100">
              <a:spcAft>
                <a:spcPts val="1000"/>
              </a:spcAft>
              <a:buSzPct val="100000"/>
              <a:buChar char="•"/>
            </a:pPr>
            <a:r>
              <a:rPr lang="en-US" sz="1400" dirty="0">
                <a:solidFill>
                  <a:schemeClr val="tx1"/>
                </a:solidFill>
              </a:rPr>
              <a:t>Nx advises against micro frontends when teams already deploy together or can't support the coordination</a:t>
            </a:r>
            <a:endParaRPr lang="en-US" sz="1400" dirty="0"/>
          </a:p>
          <a:p>
            <a:pPr marL="165100" indent="-165100">
              <a:spcAft>
                <a:spcPts val="1000"/>
              </a:spcAft>
              <a:buSzPct val="100000"/>
              <a:buChar char="•"/>
            </a:pPr>
            <a:r>
              <a:rPr lang="en-US" sz="1400" dirty="0">
                <a:solidFill>
                  <a:schemeClr val="tx1"/>
                </a:solidFill>
              </a:rPr>
              <a:t>Build-time integration keeps releases atomic and one version of everything</a:t>
            </a:r>
            <a:endParaRPr lang="en-US" sz="1400" dirty="0"/>
          </a:p>
        </p:txBody>
      </p:sp>
      <p:sp>
        <p:nvSpPr>
          <p:cNvPr id="8" name="ind-1"/>
          <p:cNvSpPr/>
          <p:nvPr/>
        </p:nvSpPr>
        <p:spPr>
          <a:xfrm>
            <a:off x="4292498" y="1554480"/>
            <a:ext cx="3606698" cy="4206240"/>
          </a:xfrm>
          <a:prstGeom prst="roundRect">
            <a:avLst>
              <a:gd name="adj" fmla="val 2028"/>
            </a:avLst>
          </a:prstGeom>
          <a:solidFill>
            <a:srgbClr val="D9EED0"/>
          </a:solidFill>
          <a:ln w="9525">
            <a:solidFill>
              <a:srgbClr val="D9EED0"/>
            </a:solidFill>
            <a:prstDash val="solid"/>
          </a:ln>
        </p:spPr>
      </p:sp>
      <p:sp>
        <p:nvSpPr>
          <p:cNvPr id="9" name="ind-chip-1"/>
          <p:cNvSpPr/>
          <p:nvPr/>
        </p:nvSpPr>
        <p:spPr>
          <a:xfrm>
            <a:off x="4475378" y="1737360"/>
            <a:ext cx="3240938" cy="310896"/>
          </a:xfrm>
          <a:prstGeom prst="roundRect">
            <a:avLst>
              <a:gd name="adj" fmla="val 50000"/>
            </a:avLst>
          </a:prstGeom>
          <a:solidFill>
            <a:schemeClr val="accent1"/>
          </a:solidFill>
          <a:ln w="12700">
            <a:solidFill>
              <a:schemeClr val="accent1"/>
            </a:solidFill>
            <a:prstDash val="solid"/>
          </a:ln>
        </p:spPr>
      </p:sp>
      <p:sp>
        <p:nvSpPr>
          <p:cNvPr id="10" name="Text 8"/>
          <p:cNvSpPr txBox="1"/>
          <p:nvPr/>
        </p:nvSpPr>
        <p:spPr>
          <a:xfrm>
            <a:off x="4475378" y="1737360"/>
            <a:ext cx="3240938" cy="310896"/>
          </a:xfrm>
          <a:prstGeom prst="rect">
            <a:avLst/>
          </a:prstGeom>
          <a:noFill/>
          <a:ln/>
        </p:spPr>
        <p:txBody>
          <a:bodyPr wrap="square" lIns="0" tIns="0" rIns="0" bIns="0" rtlCol="0" anchor="ctr"/>
          <a:lstStyle/>
          <a:p>
            <a:pPr algn="ctr" indent="0" marL="0">
              <a:buNone/>
            </a:pPr>
            <a:r>
              <a:rPr lang="en-US" sz="1200" b="1" dirty="0">
                <a:solidFill>
                  <a:schemeClr val="bg1"/>
                </a:solidFill>
              </a:rPr>
              <a:t>In favor of micro frontends</a:t>
            </a:r>
            <a:endParaRPr lang="en-US" sz="1200" dirty="0"/>
          </a:p>
        </p:txBody>
      </p:sp>
      <p:sp>
        <p:nvSpPr>
          <p:cNvPr id="11" name="Text 9"/>
          <p:cNvSpPr txBox="1"/>
          <p:nvPr/>
        </p:nvSpPr>
        <p:spPr>
          <a:xfrm>
            <a:off x="4521098" y="2240280"/>
            <a:ext cx="3149498" cy="33832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chemeClr val="tx1"/>
                </a:solidFill>
              </a:rPr>
              <a:t>Thoughtworks has rated micro frontends Adopt since 2019, for independent team delivery</a:t>
            </a:r>
            <a:endParaRPr lang="en-US" sz="1400" dirty="0"/>
          </a:p>
          <a:p>
            <a:pPr marL="165100" indent="-165100">
              <a:spcAft>
                <a:spcPts val="1000"/>
              </a:spcAft>
              <a:buSzPct val="100000"/>
              <a:buChar char="•"/>
            </a:pPr>
            <a:r>
              <a:rPr lang="en-US" sz="1400" dirty="0">
                <a:solidFill>
                  <a:schemeClr val="tx1"/>
                </a:solidFill>
              </a:rPr>
              <a:t>Nx: use them when several teams ship to one app and the shared release train costs more than the added complexity</a:t>
            </a:r>
            <a:endParaRPr lang="en-US" sz="1400" dirty="0"/>
          </a:p>
          <a:p>
            <a:pPr marL="165100" indent="-165100">
              <a:spcAft>
                <a:spcPts val="1000"/>
              </a:spcAft>
              <a:buSzPct val="100000"/>
              <a:buChar char="•"/>
            </a:pPr>
            <a:r>
              <a:rPr lang="en-US" sz="1400" dirty="0">
                <a:solidFill>
                  <a:schemeClr val="tx1"/>
                </a:solidFill>
              </a:rPr>
              <a:t>Team autonomy in multi-team corporate settings is the main reason they are used</a:t>
            </a:r>
            <a:endParaRPr lang="en-US" sz="1400" dirty="0"/>
          </a:p>
        </p:txBody>
      </p:sp>
      <p:sp>
        <p:nvSpPr>
          <p:cNvPr id="12" name="ind-2"/>
          <p:cNvSpPr/>
          <p:nvPr/>
        </p:nvSpPr>
        <p:spPr>
          <a:xfrm>
            <a:off x="8127797" y="1554480"/>
            <a:ext cx="3606698" cy="4206240"/>
          </a:xfrm>
          <a:prstGeom prst="roundRect">
            <a:avLst>
              <a:gd name="adj" fmla="val 2028"/>
            </a:avLst>
          </a:prstGeom>
          <a:solidFill>
            <a:schemeClr val="bg2"/>
          </a:solidFill>
          <a:ln w="9525">
            <a:solidFill>
              <a:schemeClr val="bg2"/>
            </a:solidFill>
            <a:prstDash val="solid"/>
          </a:ln>
        </p:spPr>
      </p:sp>
      <p:sp>
        <p:nvSpPr>
          <p:cNvPr id="13" name="ind-chip-2"/>
          <p:cNvSpPr/>
          <p:nvPr/>
        </p:nvSpPr>
        <p:spPr>
          <a:xfrm>
            <a:off x="8310677" y="1737360"/>
            <a:ext cx="3240938" cy="310896"/>
          </a:xfrm>
          <a:prstGeom prst="roundRect">
            <a:avLst>
              <a:gd name="adj" fmla="val 50000"/>
            </a:avLst>
          </a:prstGeom>
          <a:solidFill>
            <a:schemeClr val="accent3"/>
          </a:solidFill>
          <a:ln w="12700">
            <a:solidFill>
              <a:schemeClr val="accent3"/>
            </a:solidFill>
            <a:prstDash val="solid"/>
          </a:ln>
        </p:spPr>
      </p:sp>
      <p:sp>
        <p:nvSpPr>
          <p:cNvPr id="14" name="Text 12"/>
          <p:cNvSpPr txBox="1"/>
          <p:nvPr/>
        </p:nvSpPr>
        <p:spPr>
          <a:xfrm>
            <a:off x="8310677" y="1737360"/>
            <a:ext cx="3240938" cy="310896"/>
          </a:xfrm>
          <a:prstGeom prst="rect">
            <a:avLst/>
          </a:prstGeom>
          <a:noFill/>
          <a:ln/>
        </p:spPr>
        <p:txBody>
          <a:bodyPr wrap="square" lIns="0" tIns="0" rIns="0" bIns="0" rtlCol="0" anchor="ctr"/>
          <a:lstStyle/>
          <a:p>
            <a:pPr algn="ctr" indent="0" marL="0">
              <a:buNone/>
            </a:pPr>
            <a:r>
              <a:rPr lang="en-US" sz="1200" b="1" dirty="0">
                <a:solidFill>
                  <a:schemeClr val="bg1"/>
                </a:solidFill>
              </a:rPr>
              <a:t>Agreed for both</a:t>
            </a:r>
            <a:endParaRPr lang="en-US" sz="1200" dirty="0"/>
          </a:p>
        </p:txBody>
      </p:sp>
      <p:sp>
        <p:nvSpPr>
          <p:cNvPr id="15" name="Text 13"/>
          <p:cNvSpPr txBox="1"/>
          <p:nvPr/>
        </p:nvSpPr>
        <p:spPr>
          <a:xfrm>
            <a:off x="8356397" y="2240280"/>
            <a:ext cx="3149498" cy="3383280"/>
          </a:xfrm>
          <a:prstGeom prst="rect">
            <a:avLst/>
          </a:prstGeom>
          <a:noFill/>
          <a:ln/>
        </p:spPr>
        <p:txBody>
          <a:bodyPr wrap="square" lIns="0" tIns="0" rIns="0" bIns="0" rtlCol="0" anchor="t"/>
          <a:lstStyle/>
          <a:p>
            <a:pPr marL="165100" indent="-165100">
              <a:spcAft>
                <a:spcPts val="1000"/>
              </a:spcAft>
              <a:buSzPct val="100000"/>
              <a:buChar char="•"/>
            </a:pPr>
            <a:r>
              <a:rPr lang="en-US" sz="1400" dirty="0">
                <a:solidFill>
                  <a:schemeClr val="tx1"/>
                </a:solidFill>
              </a:rPr>
              <a:t>Split by business domain, not by widget</a:t>
            </a:r>
            <a:endParaRPr lang="en-US" sz="1400" dirty="0"/>
          </a:p>
          <a:p>
            <a:pPr marL="165100" indent="-165100">
              <a:spcAft>
                <a:spcPts val="1000"/>
              </a:spcAft>
              <a:buSzPct val="100000"/>
              <a:buChar char="•"/>
            </a:pPr>
            <a:r>
              <a:rPr lang="en-US" sz="1400" dirty="0">
                <a:solidFill>
                  <a:schemeClr val="tx1"/>
                </a:solidFill>
              </a:rPr>
              <a:t>One framework and one design system (mixing them is "micro frontend anarchy", rated Hold)</a:t>
            </a:r>
            <a:endParaRPr lang="en-US" sz="1400" dirty="0"/>
          </a:p>
          <a:p>
            <a:pPr marL="165100" indent="-165100">
              <a:spcAft>
                <a:spcPts val="1000"/>
              </a:spcAft>
              <a:buSzPct val="100000"/>
              <a:buChar char="•"/>
            </a:pPr>
            <a:r>
              <a:rPr lang="en-US" sz="1400" dirty="0">
                <a:solidFill>
                  <a:schemeClr val="tx1"/>
                </a:solidFill>
              </a:rPr>
              <a:t>Share as few libraries as possible</a:t>
            </a:r>
            <a:endParaRPr lang="en-US" sz="1400" dirty="0"/>
          </a:p>
          <a:p>
            <a:pPr marL="165100" indent="-165100">
              <a:spcAft>
                <a:spcPts val="1000"/>
              </a:spcAft>
              <a:buSzPct val="100000"/>
              <a:buChar char="•"/>
            </a:pPr>
            <a:r>
              <a:rPr lang="en-US" sz="1400" dirty="0">
                <a:solidFill>
                  <a:schemeClr val="tx1"/>
                </a:solidFill>
              </a:rPr>
              <a:t>Mismatched shared library versions are a leading failure mode</a:t>
            </a:r>
            <a:endParaRPr lang="en-US" sz="1400" dirty="0"/>
          </a:p>
        </p:txBody>
      </p:sp>
      <p:sp>
        <p:nvSpPr>
          <p:cNvPr id="16" name="Text 14"/>
          <p:cNvSpPr txBox="1"/>
          <p:nvPr/>
        </p:nvSpPr>
        <p:spPr>
          <a:xfrm>
            <a:off x="457200" y="5897880"/>
            <a:ext cx="10728655" cy="411480"/>
          </a:xfrm>
          <a:prstGeom prst="rect">
            <a:avLst/>
          </a:prstGeom>
          <a:noFill/>
          <a:ln/>
        </p:spPr>
        <p:txBody>
          <a:bodyPr wrap="square" lIns="0" tIns="0" rIns="0" bIns="0" rtlCol="0" anchor="t"/>
          <a:lstStyle/>
          <a:p>
            <a:pPr indent="0" marL="0">
              <a:buNone/>
            </a:pPr>
            <a:r>
              <a:rPr lang="en-US" sz="1100" dirty="0">
                <a:solidFill>
                  <a:schemeClr val="accent5"/>
                </a:solidFill>
              </a:rPr>
              <a:t>Sources: Thoughtworks Technology Radar (micro frontends; micro frontend anarchy); Angular blog, "Micro Frontends with Angular and Native Federation" (2025); Nx docs, micro frontend architecture.</a:t>
            </a:r>
            <a:endParaRPr lang="en-US" sz="11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If we choose micro frontends: four ways to build them</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The patterns differ in how pieces are put together on the page, and that drives user experience, isolation and effort.</a:t>
            </a:r>
            <a:endParaRPr lang="en-US" sz="1600" dirty="0"/>
          </a:p>
        </p:txBody>
      </p:sp>
      <p:sp>
        <p:nvSpPr>
          <p:cNvPr id="4" name="pat-0"/>
          <p:cNvSpPr/>
          <p:nvPr/>
        </p:nvSpPr>
        <p:spPr>
          <a:xfrm>
            <a:off x="457200" y="1508760"/>
            <a:ext cx="2668448" cy="4800600"/>
          </a:xfrm>
          <a:prstGeom prst="roundRect">
            <a:avLst>
              <a:gd name="adj" fmla="val 2741"/>
            </a:avLst>
          </a:prstGeom>
          <a:solidFill>
            <a:schemeClr val="bg1"/>
          </a:solidFill>
          <a:ln w="15875">
            <a:solidFill>
              <a:srgbClr val="CFD8D1"/>
            </a:solidFill>
            <a:prstDash val="solid"/>
          </a:ln>
        </p:spPr>
      </p:sp>
      <p:sp>
        <p:nvSpPr>
          <p:cNvPr id="5" name="pat-n-0"/>
          <p:cNvSpPr/>
          <p:nvPr/>
        </p:nvSpPr>
        <p:spPr>
          <a:xfrm>
            <a:off x="621792" y="1673352"/>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621792" y="167335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143000" y="1618488"/>
            <a:ext cx="1845488" cy="594360"/>
          </a:xfrm>
          <a:prstGeom prst="rect">
            <a:avLst/>
          </a:prstGeom>
          <a:noFill/>
          <a:ln/>
        </p:spPr>
        <p:txBody>
          <a:bodyPr wrap="square" lIns="0" tIns="0" rIns="0" bIns="0" rtlCol="0" anchor="ctr"/>
          <a:lstStyle/>
          <a:p>
            <a:pPr indent="0" marL="0">
              <a:buNone/>
            </a:pPr>
            <a:r>
              <a:rPr lang="en-US" sz="1500" b="1" dirty="0">
                <a:solidFill>
                  <a:schemeClr val="tx2"/>
                </a:solidFill>
              </a:rPr>
              <a:t>Runtime federation</a:t>
            </a:r>
            <a:endParaRPr lang="en-US" sz="1400" dirty="0"/>
          </a:p>
          <a:p>
            <a:pPr indent="0" marL="0">
              <a:buNone/>
            </a:pPr>
            <a:r>
              <a:rPr lang="en-US" sz="1100" dirty="0">
                <a:solidFill>
                  <a:schemeClr val="accent5"/>
                </a:solidFill>
              </a:rPr>
              <a:t>Native Federation / Module Federation</a:t>
            </a:r>
            <a:endParaRPr lang="en-US" sz="1400" dirty="0"/>
          </a:p>
        </p:txBody>
      </p:sp>
      <p:sp>
        <p:nvSpPr>
          <p:cNvPr id="8" name="pat-bg-0"/>
          <p:cNvSpPr/>
          <p:nvPr/>
        </p:nvSpPr>
        <p:spPr>
          <a:xfrm>
            <a:off x="640080" y="2377440"/>
            <a:ext cx="2302688" cy="1600200"/>
          </a:xfrm>
          <a:prstGeom prst="rect">
            <a:avLst/>
          </a:prstGeom>
          <a:solidFill>
            <a:srgbClr val="F7FAF6"/>
          </a:solidFill>
          <a:ln w="12700">
            <a:solidFill>
              <a:srgbClr val="D5DDD6"/>
            </a:solidFill>
            <a:prstDash val="solid"/>
          </a:ln>
        </p:spPr>
      </p:sp>
      <p:sp>
        <p:nvSpPr>
          <p:cNvPr id="9" name="p1-shell"/>
          <p:cNvSpPr/>
          <p:nvPr/>
        </p:nvSpPr>
        <p:spPr>
          <a:xfrm>
            <a:off x="731520" y="2468880"/>
            <a:ext cx="2119808" cy="292608"/>
          </a:xfrm>
          <a:prstGeom prst="rect">
            <a:avLst/>
          </a:prstGeom>
          <a:solidFill>
            <a:schemeClr val="tx2"/>
          </a:solidFill>
          <a:ln w="12700">
            <a:solidFill>
              <a:schemeClr val="tx2"/>
            </a:solidFill>
            <a:prstDash val="solid"/>
          </a:ln>
        </p:spPr>
      </p:sp>
      <p:sp>
        <p:nvSpPr>
          <p:cNvPr id="10" name="Text 8"/>
          <p:cNvSpPr txBox="1"/>
          <p:nvPr/>
        </p:nvSpPr>
        <p:spPr>
          <a:xfrm>
            <a:off x="731520" y="2468880"/>
            <a:ext cx="2119808" cy="292608"/>
          </a:xfrm>
          <a:prstGeom prst="rect">
            <a:avLst/>
          </a:prstGeom>
          <a:noFill/>
          <a:ln/>
        </p:spPr>
        <p:txBody>
          <a:bodyPr wrap="square" lIns="0" tIns="0" rIns="0" bIns="0" rtlCol="0" anchor="ctr"/>
          <a:lstStyle/>
          <a:p>
            <a:pPr algn="ctr" indent="0" marL="0">
              <a:buNone/>
            </a:pPr>
            <a:r>
              <a:rPr lang="en-US" sz="1100" b="1" dirty="0">
                <a:solidFill>
                  <a:schemeClr val="bg1"/>
                </a:solidFill>
              </a:rPr>
              <a:t>Shell</a:t>
            </a:r>
            <a:endParaRPr lang="en-US" sz="1100" dirty="0"/>
          </a:p>
        </p:txBody>
      </p:sp>
      <p:sp>
        <p:nvSpPr>
          <p:cNvPr id="11" name="p1-r0"/>
          <p:cNvSpPr/>
          <p:nvPr/>
        </p:nvSpPr>
        <p:spPr>
          <a:xfrm>
            <a:off x="731520" y="2852928"/>
            <a:ext cx="1014184" cy="548640"/>
          </a:xfrm>
          <a:prstGeom prst="rect">
            <a:avLst/>
          </a:prstGeom>
          <a:solidFill>
            <a:srgbClr val="D9EED0"/>
          </a:solidFill>
          <a:ln w="12700">
            <a:solidFill>
              <a:schemeClr val="accent1"/>
            </a:solidFill>
            <a:prstDash val="solid"/>
          </a:ln>
        </p:spPr>
      </p:sp>
      <p:sp>
        <p:nvSpPr>
          <p:cNvPr id="12" name="Text 10"/>
          <p:cNvSpPr txBox="1"/>
          <p:nvPr/>
        </p:nvSpPr>
        <p:spPr>
          <a:xfrm>
            <a:off x="731520" y="2852928"/>
            <a:ext cx="1014184" cy="548640"/>
          </a:xfrm>
          <a:prstGeom prst="rect">
            <a:avLst/>
          </a:prstGeom>
          <a:noFill/>
          <a:ln/>
        </p:spPr>
        <p:txBody>
          <a:bodyPr wrap="square" lIns="0" tIns="0" rIns="0" bIns="0" rtlCol="0" anchor="ctr"/>
          <a:lstStyle/>
          <a:p>
            <a:pPr algn="ctr" indent="0" marL="0">
              <a:buNone/>
            </a:pPr>
            <a:r>
              <a:rPr lang="en-US" sz="1000" dirty="0">
                <a:solidFill>
                  <a:schemeClr val="tx2"/>
                </a:solidFill>
              </a:rPr>
              <a:t>Domain A code</a:t>
            </a:r>
            <a:endParaRPr lang="en-US" sz="1000" dirty="0"/>
          </a:p>
        </p:txBody>
      </p:sp>
      <p:sp>
        <p:nvSpPr>
          <p:cNvPr id="13" name="p1-r1"/>
          <p:cNvSpPr/>
          <p:nvPr/>
        </p:nvSpPr>
        <p:spPr>
          <a:xfrm>
            <a:off x="1837144" y="2852928"/>
            <a:ext cx="1014184" cy="548640"/>
          </a:xfrm>
          <a:prstGeom prst="rect">
            <a:avLst/>
          </a:prstGeom>
          <a:solidFill>
            <a:srgbClr val="D9EED0"/>
          </a:solidFill>
          <a:ln w="12700">
            <a:solidFill>
              <a:schemeClr val="accent1"/>
            </a:solidFill>
            <a:prstDash val="solid"/>
          </a:ln>
        </p:spPr>
      </p:sp>
      <p:sp>
        <p:nvSpPr>
          <p:cNvPr id="14" name="Text 12"/>
          <p:cNvSpPr txBox="1"/>
          <p:nvPr/>
        </p:nvSpPr>
        <p:spPr>
          <a:xfrm>
            <a:off x="1837144" y="2852928"/>
            <a:ext cx="1014184" cy="548640"/>
          </a:xfrm>
          <a:prstGeom prst="rect">
            <a:avLst/>
          </a:prstGeom>
          <a:noFill/>
          <a:ln/>
        </p:spPr>
        <p:txBody>
          <a:bodyPr wrap="square" lIns="0" tIns="0" rIns="0" bIns="0" rtlCol="0" anchor="ctr"/>
          <a:lstStyle/>
          <a:p>
            <a:pPr algn="ctr" indent="0" marL="0">
              <a:buNone/>
            </a:pPr>
            <a:r>
              <a:rPr lang="en-US" sz="1000" dirty="0">
                <a:solidFill>
                  <a:schemeClr val="tx2"/>
                </a:solidFill>
              </a:rPr>
              <a:t>Domain B code</a:t>
            </a:r>
            <a:endParaRPr lang="en-US" sz="1000" dirty="0"/>
          </a:p>
        </p:txBody>
      </p:sp>
      <p:sp>
        <p:nvSpPr>
          <p:cNvPr id="15" name="p1-shared"/>
          <p:cNvSpPr/>
          <p:nvPr/>
        </p:nvSpPr>
        <p:spPr>
          <a:xfrm>
            <a:off x="731520" y="3493008"/>
            <a:ext cx="2119808" cy="384048"/>
          </a:xfrm>
          <a:prstGeom prst="rect">
            <a:avLst/>
          </a:prstGeom>
          <a:solidFill>
            <a:schemeClr val="accent6"/>
          </a:solidFill>
          <a:ln w="12700">
            <a:solidFill>
              <a:schemeClr val="accent1"/>
            </a:solidFill>
            <a:prstDash val="solid"/>
          </a:ln>
        </p:spPr>
      </p:sp>
      <p:sp>
        <p:nvSpPr>
          <p:cNvPr id="16" name="Text 14"/>
          <p:cNvSpPr txBox="1"/>
          <p:nvPr/>
        </p:nvSpPr>
        <p:spPr>
          <a:xfrm>
            <a:off x="731520" y="3493008"/>
            <a:ext cx="2119808" cy="384048"/>
          </a:xfrm>
          <a:prstGeom prst="rect">
            <a:avLst/>
          </a:prstGeom>
          <a:noFill/>
          <a:ln/>
        </p:spPr>
        <p:txBody>
          <a:bodyPr wrap="square" lIns="0" tIns="0" rIns="0" bIns="0" rtlCol="0" anchor="ctr"/>
          <a:lstStyle/>
          <a:p>
            <a:pPr algn="ctr" indent="0" marL="0">
              <a:buNone/>
            </a:pPr>
            <a:r>
              <a:rPr lang="en-US" sz="1000" dirty="0">
                <a:solidFill>
                  <a:schemeClr val="tx2"/>
                </a:solidFill>
              </a:rPr>
              <a:t>Shared once: Angular, router, auth</a:t>
            </a:r>
            <a:endParaRPr lang="en-US" sz="1000" dirty="0"/>
          </a:p>
        </p:txBody>
      </p:sp>
      <p:sp>
        <p:nvSpPr>
          <p:cNvPr id="17" name="Text 15"/>
          <p:cNvSpPr txBox="1"/>
          <p:nvPr/>
        </p:nvSpPr>
        <p:spPr>
          <a:xfrm>
            <a:off x="640080" y="4114800"/>
            <a:ext cx="2302688" cy="960120"/>
          </a:xfrm>
          <a:prstGeom prst="rect">
            <a:avLst/>
          </a:prstGeom>
          <a:noFill/>
          <a:ln/>
        </p:spPr>
        <p:txBody>
          <a:bodyPr wrap="square" lIns="0" tIns="0" rIns="0" bIns="0" rtlCol="0" anchor="t"/>
          <a:lstStyle/>
          <a:p>
            <a:pPr indent="0" marL="0">
              <a:buNone/>
            </a:pPr>
            <a:r>
              <a:rPr lang="en-US" sz="1200" dirty="0">
                <a:solidFill>
                  <a:schemeClr val="tx1"/>
                </a:solidFill>
              </a:rPr>
              <a:t>The shell loads each domain's code from its own URL at runtime and shares one copy of Angular.</a:t>
            </a:r>
            <a:endParaRPr lang="en-US" sz="1200" dirty="0"/>
          </a:p>
        </p:txBody>
      </p:sp>
      <p:sp>
        <p:nvSpPr>
          <p:cNvPr id="18" name="Text 16"/>
          <p:cNvSpPr txBox="1"/>
          <p:nvPr/>
        </p:nvSpPr>
        <p:spPr>
          <a:xfrm>
            <a:off x="640080" y="5120640"/>
            <a:ext cx="2302688" cy="502920"/>
          </a:xfrm>
          <a:prstGeom prst="rect">
            <a:avLst/>
          </a:prstGeom>
          <a:noFill/>
          <a:ln/>
        </p:spPr>
        <p:txBody>
          <a:bodyPr wrap="square" lIns="0" tIns="0" rIns="0" bIns="0" rtlCol="0" anchor="t"/>
          <a:lstStyle/>
          <a:p>
            <a:pPr indent="0" marL="0">
              <a:buNone/>
            </a:pPr>
            <a:r>
              <a:rPr lang="en-US" sz="1200" b="1" dirty="0">
                <a:solidFill>
                  <a:schemeClr val="accent3"/>
                </a:solidFill>
              </a:rPr>
              <a:t>Good: </a:t>
            </a:r>
            <a:pPr indent="0" marL="0">
              <a:buNone/>
            </a:pPr>
            <a:r>
              <a:rPr lang="en-US" sz="1200" dirty="0">
                <a:solidFill>
                  <a:schemeClr val="tx1"/>
                </a:solidFill>
              </a:rPr>
              <a:t>Seamless single app; small bundles</a:t>
            </a:r>
            <a:endParaRPr lang="en-US" sz="1200" dirty="0"/>
          </a:p>
        </p:txBody>
      </p:sp>
      <p:sp>
        <p:nvSpPr>
          <p:cNvPr id="19" name="Text 17"/>
          <p:cNvSpPr txBox="1"/>
          <p:nvPr/>
        </p:nvSpPr>
        <p:spPr>
          <a:xfrm>
            <a:off x="640080" y="5623560"/>
            <a:ext cx="2302688" cy="548640"/>
          </a:xfrm>
          <a:prstGeom prst="rect">
            <a:avLst/>
          </a:prstGeom>
          <a:noFill/>
          <a:ln/>
        </p:spPr>
        <p:txBody>
          <a:bodyPr wrap="square" lIns="0" tIns="0" rIns="0" bIns="0" rtlCol="0" anchor="t"/>
          <a:lstStyle/>
          <a:p>
            <a:pPr indent="0" marL="0">
              <a:buNone/>
            </a:pPr>
            <a:r>
              <a:rPr lang="en-US" sz="1200" b="1" dirty="0">
                <a:solidFill>
                  <a:schemeClr val="accent4"/>
                </a:solidFill>
              </a:rPr>
              <a:t>Watch: </a:t>
            </a:r>
            <a:pPr indent="0" marL="0">
              <a:buNone/>
            </a:pPr>
            <a:r>
              <a:rPr lang="en-US" sz="1200" dirty="0">
                <a:solidFill>
                  <a:schemeClr val="tx1"/>
                </a:solidFill>
              </a:rPr>
              <a:t>Framework versions must match</a:t>
            </a:r>
            <a:endParaRPr lang="en-US" sz="1200" dirty="0"/>
          </a:p>
        </p:txBody>
      </p:sp>
      <p:sp>
        <p:nvSpPr>
          <p:cNvPr id="20" name="pat-1"/>
          <p:cNvSpPr/>
          <p:nvPr/>
        </p:nvSpPr>
        <p:spPr>
          <a:xfrm>
            <a:off x="3326816" y="1508760"/>
            <a:ext cx="2668448" cy="4800600"/>
          </a:xfrm>
          <a:prstGeom prst="roundRect">
            <a:avLst>
              <a:gd name="adj" fmla="val 2741"/>
            </a:avLst>
          </a:prstGeom>
          <a:solidFill>
            <a:schemeClr val="bg1"/>
          </a:solidFill>
          <a:ln w="15875">
            <a:solidFill>
              <a:srgbClr val="CFD8D1"/>
            </a:solidFill>
            <a:prstDash val="solid"/>
          </a:ln>
        </p:spPr>
      </p:sp>
      <p:sp>
        <p:nvSpPr>
          <p:cNvPr id="21" name="pat-n-1"/>
          <p:cNvSpPr/>
          <p:nvPr/>
        </p:nvSpPr>
        <p:spPr>
          <a:xfrm>
            <a:off x="3491408" y="1673352"/>
            <a:ext cx="411480" cy="411480"/>
          </a:xfrm>
          <a:prstGeom prst="ellipse">
            <a:avLst/>
          </a:prstGeom>
          <a:solidFill>
            <a:schemeClr val="accent1"/>
          </a:solidFill>
          <a:ln w="12700">
            <a:solidFill>
              <a:schemeClr val="accent1"/>
            </a:solidFill>
            <a:prstDash val="solid"/>
          </a:ln>
        </p:spPr>
      </p:sp>
      <p:sp>
        <p:nvSpPr>
          <p:cNvPr id="22" name="Text 20"/>
          <p:cNvSpPr txBox="1"/>
          <p:nvPr/>
        </p:nvSpPr>
        <p:spPr>
          <a:xfrm>
            <a:off x="3491408" y="167335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3" name="Text 21"/>
          <p:cNvSpPr txBox="1"/>
          <p:nvPr/>
        </p:nvSpPr>
        <p:spPr>
          <a:xfrm>
            <a:off x="4012616" y="1618488"/>
            <a:ext cx="1845488" cy="594360"/>
          </a:xfrm>
          <a:prstGeom prst="rect">
            <a:avLst/>
          </a:prstGeom>
          <a:noFill/>
          <a:ln/>
        </p:spPr>
        <p:txBody>
          <a:bodyPr wrap="square" lIns="0" tIns="0" rIns="0" bIns="0" rtlCol="0" anchor="ctr"/>
          <a:lstStyle/>
          <a:p>
            <a:pPr indent="0" marL="0">
              <a:buNone/>
            </a:pPr>
            <a:r>
              <a:rPr lang="en-US" sz="1500" b="1" dirty="0">
                <a:solidFill>
                  <a:schemeClr val="tx2"/>
                </a:solidFill>
              </a:rPr>
              <a:t>Web components</a:t>
            </a:r>
            <a:endParaRPr lang="en-US" sz="1400" dirty="0"/>
          </a:p>
          <a:p>
            <a:pPr indent="0" marL="0">
              <a:buNone/>
            </a:pPr>
            <a:r>
              <a:rPr lang="en-US" sz="1100" dirty="0">
                <a:solidFill>
                  <a:schemeClr val="accent5"/>
                </a:solidFill>
              </a:rPr>
              <a:t>Angular Elements</a:t>
            </a:r>
            <a:endParaRPr lang="en-US" sz="1400" dirty="0"/>
          </a:p>
        </p:txBody>
      </p:sp>
      <p:sp>
        <p:nvSpPr>
          <p:cNvPr id="24" name="pat-bg-1"/>
          <p:cNvSpPr/>
          <p:nvPr/>
        </p:nvSpPr>
        <p:spPr>
          <a:xfrm>
            <a:off x="3509696" y="2377440"/>
            <a:ext cx="2302688" cy="1600200"/>
          </a:xfrm>
          <a:prstGeom prst="rect">
            <a:avLst/>
          </a:prstGeom>
          <a:solidFill>
            <a:srgbClr val="F7FAF6"/>
          </a:solidFill>
          <a:ln w="12700">
            <a:solidFill>
              <a:srgbClr val="D5DDD6"/>
            </a:solidFill>
            <a:prstDash val="solid"/>
          </a:ln>
        </p:spPr>
      </p:sp>
      <p:sp>
        <p:nvSpPr>
          <p:cNvPr id="25" name="p2-page"/>
          <p:cNvSpPr/>
          <p:nvPr/>
        </p:nvSpPr>
        <p:spPr>
          <a:xfrm>
            <a:off x="3601136" y="2468880"/>
            <a:ext cx="2119808" cy="1417320"/>
          </a:xfrm>
          <a:prstGeom prst="rect">
            <a:avLst/>
          </a:prstGeom>
          <a:solidFill>
            <a:schemeClr val="bg1"/>
          </a:solidFill>
          <a:ln w="12700">
            <a:solidFill>
              <a:srgbClr val="BFD3C2"/>
            </a:solidFill>
            <a:prstDash val="solid"/>
          </a:ln>
        </p:spPr>
      </p:sp>
      <p:sp>
        <p:nvSpPr>
          <p:cNvPr id="26" name="Text 24"/>
          <p:cNvSpPr txBox="1"/>
          <p:nvPr/>
        </p:nvSpPr>
        <p:spPr>
          <a:xfrm>
            <a:off x="3646856" y="2496312"/>
            <a:ext cx="2028368" cy="256032"/>
          </a:xfrm>
          <a:prstGeom prst="rect">
            <a:avLst/>
          </a:prstGeom>
          <a:noFill/>
          <a:ln/>
        </p:spPr>
        <p:txBody>
          <a:bodyPr wrap="square" lIns="0" tIns="0" rIns="0" bIns="0" rtlCol="0" anchor="t"/>
          <a:lstStyle/>
          <a:p>
            <a:pPr indent="0" marL="0">
              <a:buNone/>
            </a:pPr>
            <a:r>
              <a:rPr lang="en-US" sz="1000" dirty="0">
                <a:solidFill>
                  <a:schemeClr val="accent5"/>
                </a:solidFill>
              </a:rPr>
              <a:t>Any host page (new or legacy)</a:t>
            </a:r>
            <a:endParaRPr lang="en-US" sz="1000" dirty="0"/>
          </a:p>
        </p:txBody>
      </p:sp>
      <p:sp>
        <p:nvSpPr>
          <p:cNvPr id="27" name="p2-el0"/>
          <p:cNvSpPr/>
          <p:nvPr/>
        </p:nvSpPr>
        <p:spPr>
          <a:xfrm>
            <a:off x="3646856" y="2834640"/>
            <a:ext cx="968464" cy="960120"/>
          </a:xfrm>
          <a:prstGeom prst="rect">
            <a:avLst/>
          </a:prstGeom>
          <a:solidFill>
            <a:srgbClr val="D9EED0"/>
          </a:solidFill>
          <a:ln w="12700">
            <a:solidFill>
              <a:schemeClr val="accent1"/>
            </a:solidFill>
            <a:prstDash val="solid"/>
          </a:ln>
        </p:spPr>
      </p:sp>
      <p:sp>
        <p:nvSpPr>
          <p:cNvPr id="28" name="Text 26"/>
          <p:cNvSpPr txBox="1"/>
          <p:nvPr/>
        </p:nvSpPr>
        <p:spPr>
          <a:xfrm>
            <a:off x="3646856" y="2834640"/>
            <a:ext cx="968464" cy="960120"/>
          </a:xfrm>
          <a:prstGeom prst="rect">
            <a:avLst/>
          </a:prstGeom>
          <a:noFill/>
          <a:ln/>
        </p:spPr>
        <p:txBody>
          <a:bodyPr wrap="square" lIns="0" tIns="0" rIns="0" bIns="0" rtlCol="0" anchor="ctr"/>
          <a:lstStyle/>
          <a:p>
            <a:pPr algn="ctr" indent="0" marL="0">
              <a:buNone/>
            </a:pPr>
            <a:r>
              <a:rPr lang="en-US" sz="1000" b="1" dirty="0">
                <a:solidFill>
                  <a:schemeClr val="tx2"/>
                </a:solidFill>
              </a:rPr>
              <a:t>&lt;domain-a&gt;</a:t>
            </a:r>
            <a:endParaRPr lang="en-US" sz="1000" dirty="0"/>
          </a:p>
          <a:p>
            <a:pPr algn="ctr" indent="0" marL="0">
              <a:buNone/>
            </a:pPr>
            <a:r>
              <a:rPr lang="en-US" sz="900" dirty="0">
                <a:solidFill>
                  <a:schemeClr val="accent5"/>
                </a:solidFill>
              </a:rPr>
              <a:t>own Angular inside</a:t>
            </a:r>
            <a:endParaRPr lang="en-US" sz="1000" dirty="0"/>
          </a:p>
        </p:txBody>
      </p:sp>
      <p:sp>
        <p:nvSpPr>
          <p:cNvPr id="29" name="p2-el1"/>
          <p:cNvSpPr/>
          <p:nvPr/>
        </p:nvSpPr>
        <p:spPr>
          <a:xfrm>
            <a:off x="4706760" y="2834640"/>
            <a:ext cx="968464" cy="960120"/>
          </a:xfrm>
          <a:prstGeom prst="rect">
            <a:avLst/>
          </a:prstGeom>
          <a:solidFill>
            <a:srgbClr val="D9EED0"/>
          </a:solidFill>
          <a:ln w="12700">
            <a:solidFill>
              <a:schemeClr val="accent1"/>
            </a:solidFill>
            <a:prstDash val="solid"/>
          </a:ln>
        </p:spPr>
      </p:sp>
      <p:sp>
        <p:nvSpPr>
          <p:cNvPr id="30" name="Text 28"/>
          <p:cNvSpPr txBox="1"/>
          <p:nvPr/>
        </p:nvSpPr>
        <p:spPr>
          <a:xfrm>
            <a:off x="4706760" y="2834640"/>
            <a:ext cx="968464" cy="960120"/>
          </a:xfrm>
          <a:prstGeom prst="rect">
            <a:avLst/>
          </a:prstGeom>
          <a:noFill/>
          <a:ln/>
        </p:spPr>
        <p:txBody>
          <a:bodyPr wrap="square" lIns="0" tIns="0" rIns="0" bIns="0" rtlCol="0" anchor="ctr"/>
          <a:lstStyle/>
          <a:p>
            <a:pPr algn="ctr" indent="0" marL="0">
              <a:buNone/>
            </a:pPr>
            <a:r>
              <a:rPr lang="en-US" sz="1000" b="1" dirty="0">
                <a:solidFill>
                  <a:schemeClr val="tx2"/>
                </a:solidFill>
              </a:rPr>
              <a:t>&lt;domain-b&gt;</a:t>
            </a:r>
            <a:endParaRPr lang="en-US" sz="1000" dirty="0"/>
          </a:p>
          <a:p>
            <a:pPr algn="ctr" indent="0" marL="0">
              <a:buNone/>
            </a:pPr>
            <a:r>
              <a:rPr lang="en-US" sz="900" dirty="0">
                <a:solidFill>
                  <a:schemeClr val="accent5"/>
                </a:solidFill>
              </a:rPr>
              <a:t>own Angular inside</a:t>
            </a:r>
            <a:endParaRPr lang="en-US" sz="1000" dirty="0"/>
          </a:p>
        </p:txBody>
      </p:sp>
      <p:sp>
        <p:nvSpPr>
          <p:cNvPr id="31" name="Text 29"/>
          <p:cNvSpPr txBox="1"/>
          <p:nvPr/>
        </p:nvSpPr>
        <p:spPr>
          <a:xfrm>
            <a:off x="3509696" y="4114800"/>
            <a:ext cx="2302688" cy="960120"/>
          </a:xfrm>
          <a:prstGeom prst="rect">
            <a:avLst/>
          </a:prstGeom>
          <a:noFill/>
          <a:ln/>
        </p:spPr>
        <p:txBody>
          <a:bodyPr wrap="square" lIns="0" tIns="0" rIns="0" bIns="0" rtlCol="0" anchor="t"/>
          <a:lstStyle/>
          <a:p>
            <a:pPr indent="0" marL="0">
              <a:buNone/>
            </a:pPr>
            <a:r>
              <a:rPr lang="en-US" sz="1200" dirty="0">
                <a:solidFill>
                  <a:schemeClr val="tx1"/>
                </a:solidFill>
              </a:rPr>
              <a:t>Each domain ships a custom HTML tag. Any page, including a legacy one, can host it.</a:t>
            </a:r>
            <a:endParaRPr lang="en-US" sz="1200" dirty="0"/>
          </a:p>
        </p:txBody>
      </p:sp>
      <p:sp>
        <p:nvSpPr>
          <p:cNvPr id="32" name="Text 30"/>
          <p:cNvSpPr txBox="1"/>
          <p:nvPr/>
        </p:nvSpPr>
        <p:spPr>
          <a:xfrm>
            <a:off x="3509696" y="5120640"/>
            <a:ext cx="2302688" cy="502920"/>
          </a:xfrm>
          <a:prstGeom prst="rect">
            <a:avLst/>
          </a:prstGeom>
          <a:noFill/>
          <a:ln/>
        </p:spPr>
        <p:txBody>
          <a:bodyPr wrap="square" lIns="0" tIns="0" rIns="0" bIns="0" rtlCol="0" anchor="t"/>
          <a:lstStyle/>
          <a:p>
            <a:pPr indent="0" marL="0">
              <a:buNone/>
            </a:pPr>
            <a:r>
              <a:rPr lang="en-US" sz="1200" b="1" dirty="0">
                <a:solidFill>
                  <a:schemeClr val="accent3"/>
                </a:solidFill>
              </a:rPr>
              <a:t>Good: </a:t>
            </a:r>
            <a:pPr indent="0" marL="0">
              <a:buNone/>
            </a:pPr>
            <a:r>
              <a:rPr lang="en-US" sz="1200" dirty="0">
                <a:solidFill>
                  <a:schemeClr val="tx1"/>
                </a:solidFill>
              </a:rPr>
              <a:t>Works in any host; versions can differ</a:t>
            </a:r>
            <a:endParaRPr lang="en-US" sz="1200" dirty="0"/>
          </a:p>
        </p:txBody>
      </p:sp>
      <p:sp>
        <p:nvSpPr>
          <p:cNvPr id="33" name="Text 31"/>
          <p:cNvSpPr txBox="1"/>
          <p:nvPr/>
        </p:nvSpPr>
        <p:spPr>
          <a:xfrm>
            <a:off x="3509696" y="5623560"/>
            <a:ext cx="2302688" cy="548640"/>
          </a:xfrm>
          <a:prstGeom prst="rect">
            <a:avLst/>
          </a:prstGeom>
          <a:noFill/>
          <a:ln/>
        </p:spPr>
        <p:txBody>
          <a:bodyPr wrap="square" lIns="0" tIns="0" rIns="0" bIns="0" rtlCol="0" anchor="t"/>
          <a:lstStyle/>
          <a:p>
            <a:pPr indent="0" marL="0">
              <a:buNone/>
            </a:pPr>
            <a:r>
              <a:rPr lang="en-US" sz="1200" b="1" dirty="0">
                <a:solidFill>
                  <a:schemeClr val="accent4"/>
                </a:solidFill>
              </a:rPr>
              <a:t>Watch: </a:t>
            </a:r>
            <a:pPr indent="0" marL="0">
              <a:buNone/>
            </a:pPr>
            <a:r>
              <a:rPr lang="en-US" sz="1200" dirty="0">
                <a:solidFill>
                  <a:schemeClr val="tx1"/>
                </a:solidFill>
              </a:rPr>
              <a:t>Each bundles its own Angular; larger downloads</a:t>
            </a:r>
            <a:endParaRPr lang="en-US" sz="1200" dirty="0"/>
          </a:p>
        </p:txBody>
      </p:sp>
      <p:sp>
        <p:nvSpPr>
          <p:cNvPr id="34" name="pat-2"/>
          <p:cNvSpPr/>
          <p:nvPr/>
        </p:nvSpPr>
        <p:spPr>
          <a:xfrm>
            <a:off x="6196432" y="1508760"/>
            <a:ext cx="2668448" cy="4800600"/>
          </a:xfrm>
          <a:prstGeom prst="roundRect">
            <a:avLst>
              <a:gd name="adj" fmla="val 2741"/>
            </a:avLst>
          </a:prstGeom>
          <a:solidFill>
            <a:schemeClr val="bg1"/>
          </a:solidFill>
          <a:ln w="15875">
            <a:solidFill>
              <a:srgbClr val="CFD8D1"/>
            </a:solidFill>
            <a:prstDash val="solid"/>
          </a:ln>
        </p:spPr>
      </p:sp>
      <p:sp>
        <p:nvSpPr>
          <p:cNvPr id="35" name="pat-n-2"/>
          <p:cNvSpPr/>
          <p:nvPr/>
        </p:nvSpPr>
        <p:spPr>
          <a:xfrm>
            <a:off x="6361024" y="1673352"/>
            <a:ext cx="411480" cy="411480"/>
          </a:xfrm>
          <a:prstGeom prst="ellipse">
            <a:avLst/>
          </a:prstGeom>
          <a:solidFill>
            <a:schemeClr val="accent1"/>
          </a:solidFill>
          <a:ln w="12700">
            <a:solidFill>
              <a:schemeClr val="accent1"/>
            </a:solidFill>
            <a:prstDash val="solid"/>
          </a:ln>
        </p:spPr>
      </p:sp>
      <p:sp>
        <p:nvSpPr>
          <p:cNvPr id="36" name="Text 34"/>
          <p:cNvSpPr txBox="1"/>
          <p:nvPr/>
        </p:nvSpPr>
        <p:spPr>
          <a:xfrm>
            <a:off x="6361024" y="167335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7" name="Text 35"/>
          <p:cNvSpPr txBox="1"/>
          <p:nvPr/>
        </p:nvSpPr>
        <p:spPr>
          <a:xfrm>
            <a:off x="6882232" y="1618488"/>
            <a:ext cx="1845488" cy="594360"/>
          </a:xfrm>
          <a:prstGeom prst="rect">
            <a:avLst/>
          </a:prstGeom>
          <a:noFill/>
          <a:ln/>
        </p:spPr>
        <p:txBody>
          <a:bodyPr wrap="square" lIns="0" tIns="0" rIns="0" bIns="0" rtlCol="0" anchor="ctr"/>
          <a:lstStyle/>
          <a:p>
            <a:pPr indent="0" marL="0">
              <a:buNone/>
            </a:pPr>
            <a:r>
              <a:rPr lang="en-US" sz="1500" b="1" dirty="0">
                <a:solidFill>
                  <a:schemeClr val="tx2"/>
                </a:solidFill>
              </a:rPr>
              <a:t>iframe</a:t>
            </a:r>
            <a:endParaRPr lang="en-US" sz="1400" dirty="0"/>
          </a:p>
          <a:p>
            <a:pPr indent="0" marL="0">
              <a:buNone/>
            </a:pPr>
            <a:r>
              <a:rPr lang="en-US" sz="1100" dirty="0">
                <a:solidFill>
                  <a:schemeClr val="accent5"/>
                </a:solidFill>
              </a:rPr>
              <a:t>Browser built-in</a:t>
            </a:r>
            <a:endParaRPr lang="en-US" sz="1400" dirty="0"/>
          </a:p>
        </p:txBody>
      </p:sp>
      <p:sp>
        <p:nvSpPr>
          <p:cNvPr id="38" name="pat-bg-2"/>
          <p:cNvSpPr/>
          <p:nvPr/>
        </p:nvSpPr>
        <p:spPr>
          <a:xfrm>
            <a:off x="6379312" y="2377440"/>
            <a:ext cx="2302688" cy="1600200"/>
          </a:xfrm>
          <a:prstGeom prst="rect">
            <a:avLst/>
          </a:prstGeom>
          <a:solidFill>
            <a:srgbClr val="F7FAF6"/>
          </a:solidFill>
          <a:ln w="12700">
            <a:solidFill>
              <a:srgbClr val="D5DDD6"/>
            </a:solidFill>
            <a:prstDash val="solid"/>
          </a:ln>
        </p:spPr>
      </p:sp>
      <p:sp>
        <p:nvSpPr>
          <p:cNvPr id="39" name="p3-shell"/>
          <p:cNvSpPr/>
          <p:nvPr/>
        </p:nvSpPr>
        <p:spPr>
          <a:xfrm>
            <a:off x="6470752" y="2468880"/>
            <a:ext cx="2119808" cy="292608"/>
          </a:xfrm>
          <a:prstGeom prst="rect">
            <a:avLst/>
          </a:prstGeom>
          <a:solidFill>
            <a:schemeClr val="tx2"/>
          </a:solidFill>
          <a:ln w="12700">
            <a:solidFill>
              <a:schemeClr val="tx2"/>
            </a:solidFill>
            <a:prstDash val="solid"/>
          </a:ln>
        </p:spPr>
      </p:sp>
      <p:sp>
        <p:nvSpPr>
          <p:cNvPr id="40" name="Text 38"/>
          <p:cNvSpPr txBox="1"/>
          <p:nvPr/>
        </p:nvSpPr>
        <p:spPr>
          <a:xfrm>
            <a:off x="6470752" y="2468880"/>
            <a:ext cx="2119808" cy="292608"/>
          </a:xfrm>
          <a:prstGeom prst="rect">
            <a:avLst/>
          </a:prstGeom>
          <a:noFill/>
          <a:ln/>
        </p:spPr>
        <p:txBody>
          <a:bodyPr wrap="square" lIns="0" tIns="0" rIns="0" bIns="0" rtlCol="0" anchor="ctr"/>
          <a:lstStyle/>
          <a:p>
            <a:pPr algn="ctr" indent="0" marL="0">
              <a:buNone/>
            </a:pPr>
            <a:r>
              <a:rPr lang="en-US" sz="1100" b="1" dirty="0">
                <a:solidFill>
                  <a:schemeClr val="bg1"/>
                </a:solidFill>
              </a:rPr>
              <a:t>Shell: navigation</a:t>
            </a:r>
            <a:endParaRPr lang="en-US" sz="1100" dirty="0"/>
          </a:p>
        </p:txBody>
      </p:sp>
      <p:sp>
        <p:nvSpPr>
          <p:cNvPr id="41" name="p3-frame"/>
          <p:cNvSpPr/>
          <p:nvPr/>
        </p:nvSpPr>
        <p:spPr>
          <a:xfrm>
            <a:off x="6470752" y="2852928"/>
            <a:ext cx="2119808" cy="1005840"/>
          </a:xfrm>
          <a:prstGeom prst="rect">
            <a:avLst/>
          </a:prstGeom>
          <a:solidFill>
            <a:schemeClr val="bg1"/>
          </a:solidFill>
          <a:ln w="12700">
            <a:solidFill>
              <a:schemeClr val="accent1"/>
            </a:solidFill>
            <a:prstDash val="solid"/>
          </a:ln>
        </p:spPr>
      </p:sp>
      <p:sp>
        <p:nvSpPr>
          <p:cNvPr id="42" name="p3-inner"/>
          <p:cNvSpPr/>
          <p:nvPr/>
        </p:nvSpPr>
        <p:spPr>
          <a:xfrm>
            <a:off x="6543904" y="2926080"/>
            <a:ext cx="1973504" cy="859536"/>
          </a:xfrm>
          <a:prstGeom prst="rect">
            <a:avLst/>
          </a:prstGeom>
          <a:solidFill>
            <a:srgbClr val="D9EED0"/>
          </a:solidFill>
          <a:ln w="12700">
            <a:solidFill>
              <a:schemeClr val="accent1"/>
            </a:solidFill>
            <a:prstDash val="dash"/>
          </a:ln>
        </p:spPr>
      </p:sp>
      <p:sp>
        <p:nvSpPr>
          <p:cNvPr id="43" name="Text 41"/>
          <p:cNvSpPr txBox="1"/>
          <p:nvPr/>
        </p:nvSpPr>
        <p:spPr>
          <a:xfrm>
            <a:off x="6543904" y="2926080"/>
            <a:ext cx="1973504" cy="859536"/>
          </a:xfrm>
          <a:prstGeom prst="rect">
            <a:avLst/>
          </a:prstGeom>
          <a:noFill/>
          <a:ln/>
        </p:spPr>
        <p:txBody>
          <a:bodyPr wrap="square" lIns="0" tIns="0" rIns="0" bIns="0" rtlCol="0" anchor="ctr"/>
          <a:lstStyle/>
          <a:p>
            <a:pPr algn="ctr" indent="0" marL="0">
              <a:buNone/>
            </a:pPr>
            <a:r>
              <a:rPr lang="en-US" sz="1000" b="1" dirty="0">
                <a:solidFill>
                  <a:schemeClr val="tx2"/>
                </a:solidFill>
              </a:rPr>
              <a:t>iframe</a:t>
            </a:r>
            <a:endParaRPr lang="en-US" sz="1000" dirty="0"/>
          </a:p>
          <a:p>
            <a:pPr algn="ctr" indent="0" marL="0">
              <a:buNone/>
            </a:pPr>
            <a:r>
              <a:rPr lang="en-US" sz="900" dirty="0">
                <a:solidFill>
                  <a:schemeClr val="accent5"/>
                </a:solidFill>
              </a:rPr>
              <a:t>domain page at its own URL</a:t>
            </a:r>
            <a:endParaRPr lang="en-US" sz="1000" dirty="0"/>
          </a:p>
        </p:txBody>
      </p:sp>
      <p:sp>
        <p:nvSpPr>
          <p:cNvPr id="44" name="Text 42"/>
          <p:cNvSpPr txBox="1"/>
          <p:nvPr/>
        </p:nvSpPr>
        <p:spPr>
          <a:xfrm>
            <a:off x="6379312" y="4114800"/>
            <a:ext cx="2302688" cy="960120"/>
          </a:xfrm>
          <a:prstGeom prst="rect">
            <a:avLst/>
          </a:prstGeom>
          <a:noFill/>
          <a:ln/>
        </p:spPr>
        <p:txBody>
          <a:bodyPr wrap="square" lIns="0" tIns="0" rIns="0" bIns="0" rtlCol="0" anchor="t"/>
          <a:lstStyle/>
          <a:p>
            <a:pPr indent="0" marL="0">
              <a:buNone/>
            </a:pPr>
            <a:r>
              <a:rPr lang="en-US" sz="1200" dirty="0">
                <a:solidFill>
                  <a:schemeClr val="tx1"/>
                </a:solidFill>
              </a:rPr>
              <a:t>The shell shows each domain's page inside a frame. They talk through postMessage.</a:t>
            </a:r>
            <a:endParaRPr lang="en-US" sz="1200" dirty="0"/>
          </a:p>
        </p:txBody>
      </p:sp>
      <p:sp>
        <p:nvSpPr>
          <p:cNvPr id="45" name="Text 43"/>
          <p:cNvSpPr txBox="1"/>
          <p:nvPr/>
        </p:nvSpPr>
        <p:spPr>
          <a:xfrm>
            <a:off x="6379312" y="5120640"/>
            <a:ext cx="2302688" cy="502920"/>
          </a:xfrm>
          <a:prstGeom prst="rect">
            <a:avLst/>
          </a:prstGeom>
          <a:noFill/>
          <a:ln/>
        </p:spPr>
        <p:txBody>
          <a:bodyPr wrap="square" lIns="0" tIns="0" rIns="0" bIns="0" rtlCol="0" anchor="t"/>
          <a:lstStyle/>
          <a:p>
            <a:pPr indent="0" marL="0">
              <a:buNone/>
            </a:pPr>
            <a:r>
              <a:rPr lang="en-US" sz="1200" b="1" dirty="0">
                <a:solidFill>
                  <a:schemeClr val="accent3"/>
                </a:solidFill>
              </a:rPr>
              <a:t>Good: </a:t>
            </a:r>
            <a:pPr indent="0" marL="0">
              <a:buNone/>
            </a:pPr>
            <a:r>
              <a:rPr lang="en-US" sz="1200" dirty="0">
                <a:solidFill>
                  <a:schemeClr val="tx1"/>
                </a:solidFill>
              </a:rPr>
              <a:t>Strongest isolation; quick to wrap legacy pages</a:t>
            </a:r>
            <a:endParaRPr lang="en-US" sz="1200" dirty="0"/>
          </a:p>
        </p:txBody>
      </p:sp>
      <p:sp>
        <p:nvSpPr>
          <p:cNvPr id="46" name="Text 44"/>
          <p:cNvSpPr txBox="1"/>
          <p:nvPr/>
        </p:nvSpPr>
        <p:spPr>
          <a:xfrm>
            <a:off x="6379312" y="5623560"/>
            <a:ext cx="2302688" cy="548640"/>
          </a:xfrm>
          <a:prstGeom prst="rect">
            <a:avLst/>
          </a:prstGeom>
          <a:noFill/>
          <a:ln/>
        </p:spPr>
        <p:txBody>
          <a:bodyPr wrap="square" lIns="0" tIns="0" rIns="0" bIns="0" rtlCol="0" anchor="t"/>
          <a:lstStyle/>
          <a:p>
            <a:pPr indent="0" marL="0">
              <a:buNone/>
            </a:pPr>
            <a:r>
              <a:rPr lang="en-US" sz="1200" b="1" dirty="0">
                <a:solidFill>
                  <a:schemeClr val="accent4"/>
                </a:solidFill>
              </a:rPr>
              <a:t>Watch: </a:t>
            </a:r>
            <a:pPr indent="0" marL="0">
              <a:buNone/>
            </a:pPr>
            <a:r>
              <a:rPr lang="en-US" sz="1200" dirty="0">
                <a:solidFill>
                  <a:schemeClr val="tx1"/>
                </a:solidFill>
              </a:rPr>
              <a:t>Sizing, deep links, styling and accessibility</a:t>
            </a:r>
            <a:endParaRPr lang="en-US" sz="1200" dirty="0"/>
          </a:p>
        </p:txBody>
      </p:sp>
      <p:sp>
        <p:nvSpPr>
          <p:cNvPr id="47" name="pat-3"/>
          <p:cNvSpPr/>
          <p:nvPr/>
        </p:nvSpPr>
        <p:spPr>
          <a:xfrm>
            <a:off x="9066047" y="1508760"/>
            <a:ext cx="2668448" cy="4800600"/>
          </a:xfrm>
          <a:prstGeom prst="roundRect">
            <a:avLst>
              <a:gd name="adj" fmla="val 2741"/>
            </a:avLst>
          </a:prstGeom>
          <a:solidFill>
            <a:schemeClr val="bg1"/>
          </a:solidFill>
          <a:ln w="15875">
            <a:solidFill>
              <a:srgbClr val="CFD8D1"/>
            </a:solidFill>
            <a:prstDash val="solid"/>
          </a:ln>
        </p:spPr>
      </p:sp>
      <p:sp>
        <p:nvSpPr>
          <p:cNvPr id="48" name="pat-n-3"/>
          <p:cNvSpPr/>
          <p:nvPr/>
        </p:nvSpPr>
        <p:spPr>
          <a:xfrm>
            <a:off x="9230639" y="1673352"/>
            <a:ext cx="411480" cy="411480"/>
          </a:xfrm>
          <a:prstGeom prst="ellipse">
            <a:avLst/>
          </a:prstGeom>
          <a:solidFill>
            <a:schemeClr val="accent1"/>
          </a:solidFill>
          <a:ln w="12700">
            <a:solidFill>
              <a:schemeClr val="accent1"/>
            </a:solidFill>
            <a:prstDash val="solid"/>
          </a:ln>
        </p:spPr>
      </p:sp>
      <p:sp>
        <p:nvSpPr>
          <p:cNvPr id="49" name="Text 47"/>
          <p:cNvSpPr txBox="1"/>
          <p:nvPr/>
        </p:nvSpPr>
        <p:spPr>
          <a:xfrm>
            <a:off x="9230639" y="1673352"/>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50" name="Text 48"/>
          <p:cNvSpPr txBox="1"/>
          <p:nvPr/>
        </p:nvSpPr>
        <p:spPr>
          <a:xfrm>
            <a:off x="9751847" y="1618488"/>
            <a:ext cx="1845488" cy="594360"/>
          </a:xfrm>
          <a:prstGeom prst="rect">
            <a:avLst/>
          </a:prstGeom>
          <a:noFill/>
          <a:ln/>
        </p:spPr>
        <p:txBody>
          <a:bodyPr wrap="square" lIns="0" tIns="0" rIns="0" bIns="0" rtlCol="0" anchor="ctr"/>
          <a:lstStyle/>
          <a:p>
            <a:pPr indent="0" marL="0">
              <a:buNone/>
            </a:pPr>
            <a:r>
              <a:rPr lang="en-US" sz="1500" b="1" dirty="0">
                <a:solidFill>
                  <a:schemeClr val="tx2"/>
                </a:solidFill>
              </a:rPr>
              <a:t>Route-based split</a:t>
            </a:r>
            <a:endParaRPr lang="en-US" sz="1400" dirty="0"/>
          </a:p>
          <a:p>
            <a:pPr indent="0" marL="0">
              <a:buNone/>
            </a:pPr>
            <a:r>
              <a:rPr lang="en-US" sz="1100" dirty="0">
                <a:solidFill>
                  <a:schemeClr val="accent5"/>
                </a:solidFill>
              </a:rPr>
              <a:t>Gateway or reverse proxy</a:t>
            </a:r>
            <a:endParaRPr lang="en-US" sz="1400" dirty="0"/>
          </a:p>
        </p:txBody>
      </p:sp>
      <p:sp>
        <p:nvSpPr>
          <p:cNvPr id="51" name="pat-bg-3"/>
          <p:cNvSpPr/>
          <p:nvPr/>
        </p:nvSpPr>
        <p:spPr>
          <a:xfrm>
            <a:off x="9248927" y="2377440"/>
            <a:ext cx="2302688" cy="1600200"/>
          </a:xfrm>
          <a:prstGeom prst="rect">
            <a:avLst/>
          </a:prstGeom>
          <a:solidFill>
            <a:srgbClr val="F7FAF6"/>
          </a:solidFill>
          <a:ln w="12700">
            <a:solidFill>
              <a:srgbClr val="D5DDD6"/>
            </a:solidFill>
            <a:prstDash val="solid"/>
          </a:ln>
        </p:spPr>
      </p:sp>
      <p:sp>
        <p:nvSpPr>
          <p:cNvPr id="52" name="p4-gw"/>
          <p:cNvSpPr/>
          <p:nvPr/>
        </p:nvSpPr>
        <p:spPr>
          <a:xfrm>
            <a:off x="9340367" y="2468880"/>
            <a:ext cx="2119808" cy="292608"/>
          </a:xfrm>
          <a:prstGeom prst="rect">
            <a:avLst/>
          </a:prstGeom>
          <a:solidFill>
            <a:schemeClr val="tx2"/>
          </a:solidFill>
          <a:ln w="12700">
            <a:solidFill>
              <a:schemeClr val="tx2"/>
            </a:solidFill>
            <a:prstDash val="solid"/>
          </a:ln>
        </p:spPr>
      </p:sp>
      <p:sp>
        <p:nvSpPr>
          <p:cNvPr id="53" name="Text 51"/>
          <p:cNvSpPr txBox="1"/>
          <p:nvPr/>
        </p:nvSpPr>
        <p:spPr>
          <a:xfrm>
            <a:off x="9340367" y="2468880"/>
            <a:ext cx="2119808" cy="292608"/>
          </a:xfrm>
          <a:prstGeom prst="rect">
            <a:avLst/>
          </a:prstGeom>
          <a:noFill/>
          <a:ln/>
        </p:spPr>
        <p:txBody>
          <a:bodyPr wrap="square" lIns="0" tIns="0" rIns="0" bIns="0" rtlCol="0" anchor="ctr"/>
          <a:lstStyle/>
          <a:p>
            <a:pPr algn="ctr" indent="0" marL="0">
              <a:buNone/>
            </a:pPr>
            <a:r>
              <a:rPr lang="en-US" sz="1100" b="1" dirty="0">
                <a:solidFill>
                  <a:schemeClr val="bg1"/>
                </a:solidFill>
              </a:rPr>
              <a:t>Gateway routes by path</a:t>
            </a:r>
            <a:endParaRPr lang="en-US" sz="1100" dirty="0"/>
          </a:p>
        </p:txBody>
      </p:sp>
      <p:sp>
        <p:nvSpPr>
          <p:cNvPr id="54" name="p4-a0"/>
          <p:cNvSpPr/>
          <p:nvPr/>
        </p:nvSpPr>
        <p:spPr>
          <a:xfrm>
            <a:off x="9580893" y="2816352"/>
            <a:ext cx="164592" cy="201168"/>
          </a:xfrm>
          <a:prstGeom prst="downArrow">
            <a:avLst/>
          </a:prstGeom>
          <a:solidFill>
            <a:schemeClr val="accent3"/>
          </a:solidFill>
          <a:ln w="12700">
            <a:solidFill>
              <a:schemeClr val="accent3"/>
            </a:solidFill>
            <a:prstDash val="solid"/>
          </a:ln>
        </p:spPr>
      </p:sp>
      <p:sp>
        <p:nvSpPr>
          <p:cNvPr id="55" name="p4-app0"/>
          <p:cNvSpPr/>
          <p:nvPr/>
        </p:nvSpPr>
        <p:spPr>
          <a:xfrm>
            <a:off x="9340367" y="3072384"/>
            <a:ext cx="645643" cy="786384"/>
          </a:xfrm>
          <a:prstGeom prst="rect">
            <a:avLst/>
          </a:prstGeom>
          <a:solidFill>
            <a:srgbClr val="D9EED0"/>
          </a:solidFill>
          <a:ln w="12700">
            <a:solidFill>
              <a:schemeClr val="accent1"/>
            </a:solidFill>
            <a:prstDash val="solid"/>
          </a:ln>
        </p:spPr>
      </p:sp>
      <p:sp>
        <p:nvSpPr>
          <p:cNvPr id="56" name="Text 54"/>
          <p:cNvSpPr txBox="1"/>
          <p:nvPr/>
        </p:nvSpPr>
        <p:spPr>
          <a:xfrm>
            <a:off x="9340367" y="3072384"/>
            <a:ext cx="645643" cy="786384"/>
          </a:xfrm>
          <a:prstGeom prst="rect">
            <a:avLst/>
          </a:prstGeom>
          <a:noFill/>
          <a:ln/>
        </p:spPr>
        <p:txBody>
          <a:bodyPr wrap="square" lIns="0" tIns="0" rIns="0" bIns="0" rtlCol="0" anchor="ctr"/>
          <a:lstStyle/>
          <a:p>
            <a:pPr algn="ctr" indent="0" marL="0">
              <a:buNone/>
            </a:pPr>
            <a:r>
              <a:rPr lang="en-US" sz="900" dirty="0">
                <a:solidFill>
                  <a:schemeClr val="tx2"/>
                </a:solidFill>
              </a:rPr>
              <a:t>/a/*</a:t>
            </a:r>
            <a:endParaRPr lang="en-US" sz="900" dirty="0"/>
          </a:p>
          <a:p>
            <a:pPr algn="ctr" indent="0" marL="0">
              <a:buNone/>
            </a:pPr>
            <a:r>
              <a:rPr lang="en-US" sz="900" dirty="0">
                <a:solidFill>
                  <a:schemeClr val="tx2"/>
                </a:solidFill>
              </a:rPr>
              <a:t>App A</a:t>
            </a:r>
            <a:endParaRPr lang="en-US" sz="900" dirty="0"/>
          </a:p>
        </p:txBody>
      </p:sp>
      <p:sp>
        <p:nvSpPr>
          <p:cNvPr id="57" name="p4-a1"/>
          <p:cNvSpPr/>
          <p:nvPr/>
        </p:nvSpPr>
        <p:spPr>
          <a:xfrm>
            <a:off x="10317975" y="2816352"/>
            <a:ext cx="164592" cy="201168"/>
          </a:xfrm>
          <a:prstGeom prst="downArrow">
            <a:avLst/>
          </a:prstGeom>
          <a:solidFill>
            <a:schemeClr val="accent3"/>
          </a:solidFill>
          <a:ln w="12700">
            <a:solidFill>
              <a:schemeClr val="accent3"/>
            </a:solidFill>
            <a:prstDash val="solid"/>
          </a:ln>
        </p:spPr>
      </p:sp>
      <p:sp>
        <p:nvSpPr>
          <p:cNvPr id="58" name="p4-app1"/>
          <p:cNvSpPr/>
          <p:nvPr/>
        </p:nvSpPr>
        <p:spPr>
          <a:xfrm>
            <a:off x="10077450" y="3072384"/>
            <a:ext cx="645643" cy="786384"/>
          </a:xfrm>
          <a:prstGeom prst="rect">
            <a:avLst/>
          </a:prstGeom>
          <a:solidFill>
            <a:srgbClr val="D9EED0"/>
          </a:solidFill>
          <a:ln w="12700">
            <a:solidFill>
              <a:schemeClr val="accent1"/>
            </a:solidFill>
            <a:prstDash val="solid"/>
          </a:ln>
        </p:spPr>
      </p:sp>
      <p:sp>
        <p:nvSpPr>
          <p:cNvPr id="59" name="Text 57"/>
          <p:cNvSpPr txBox="1"/>
          <p:nvPr/>
        </p:nvSpPr>
        <p:spPr>
          <a:xfrm>
            <a:off x="10077450" y="3072384"/>
            <a:ext cx="645643" cy="786384"/>
          </a:xfrm>
          <a:prstGeom prst="rect">
            <a:avLst/>
          </a:prstGeom>
          <a:noFill/>
          <a:ln/>
        </p:spPr>
        <p:txBody>
          <a:bodyPr wrap="square" lIns="0" tIns="0" rIns="0" bIns="0" rtlCol="0" anchor="ctr"/>
          <a:lstStyle/>
          <a:p>
            <a:pPr algn="ctr" indent="0" marL="0">
              <a:buNone/>
            </a:pPr>
            <a:r>
              <a:rPr lang="en-US" sz="900" dirty="0">
                <a:solidFill>
                  <a:schemeClr val="tx2"/>
                </a:solidFill>
              </a:rPr>
              <a:t>/b/*</a:t>
            </a:r>
            <a:endParaRPr lang="en-US" sz="900" dirty="0"/>
          </a:p>
          <a:p>
            <a:pPr algn="ctr" indent="0" marL="0">
              <a:buNone/>
            </a:pPr>
            <a:r>
              <a:rPr lang="en-US" sz="900" dirty="0">
                <a:solidFill>
                  <a:schemeClr val="tx2"/>
                </a:solidFill>
              </a:rPr>
              <a:t>App B</a:t>
            </a:r>
            <a:endParaRPr lang="en-US" sz="900" dirty="0"/>
          </a:p>
        </p:txBody>
      </p:sp>
      <p:sp>
        <p:nvSpPr>
          <p:cNvPr id="60" name="p4-a2"/>
          <p:cNvSpPr/>
          <p:nvPr/>
        </p:nvSpPr>
        <p:spPr>
          <a:xfrm>
            <a:off x="11055058" y="2816352"/>
            <a:ext cx="164592" cy="201168"/>
          </a:xfrm>
          <a:prstGeom prst="downArrow">
            <a:avLst/>
          </a:prstGeom>
          <a:solidFill>
            <a:schemeClr val="accent3"/>
          </a:solidFill>
          <a:ln w="12700">
            <a:solidFill>
              <a:schemeClr val="accent3"/>
            </a:solidFill>
            <a:prstDash val="solid"/>
          </a:ln>
        </p:spPr>
      </p:sp>
      <p:sp>
        <p:nvSpPr>
          <p:cNvPr id="61" name="p4-app2"/>
          <p:cNvSpPr/>
          <p:nvPr/>
        </p:nvSpPr>
        <p:spPr>
          <a:xfrm>
            <a:off x="10814533" y="3072384"/>
            <a:ext cx="645643" cy="786384"/>
          </a:xfrm>
          <a:prstGeom prst="rect">
            <a:avLst/>
          </a:prstGeom>
          <a:solidFill>
            <a:srgbClr val="EEF0EE"/>
          </a:solidFill>
          <a:ln w="12700">
            <a:solidFill>
              <a:srgbClr val="C9D2CB"/>
            </a:solidFill>
            <a:prstDash val="solid"/>
          </a:ln>
        </p:spPr>
      </p:sp>
      <p:sp>
        <p:nvSpPr>
          <p:cNvPr id="62" name="Text 60"/>
          <p:cNvSpPr txBox="1"/>
          <p:nvPr/>
        </p:nvSpPr>
        <p:spPr>
          <a:xfrm>
            <a:off x="10814533" y="3072384"/>
            <a:ext cx="645643" cy="786384"/>
          </a:xfrm>
          <a:prstGeom prst="rect">
            <a:avLst/>
          </a:prstGeom>
          <a:noFill/>
          <a:ln/>
        </p:spPr>
        <p:txBody>
          <a:bodyPr wrap="square" lIns="0" tIns="0" rIns="0" bIns="0" rtlCol="0" anchor="ctr"/>
          <a:lstStyle/>
          <a:p>
            <a:pPr algn="ctr" indent="0" marL="0">
              <a:buNone/>
            </a:pPr>
            <a:r>
              <a:rPr lang="en-US" sz="900" dirty="0">
                <a:solidFill>
                  <a:schemeClr val="tx2"/>
                </a:solidFill>
              </a:rPr>
              <a:t>/legacy/*</a:t>
            </a:r>
            <a:endParaRPr lang="en-US" sz="900" dirty="0"/>
          </a:p>
          <a:p>
            <a:pPr algn="ctr" indent="0" marL="0">
              <a:buNone/>
            </a:pPr>
            <a:r>
              <a:rPr lang="en-US" sz="900" dirty="0">
                <a:solidFill>
                  <a:schemeClr val="tx2"/>
                </a:solidFill>
              </a:rPr>
              <a:t>Legacy</a:t>
            </a:r>
            <a:endParaRPr lang="en-US" sz="900" dirty="0"/>
          </a:p>
        </p:txBody>
      </p:sp>
      <p:sp>
        <p:nvSpPr>
          <p:cNvPr id="63" name="Text 61"/>
          <p:cNvSpPr txBox="1"/>
          <p:nvPr/>
        </p:nvSpPr>
        <p:spPr>
          <a:xfrm>
            <a:off x="9248927" y="4114800"/>
            <a:ext cx="2302688" cy="960120"/>
          </a:xfrm>
          <a:prstGeom prst="rect">
            <a:avLst/>
          </a:prstGeom>
          <a:noFill/>
          <a:ln/>
        </p:spPr>
        <p:txBody>
          <a:bodyPr wrap="square" lIns="0" tIns="0" rIns="0" bIns="0" rtlCol="0" anchor="t"/>
          <a:lstStyle/>
          <a:p>
            <a:pPr indent="0" marL="0">
              <a:buNone/>
            </a:pPr>
            <a:r>
              <a:rPr lang="en-US" sz="1200" dirty="0">
                <a:solidFill>
                  <a:schemeClr val="tx1"/>
                </a:solidFill>
              </a:rPr>
              <a:t>The gateway sends each URL path to a different app. Moving between domains is a full page load.</a:t>
            </a:r>
            <a:endParaRPr lang="en-US" sz="1200" dirty="0"/>
          </a:p>
        </p:txBody>
      </p:sp>
      <p:sp>
        <p:nvSpPr>
          <p:cNvPr id="64" name="Text 62"/>
          <p:cNvSpPr txBox="1"/>
          <p:nvPr/>
        </p:nvSpPr>
        <p:spPr>
          <a:xfrm>
            <a:off x="9248927" y="5120640"/>
            <a:ext cx="2302688" cy="502920"/>
          </a:xfrm>
          <a:prstGeom prst="rect">
            <a:avLst/>
          </a:prstGeom>
          <a:noFill/>
          <a:ln/>
        </p:spPr>
        <p:txBody>
          <a:bodyPr wrap="square" lIns="0" tIns="0" rIns="0" bIns="0" rtlCol="0" anchor="t"/>
          <a:lstStyle/>
          <a:p>
            <a:pPr indent="0" marL="0">
              <a:buNone/>
            </a:pPr>
            <a:r>
              <a:rPr lang="en-US" sz="1200" b="1" dirty="0">
                <a:solidFill>
                  <a:schemeClr val="accent3"/>
                </a:solidFill>
              </a:rPr>
              <a:t>Good: </a:t>
            </a:r>
            <a:pPr indent="0" marL="0">
              <a:buNone/>
            </a:pPr>
            <a:r>
              <a:rPr lang="en-US" sz="1200" dirty="0">
                <a:solidFill>
                  <a:schemeClr val="tx1"/>
                </a:solidFill>
              </a:rPr>
              <a:t>Simplest; fully independent apps</a:t>
            </a:r>
            <a:endParaRPr lang="en-US" sz="1200" dirty="0"/>
          </a:p>
        </p:txBody>
      </p:sp>
      <p:sp>
        <p:nvSpPr>
          <p:cNvPr id="65" name="Text 63"/>
          <p:cNvSpPr txBox="1"/>
          <p:nvPr/>
        </p:nvSpPr>
        <p:spPr>
          <a:xfrm>
            <a:off x="9248927" y="5623560"/>
            <a:ext cx="2302688" cy="548640"/>
          </a:xfrm>
          <a:prstGeom prst="rect">
            <a:avLst/>
          </a:prstGeom>
          <a:noFill/>
          <a:ln/>
        </p:spPr>
        <p:txBody>
          <a:bodyPr wrap="square" lIns="0" tIns="0" rIns="0" bIns="0" rtlCol="0" anchor="t"/>
          <a:lstStyle/>
          <a:p>
            <a:pPr indent="0" marL="0">
              <a:buNone/>
            </a:pPr>
            <a:r>
              <a:rPr lang="en-US" sz="1200" b="1" dirty="0">
                <a:solidFill>
                  <a:schemeClr val="accent4"/>
                </a:solidFill>
              </a:rPr>
              <a:t>Watch: </a:t>
            </a:r>
            <a:pPr indent="0" marL="0">
              <a:buNone/>
            </a:pPr>
            <a:r>
              <a:rPr lang="en-US" sz="1200" dirty="0">
                <a:solidFill>
                  <a:schemeClr val="tx1"/>
                </a:solidFill>
              </a:rPr>
              <a:t>Page reloads; shell work repeated in each app</a:t>
            </a:r>
            <a:endParaRPr lang="en-US" sz="12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How the patterns compare, and where each would fit</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Mixing them deliberately is common: one main pattern for new domains, and a simpler one as a temporary bridge to legacy pages.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7295" cy="914400"/>
        </p:xfrm>
        <a:graphic>
          <a:graphicData uri="http://schemas.openxmlformats.org/drawingml/2006/table">
            <a:tbl>
              <a:tblPr/>
              <a:tblGrid>
                <a:gridCol w="2148840"/>
                <a:gridCol w="1600200"/>
                <a:gridCol w="1463040"/>
                <a:gridCol w="1691640"/>
                <a:gridCol w="1828800"/>
                <a:gridCol w="1600200"/>
                <a:gridCol w="941832"/>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User experience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Isolation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Shared libraries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Login carry-over</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Hosts legacy pages?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Effort</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r>
              <a:tr h="50292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1. Runtime federation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Seamless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Low: same page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BE9C6"/>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Shared once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Same app session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7D9D4"/>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BE9C6"/>
                    </a:solidFill>
                  </a:tcPr>
                </a:tc>
              </a:tr>
              <a:tr h="50292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2. Web components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Seamless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BE9C6"/>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Duplicated per domain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7D9D4"/>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Same app session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Yes: drop into any page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BE9C6"/>
                    </a:solidFill>
                  </a:tcPr>
                </a:tc>
              </a:tr>
              <a:tr h="50292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3. iframe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Clunky: frames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7D9D4"/>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Duplicated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7D9D4"/>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Needs token or cookie hand-off</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BE9C6"/>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Yes: wrap as is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r>
              <a:tr h="50292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4. Route-based split</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Page reloads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BE9C6"/>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Strong</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Duplicated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7D9D4"/>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Shared cookie domain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FBE9C6"/>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Yes: route to legacy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200" dirty="0">
                          <a:solidFill>
                            <a:srgbClr val="1C2B1E"/>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r>
            </a:tbl>
          </a:graphicData>
        </a:graphic>
      </p:graphicFrame>
      <p:sp>
        <p:nvSpPr>
          <p:cNvPr id="5" name="fit-p-0"/>
          <p:cNvSpPr/>
          <p:nvPr/>
        </p:nvSpPr>
        <p:spPr>
          <a:xfrm>
            <a:off x="457200" y="4343400"/>
            <a:ext cx="3606698" cy="1600200"/>
          </a:xfrm>
          <a:prstGeom prst="roundRect">
            <a:avLst>
              <a:gd name="adj" fmla="val 4571"/>
            </a:avLst>
          </a:prstGeom>
          <a:solidFill>
            <a:schemeClr val="bg2"/>
          </a:solidFill>
          <a:ln w="9525">
            <a:solidFill>
              <a:schemeClr val="bg2"/>
            </a:solidFill>
            <a:prstDash val="solid"/>
          </a:ln>
        </p:spPr>
      </p:sp>
      <p:sp>
        <p:nvSpPr>
          <p:cNvPr id="6" name="Text 3"/>
          <p:cNvSpPr txBox="1"/>
          <p:nvPr/>
        </p:nvSpPr>
        <p:spPr>
          <a:xfrm>
            <a:off x="658368" y="4480560"/>
            <a:ext cx="3204362" cy="137160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New Angular domains</a:t>
            </a:r>
            <a:endParaRPr lang="en-US" sz="1400" dirty="0"/>
          </a:p>
          <a:p>
            <a:pPr indent="0" marL="0">
              <a:spcAft>
                <a:spcPts val="500"/>
              </a:spcAft>
              <a:buNone/>
            </a:pPr>
            <a:r>
              <a:rPr lang="en-US" sz="1400" b="1" dirty="0">
                <a:solidFill>
                  <a:schemeClr val="accent1"/>
                </a:solidFill>
              </a:rPr>
              <a:t>Runtime federation (1)</a:t>
            </a:r>
            <a:endParaRPr lang="en-US" sz="1400" dirty="0"/>
          </a:p>
          <a:p>
            <a:pPr indent="0" marL="0">
              <a:spcAft>
                <a:spcPts val="500"/>
              </a:spcAft>
              <a:buNone/>
            </a:pPr>
            <a:r>
              <a:rPr lang="en-US" sz="1300" dirty="0">
                <a:solidFill>
                  <a:schemeClr val="tx1"/>
                </a:solidFill>
              </a:rPr>
              <a:t>One app experience, shared Angular, smallest bundles.</a:t>
            </a:r>
            <a:endParaRPr lang="en-US" sz="1400" dirty="0"/>
          </a:p>
        </p:txBody>
      </p:sp>
      <p:sp>
        <p:nvSpPr>
          <p:cNvPr id="7" name="fit-p-1"/>
          <p:cNvSpPr/>
          <p:nvPr/>
        </p:nvSpPr>
        <p:spPr>
          <a:xfrm>
            <a:off x="4292498" y="4343400"/>
            <a:ext cx="3606698" cy="1600200"/>
          </a:xfrm>
          <a:prstGeom prst="roundRect">
            <a:avLst>
              <a:gd name="adj" fmla="val 4571"/>
            </a:avLst>
          </a:prstGeom>
          <a:solidFill>
            <a:schemeClr val="bg2"/>
          </a:solidFill>
          <a:ln w="9525">
            <a:solidFill>
              <a:schemeClr val="bg2"/>
            </a:solidFill>
            <a:prstDash val="solid"/>
          </a:ln>
        </p:spPr>
      </p:sp>
      <p:sp>
        <p:nvSpPr>
          <p:cNvPr id="8" name="Text 5"/>
          <p:cNvSpPr txBox="1"/>
          <p:nvPr/>
        </p:nvSpPr>
        <p:spPr>
          <a:xfrm>
            <a:off x="4493666" y="4480560"/>
            <a:ext cx="3204362" cy="137160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Legacy pages during migration</a:t>
            </a:r>
            <a:endParaRPr lang="en-US" sz="1400" dirty="0"/>
          </a:p>
          <a:p>
            <a:pPr indent="0" marL="0">
              <a:spcAft>
                <a:spcPts val="500"/>
              </a:spcAft>
              <a:buNone/>
            </a:pPr>
            <a:r>
              <a:rPr lang="en-US" sz="1400" b="1" dirty="0">
                <a:solidFill>
                  <a:schemeClr val="accent1"/>
                </a:solidFill>
              </a:rPr>
              <a:t>Route-based (4) or iframe (3)</a:t>
            </a:r>
            <a:endParaRPr lang="en-US" sz="1400" dirty="0"/>
          </a:p>
          <a:p>
            <a:pPr indent="0" marL="0">
              <a:spcAft>
                <a:spcPts val="500"/>
              </a:spcAft>
              <a:buNone/>
            </a:pPr>
            <a:r>
              <a:rPr lang="en-US" sz="1300" dirty="0">
                <a:solidFill>
                  <a:schemeClr val="tx1"/>
                </a:solidFill>
              </a:rPr>
              <a:t>Keep legacy pages reachable without rework until each is retired.</a:t>
            </a:r>
            <a:endParaRPr lang="en-US" sz="1400" dirty="0"/>
          </a:p>
        </p:txBody>
      </p:sp>
      <p:sp>
        <p:nvSpPr>
          <p:cNvPr id="9" name="fit-p-2"/>
          <p:cNvSpPr/>
          <p:nvPr/>
        </p:nvSpPr>
        <p:spPr>
          <a:xfrm>
            <a:off x="8127797" y="4343400"/>
            <a:ext cx="3606698" cy="1600200"/>
          </a:xfrm>
          <a:prstGeom prst="roundRect">
            <a:avLst>
              <a:gd name="adj" fmla="val 4571"/>
            </a:avLst>
          </a:prstGeom>
          <a:solidFill>
            <a:schemeClr val="bg2"/>
          </a:solidFill>
          <a:ln w="9525">
            <a:solidFill>
              <a:schemeClr val="bg2"/>
            </a:solidFill>
            <a:prstDash val="solid"/>
          </a:ln>
        </p:spPr>
      </p:sp>
      <p:sp>
        <p:nvSpPr>
          <p:cNvPr id="10" name="Text 7"/>
          <p:cNvSpPr txBox="1"/>
          <p:nvPr/>
        </p:nvSpPr>
        <p:spPr>
          <a:xfrm>
            <a:off x="8328965" y="4480560"/>
            <a:ext cx="3204362" cy="137160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New UI inside a legacy page</a:t>
            </a:r>
            <a:endParaRPr lang="en-US" sz="1400" dirty="0"/>
          </a:p>
          <a:p>
            <a:pPr indent="0" marL="0">
              <a:spcAft>
                <a:spcPts val="500"/>
              </a:spcAft>
              <a:buNone/>
            </a:pPr>
            <a:r>
              <a:rPr lang="en-US" sz="1400" b="1" dirty="0">
                <a:solidFill>
                  <a:schemeClr val="accent1"/>
                </a:solidFill>
              </a:rPr>
              <a:t>Web components (2)</a:t>
            </a:r>
            <a:endParaRPr lang="en-US" sz="1400" dirty="0"/>
          </a:p>
          <a:p>
            <a:pPr indent="0" marL="0">
              <a:spcAft>
                <a:spcPts val="500"/>
              </a:spcAft>
              <a:buNone/>
            </a:pPr>
            <a:r>
              <a:rPr lang="en-US" sz="1300" dirty="0">
                <a:solidFill>
                  <a:schemeClr val="tx1"/>
                </a:solidFill>
              </a:rPr>
              <a:t>Only if a legacy page must host a new piece before it moves.</a:t>
            </a:r>
            <a:endParaRPr lang="en-US" sz="14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A low-regret path: build each slice so it can ship either way</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A domain slice built as a library with a clean route entry point can be installed in the app now and deployed alone later.</a:t>
            </a:r>
            <a:endParaRPr lang="en-US" sz="1600" dirty="0"/>
          </a:p>
        </p:txBody>
      </p:sp>
      <p:sp>
        <p:nvSpPr>
          <p:cNvPr id="4" name="slice-core"/>
          <p:cNvSpPr/>
          <p:nvPr/>
        </p:nvSpPr>
        <p:spPr>
          <a:xfrm>
            <a:off x="4160520" y="1691640"/>
            <a:ext cx="3840480" cy="1463040"/>
          </a:xfrm>
          <a:prstGeom prst="roundRect">
            <a:avLst>
              <a:gd name="adj" fmla="val 5000"/>
            </a:avLst>
          </a:prstGeom>
          <a:solidFill>
            <a:schemeClr val="tx2"/>
          </a:solidFill>
          <a:ln w="9525">
            <a:solidFill>
              <a:schemeClr val="tx2"/>
            </a:solidFill>
            <a:prstDash val="solid"/>
          </a:ln>
        </p:spPr>
      </p:sp>
      <p:sp>
        <p:nvSpPr>
          <p:cNvPr id="5" name="Text 3"/>
          <p:cNvSpPr txBox="1"/>
          <p:nvPr/>
        </p:nvSpPr>
        <p:spPr>
          <a:xfrm>
            <a:off x="4343400" y="1691640"/>
            <a:ext cx="3474720" cy="1463040"/>
          </a:xfrm>
          <a:prstGeom prst="rect">
            <a:avLst/>
          </a:prstGeom>
          <a:noFill/>
          <a:ln/>
        </p:spPr>
        <p:txBody>
          <a:bodyPr wrap="square" lIns="0" tIns="0" rIns="0" bIns="0" rtlCol="0" anchor="ctr"/>
          <a:lstStyle/>
          <a:p>
            <a:pPr algn="ctr" indent="0" marL="0">
              <a:buNone/>
            </a:pPr>
            <a:r>
              <a:rPr lang="en-US" sz="1800" b="1" dirty="0">
                <a:solidFill>
                  <a:schemeClr val="bg1"/>
                </a:solidFill>
              </a:rPr>
              <a:t>Domain slice</a:t>
            </a:r>
            <a:endParaRPr lang="en-US" sz="1400" dirty="0"/>
          </a:p>
          <a:p>
            <a:pPr algn="ctr" indent="0" marL="0">
              <a:buNone/>
            </a:pPr>
            <a:r>
              <a:rPr lang="en-US" sz="1300" dirty="0">
                <a:solidFill>
                  <a:schemeClr val="accent6"/>
                </a:solidFill>
              </a:rPr>
              <a:t>Angular library with a route entry point and a public API</a:t>
            </a:r>
            <a:endParaRPr lang="en-US" sz="1400" dirty="0"/>
          </a:p>
        </p:txBody>
      </p:sp>
      <p:sp>
        <p:nvSpPr>
          <p:cNvPr id="6" name="to-lib"/>
          <p:cNvSpPr/>
          <p:nvPr/>
        </p:nvSpPr>
        <p:spPr>
          <a:xfrm>
            <a:off x="4709160" y="3154680"/>
            <a:ext cx="-1783080" cy="502920"/>
          </a:xfrm>
          <a:prstGeom prst="line">
            <a:avLst/>
          </a:prstGeom>
          <a:noFill/>
          <a:ln w="25400">
            <a:solidFill>
              <a:srgbClr val="2D6A8A"/>
            </a:solidFill>
            <a:prstDash val="solid"/>
            <a:tailEnd type="triangle"/>
          </a:ln>
        </p:spPr>
      </p:sp>
      <p:sp>
        <p:nvSpPr>
          <p:cNvPr id="7" name="to-mfe"/>
          <p:cNvSpPr/>
          <p:nvPr/>
        </p:nvSpPr>
        <p:spPr>
          <a:xfrm>
            <a:off x="7452360" y="3154680"/>
            <a:ext cx="1813255" cy="502920"/>
          </a:xfrm>
          <a:prstGeom prst="line">
            <a:avLst/>
          </a:prstGeom>
          <a:noFill/>
          <a:ln w="25400">
            <a:solidFill>
              <a:schemeClr val="accent1"/>
            </a:solidFill>
            <a:prstDash val="solid"/>
            <a:tailEnd type="triangle"/>
          </a:ln>
        </p:spPr>
      </p:sp>
      <p:sp>
        <p:nvSpPr>
          <p:cNvPr id="8" name="as-lib"/>
          <p:cNvSpPr/>
          <p:nvPr/>
        </p:nvSpPr>
        <p:spPr>
          <a:xfrm>
            <a:off x="822960" y="3657600"/>
            <a:ext cx="4206240" cy="1325880"/>
          </a:xfrm>
          <a:prstGeom prst="roundRect">
            <a:avLst>
              <a:gd name="adj" fmla="val 5517"/>
            </a:avLst>
          </a:prstGeom>
          <a:solidFill>
            <a:srgbClr val="DCEAF2"/>
          </a:solidFill>
          <a:ln w="15875">
            <a:solidFill>
              <a:srgbClr val="2D6A8A"/>
            </a:solidFill>
            <a:prstDash val="solid"/>
          </a:ln>
        </p:spPr>
      </p:sp>
      <p:sp>
        <p:nvSpPr>
          <p:cNvPr id="9" name="Text 7"/>
          <p:cNvSpPr txBox="1"/>
          <p:nvPr/>
        </p:nvSpPr>
        <p:spPr>
          <a:xfrm>
            <a:off x="1005840" y="3657600"/>
            <a:ext cx="3840480" cy="1325880"/>
          </a:xfrm>
          <a:prstGeom prst="rect">
            <a:avLst/>
          </a:prstGeom>
          <a:noFill/>
          <a:ln/>
        </p:spPr>
        <p:txBody>
          <a:bodyPr wrap="square" lIns="0" tIns="0" rIns="0" bIns="0" rtlCol="0" anchor="ctr"/>
          <a:lstStyle/>
          <a:p>
            <a:pPr indent="0" marL="0">
              <a:buNone/>
            </a:pPr>
            <a:r>
              <a:rPr lang="en-US" sz="1600" b="1" dirty="0">
                <a:solidFill>
                  <a:srgbClr val="2D6A8A"/>
                </a:solidFill>
              </a:rPr>
              <a:t>Choice 2: install it</a:t>
            </a:r>
            <a:endParaRPr lang="en-US" sz="1400" dirty="0"/>
          </a:p>
          <a:p>
            <a:pPr indent="0" marL="0">
              <a:buNone/>
            </a:pPr>
            <a:r>
              <a:rPr lang="en-US" sz="1300" dirty="0">
                <a:solidFill>
                  <a:schemeClr val="tx1"/>
                </a:solidFill>
              </a:rPr>
              <a:t>The app imports the slice's routes and ships it in its release.</a:t>
            </a:r>
            <a:endParaRPr lang="en-US" sz="1400" dirty="0"/>
          </a:p>
        </p:txBody>
      </p:sp>
      <p:sp>
        <p:nvSpPr>
          <p:cNvPr id="10" name="as-mfe"/>
          <p:cNvSpPr/>
          <p:nvPr/>
        </p:nvSpPr>
        <p:spPr>
          <a:xfrm>
            <a:off x="7162495" y="3657600"/>
            <a:ext cx="4206240" cy="1325880"/>
          </a:xfrm>
          <a:prstGeom prst="roundRect">
            <a:avLst>
              <a:gd name="adj" fmla="val 5517"/>
            </a:avLst>
          </a:prstGeom>
          <a:solidFill>
            <a:srgbClr val="D9EED0"/>
          </a:solidFill>
          <a:ln w="15875">
            <a:solidFill>
              <a:schemeClr val="accent1"/>
            </a:solidFill>
            <a:prstDash val="solid"/>
          </a:ln>
        </p:spPr>
      </p:sp>
      <p:sp>
        <p:nvSpPr>
          <p:cNvPr id="11" name="Text 9"/>
          <p:cNvSpPr txBox="1"/>
          <p:nvPr/>
        </p:nvSpPr>
        <p:spPr>
          <a:xfrm>
            <a:off x="7345375" y="3657600"/>
            <a:ext cx="3840480" cy="1325880"/>
          </a:xfrm>
          <a:prstGeom prst="rect">
            <a:avLst/>
          </a:prstGeom>
          <a:noFill/>
          <a:ln/>
        </p:spPr>
        <p:txBody>
          <a:bodyPr wrap="square" lIns="0" tIns="0" rIns="0" bIns="0" rtlCol="0" anchor="ctr"/>
          <a:lstStyle/>
          <a:p>
            <a:pPr indent="0" marL="0">
              <a:buNone/>
            </a:pPr>
            <a:r>
              <a:rPr lang="en-US" sz="1600" b="1" dirty="0">
                <a:solidFill>
                  <a:schemeClr val="accent3"/>
                </a:solidFill>
              </a:rPr>
              <a:t>Choice 1: deploy it</a:t>
            </a:r>
            <a:endParaRPr lang="en-US" sz="1400" dirty="0"/>
          </a:p>
          <a:p>
            <a:pPr indent="0" marL="0">
              <a:buNone/>
            </a:pPr>
            <a:r>
              <a:rPr lang="en-US" sz="1300" dirty="0">
                <a:solidFill>
                  <a:schemeClr val="tx1"/>
                </a:solidFill>
              </a:rPr>
              <a:t>A thin wrapper app exposes the same routes to the shell at runtime.</a:t>
            </a:r>
            <a:endParaRPr lang="en-US" sz="1400" dirty="0"/>
          </a:p>
        </p:txBody>
      </p:sp>
      <p:sp>
        <p:nvSpPr>
          <p:cNvPr id="12" name="rules"/>
          <p:cNvSpPr/>
          <p:nvPr/>
        </p:nvSpPr>
        <p:spPr>
          <a:xfrm>
            <a:off x="457200" y="5257800"/>
            <a:ext cx="11277295" cy="1097280"/>
          </a:xfrm>
          <a:prstGeom prst="roundRect">
            <a:avLst>
              <a:gd name="adj" fmla="val 6667"/>
            </a:avLst>
          </a:prstGeom>
          <a:solidFill>
            <a:schemeClr val="bg2"/>
          </a:solidFill>
          <a:ln w="9525">
            <a:solidFill>
              <a:schemeClr val="bg2"/>
            </a:solidFill>
            <a:prstDash val="solid"/>
          </a:ln>
        </p:spPr>
      </p:sp>
      <p:sp>
        <p:nvSpPr>
          <p:cNvPr id="13" name="Text 11"/>
          <p:cNvSpPr txBox="1"/>
          <p:nvPr/>
        </p:nvSpPr>
        <p:spPr>
          <a:xfrm>
            <a:off x="685800" y="5257800"/>
            <a:ext cx="10820095" cy="1097280"/>
          </a:xfrm>
          <a:prstGeom prst="rect">
            <a:avLst/>
          </a:prstGeom>
          <a:noFill/>
          <a:ln/>
        </p:spPr>
        <p:txBody>
          <a:bodyPr wrap="square" lIns="0" tIns="0" rIns="0" bIns="0" rtlCol="0" anchor="ctr"/>
          <a:lstStyle/>
          <a:p>
            <a:pPr indent="0" marL="0">
              <a:buNone/>
            </a:pPr>
            <a:r>
              <a:rPr lang="en-US" sz="1400" b="1" dirty="0">
                <a:solidFill>
                  <a:schemeClr val="tx2"/>
                </a:solidFill>
              </a:rPr>
              <a:t>Rules that keep a slice portable:  </a:t>
            </a:r>
            <a:pPr indent="0" marL="0">
              <a:buNone/>
            </a:pPr>
            <a:r>
              <a:rPr lang="en-US" sz="1400" dirty="0">
                <a:solidFill>
                  <a:schemeClr val="tx1"/>
                </a:solidFill>
              </a:rPr>
              <a:t>no imports between slices  |  talk through routes and events  |  get auth and config through injected services  |  no global styles  |  own a route prefix  |  depend only on the shared foundation</a:t>
            </a:r>
            <a:endParaRPr lang="en-US" sz="14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Risks of each choice and how to handle them</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Libraries risk keeping the release bottleneck. Micro frontends risk drifting apart at runtime.</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5501488" cy="914400"/>
        </p:xfrm>
        <a:graphic>
          <a:graphicData uri="http://schemas.openxmlformats.org/drawingml/2006/table">
            <a:tbl>
              <a:tblPr/>
              <a:tblGrid>
                <a:gridCol w="2377440"/>
                <a:gridCol w="3124048"/>
              </a:tblGrid>
              <a:tr h="7772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Library risk</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Release train stays the bottleneck</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CEAF2"/>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Automate app releases; run only affected tests; release often</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App team overloaded with integration</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CEAF2"/>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Automated version bumps and merges</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Slices lag on old versions</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CEAF2"/>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One version policy; bump bot; or a monorepo with no publishing</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Hidden coupling between slices</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CEAF2"/>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Lint-enforced boundaries; code owners per slice</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233008" y="1554480"/>
          <a:ext cx="5501488" cy="914400"/>
        </p:xfrm>
        <a:graphic>
          <a:graphicData uri="http://schemas.openxmlformats.org/drawingml/2006/table">
            <a:tbl>
              <a:tblPr/>
              <a:tblGrid>
                <a:gridCol w="2377440"/>
                <a:gridCol w="3124048"/>
              </a:tblGrid>
              <a:tr h="7772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Micro frontend risk</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36872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368727"/>
                    </a:solidFill>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Versions out of sync at runtime</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Share only singletons; upgrade Angular together</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Platform and running cost</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Small platform group; pipeline template</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Integration bugs in production</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Contract tests; shell smoke test on every deploy</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777240">
                <a:tc>
                  <a:txBody>
                    <a:bodyPr/>
                    <a:lstStyle/>
                    <a:p>
                      <a:pPr indent="0" marL="0">
                        <a:buNone/>
                      </a:pPr>
                      <a:r>
                        <a:rPr lang="en-US" sz="1300" b="1" dirty="0">
                          <a:solidFill>
                            <a:srgbClr val="0E3B16"/>
                          </a:solidFill>
                          <a:latin typeface="Calibri" pitchFamily="34" charset="0"/>
                          <a:ea typeface="Calibri" pitchFamily="34" charset="-122"/>
                          <a:cs typeface="Calibri" pitchFamily="34" charset="-120"/>
                        </a:rPr>
                        <a:t>Slower first load; UX drift</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D9EED0"/>
                    </a:solidFill>
                  </a:tcPr>
                </a:tc>
                <a:tc>
                  <a:txBody>
                    <a:bodyPr/>
                    <a:lstStyle/>
                    <a:p>
                      <a:pPr indent="0" marL="0">
                        <a:buNone/>
                      </a:pPr>
                      <a:r>
                        <a:rPr lang="en-US" sz="1300" dirty="0">
                          <a:solidFill>
                            <a:srgbClr val="1C2B1E"/>
                          </a:solidFill>
                          <a:latin typeface="Calibri" pitchFamily="34" charset="0"/>
                          <a:ea typeface="Calibri" pitchFamily="34" charset="-122"/>
                          <a:cs typeface="Calibri" pitchFamily="34" charset="-120"/>
                        </a:rPr>
                        <a:t>Bundle budgets; one design system; UX review</a:t>
                      </a:r>
                      <a:endParaRPr lang="en-US" sz="13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bl>
          </a:graphicData>
        </a:graphic>
      </p:graphicFrame>
      <p:sp>
        <p:nvSpPr>
          <p:cNvPr id="6" name="both-risk"/>
          <p:cNvSpPr/>
          <p:nvPr/>
        </p:nvSpPr>
        <p:spPr>
          <a:xfrm>
            <a:off x="457200" y="5623560"/>
            <a:ext cx="11277295" cy="685800"/>
          </a:xfrm>
          <a:prstGeom prst="roundRect">
            <a:avLst>
              <a:gd name="adj" fmla="val 10667"/>
            </a:avLst>
          </a:prstGeom>
          <a:solidFill>
            <a:srgbClr val="FBF3EE"/>
          </a:solidFill>
          <a:ln w="9525">
            <a:solidFill>
              <a:srgbClr val="FBF3EE"/>
            </a:solidFill>
            <a:prstDash val="solid"/>
          </a:ln>
        </p:spPr>
      </p:sp>
      <p:sp>
        <p:nvSpPr>
          <p:cNvPr id="7" name="Text 3"/>
          <p:cNvSpPr txBox="1"/>
          <p:nvPr/>
        </p:nvSpPr>
        <p:spPr>
          <a:xfrm>
            <a:off x="685800" y="5623560"/>
            <a:ext cx="10820095" cy="685800"/>
          </a:xfrm>
          <a:prstGeom prst="rect">
            <a:avLst/>
          </a:prstGeom>
          <a:noFill/>
          <a:ln/>
        </p:spPr>
        <p:txBody>
          <a:bodyPr wrap="square" lIns="0" tIns="0" rIns="0" bIns="0" rtlCol="0" anchor="ctr"/>
          <a:lstStyle/>
          <a:p>
            <a:pPr indent="0" marL="0">
              <a:buNone/>
            </a:pPr>
            <a:r>
              <a:rPr lang="en-US" sz="1400" b="1" dirty="0">
                <a:solidFill>
                  <a:schemeClr val="accent4"/>
                </a:solidFill>
              </a:rPr>
              <a:t>Risk for both: </a:t>
            </a:r>
            <a:pPr indent="0" marL="0">
              <a:buNone/>
            </a:pPr>
            <a:r>
              <a:rPr lang="en-US" sz="1400" dirty="0">
                <a:solidFill>
                  <a:schemeClr val="tx1"/>
                </a:solidFill>
              </a:rPr>
              <a:t>if domain APIs still deploy as one backend release, neither choice gives teams real independence for changes that touch the API.</a:t>
            </a:r>
            <a:endParaRPr lang="en-US" sz="14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Proof of concept: build one slice, ship it both ways</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Four weeks, one real slice, two ways to ship it. We decide on measured numbers instead of opinions.</a:t>
            </a:r>
            <a:endParaRPr lang="en-US" sz="1600" dirty="0"/>
          </a:p>
        </p:txBody>
      </p:sp>
      <p:sp>
        <p:nvSpPr>
          <p:cNvPr id="4" name="wk-0"/>
          <p:cNvSpPr/>
          <p:nvPr/>
        </p:nvSpPr>
        <p:spPr>
          <a:xfrm>
            <a:off x="457200" y="1508760"/>
            <a:ext cx="2778176" cy="411480"/>
          </a:xfrm>
          <a:prstGeom prst="homePlate">
            <a:avLst/>
          </a:prstGeom>
          <a:solidFill>
            <a:schemeClr val="accent3"/>
          </a:solidFill>
          <a:ln w="12700">
            <a:solidFill>
              <a:schemeClr val="bg1"/>
            </a:solidFill>
            <a:prstDash val="solid"/>
          </a:ln>
        </p:spPr>
      </p:sp>
      <p:sp>
        <p:nvSpPr>
          <p:cNvPr id="5" name="Text 3"/>
          <p:cNvSpPr txBox="1"/>
          <p:nvPr/>
        </p:nvSpPr>
        <p:spPr>
          <a:xfrm>
            <a:off x="685800" y="1508760"/>
            <a:ext cx="2302688" cy="411480"/>
          </a:xfrm>
          <a:prstGeom prst="rect">
            <a:avLst/>
          </a:prstGeom>
          <a:noFill/>
          <a:ln/>
        </p:spPr>
        <p:txBody>
          <a:bodyPr wrap="square" lIns="0" tIns="0" rIns="0" bIns="0" rtlCol="0" anchor="ctr"/>
          <a:lstStyle/>
          <a:p>
            <a:pPr indent="0" marL="0">
              <a:buNone/>
            </a:pPr>
            <a:r>
              <a:rPr lang="en-US" sz="1400" b="1" dirty="0">
                <a:solidFill>
                  <a:schemeClr val="bg1"/>
                </a:solidFill>
              </a:rPr>
              <a:t>Week 1</a:t>
            </a:r>
            <a:endParaRPr lang="en-US" sz="1400" dirty="0"/>
          </a:p>
        </p:txBody>
      </p:sp>
      <p:sp>
        <p:nvSpPr>
          <p:cNvPr id="6" name="Text 4"/>
          <p:cNvSpPr txBox="1"/>
          <p:nvPr/>
        </p:nvSpPr>
        <p:spPr>
          <a:xfrm>
            <a:off x="457200" y="2011680"/>
            <a:ext cx="2668448" cy="274320"/>
          </a:xfrm>
          <a:prstGeom prst="rect">
            <a:avLst/>
          </a:prstGeom>
          <a:noFill/>
          <a:ln/>
        </p:spPr>
        <p:txBody>
          <a:bodyPr wrap="square" lIns="0" tIns="0" rIns="0" bIns="0" rtlCol="0" anchor="t"/>
          <a:lstStyle/>
          <a:p>
            <a:pPr indent="0" marL="0">
              <a:buNone/>
            </a:pPr>
            <a:r>
              <a:rPr lang="en-US" sz="1500" b="1" dirty="0">
                <a:solidFill>
                  <a:schemeClr val="tx2"/>
                </a:solidFill>
              </a:rPr>
              <a:t>Build the slice</a:t>
            </a:r>
            <a:endParaRPr lang="en-US" sz="1500" dirty="0"/>
          </a:p>
        </p:txBody>
      </p:sp>
      <p:sp>
        <p:nvSpPr>
          <p:cNvPr id="7" name="Text 5"/>
          <p:cNvSpPr txBox="1"/>
          <p:nvPr/>
        </p:nvSpPr>
        <p:spPr>
          <a:xfrm>
            <a:off x="457200" y="2313432"/>
            <a:ext cx="2577008" cy="868680"/>
          </a:xfrm>
          <a:prstGeom prst="rect">
            <a:avLst/>
          </a:prstGeom>
          <a:noFill/>
          <a:ln/>
        </p:spPr>
        <p:txBody>
          <a:bodyPr wrap="square" lIns="0" tIns="0" rIns="0" bIns="0" rtlCol="0" anchor="t"/>
          <a:lstStyle/>
          <a:p>
            <a:pPr indent="0" marL="0">
              <a:buNone/>
            </a:pPr>
            <a:r>
              <a:rPr lang="en-US" sz="1200" dirty="0">
                <a:solidFill>
                  <a:schemeClr val="tx1"/>
                </a:solidFill>
              </a:rPr>
              <a:t>Account opening step as an Angular library with a route entry point, using the shared account-opening library</a:t>
            </a:r>
            <a:endParaRPr lang="en-US" sz="1200" dirty="0"/>
          </a:p>
        </p:txBody>
      </p:sp>
      <p:sp>
        <p:nvSpPr>
          <p:cNvPr id="8" name="wk-1"/>
          <p:cNvSpPr/>
          <p:nvPr/>
        </p:nvSpPr>
        <p:spPr>
          <a:xfrm>
            <a:off x="3326816" y="1508760"/>
            <a:ext cx="2778176" cy="411480"/>
          </a:xfrm>
          <a:prstGeom prst="chevron">
            <a:avLst/>
          </a:prstGeom>
          <a:solidFill>
            <a:srgbClr val="2D6A8A"/>
          </a:solidFill>
          <a:ln w="12700">
            <a:solidFill>
              <a:schemeClr val="bg1"/>
            </a:solidFill>
            <a:prstDash val="solid"/>
          </a:ln>
        </p:spPr>
      </p:sp>
      <p:sp>
        <p:nvSpPr>
          <p:cNvPr id="9" name="Text 7"/>
          <p:cNvSpPr txBox="1"/>
          <p:nvPr/>
        </p:nvSpPr>
        <p:spPr>
          <a:xfrm>
            <a:off x="3555416" y="1508760"/>
            <a:ext cx="2302688" cy="411480"/>
          </a:xfrm>
          <a:prstGeom prst="rect">
            <a:avLst/>
          </a:prstGeom>
          <a:noFill/>
          <a:ln/>
        </p:spPr>
        <p:txBody>
          <a:bodyPr wrap="square" lIns="0" tIns="0" rIns="0" bIns="0" rtlCol="0" anchor="ctr"/>
          <a:lstStyle/>
          <a:p>
            <a:pPr indent="0" marL="0">
              <a:buNone/>
            </a:pPr>
            <a:r>
              <a:rPr lang="en-US" sz="1400" b="1" dirty="0">
                <a:solidFill>
                  <a:schemeClr val="bg1"/>
                </a:solidFill>
              </a:rPr>
              <a:t>Week 2</a:t>
            </a:r>
            <a:endParaRPr lang="en-US" sz="1400" dirty="0"/>
          </a:p>
        </p:txBody>
      </p:sp>
      <p:sp>
        <p:nvSpPr>
          <p:cNvPr id="10" name="Text 8"/>
          <p:cNvSpPr txBox="1"/>
          <p:nvPr/>
        </p:nvSpPr>
        <p:spPr>
          <a:xfrm>
            <a:off x="3326816" y="2011680"/>
            <a:ext cx="2668448" cy="274320"/>
          </a:xfrm>
          <a:prstGeom prst="rect">
            <a:avLst/>
          </a:prstGeom>
          <a:noFill/>
          <a:ln/>
        </p:spPr>
        <p:txBody>
          <a:bodyPr wrap="square" lIns="0" tIns="0" rIns="0" bIns="0" rtlCol="0" anchor="t"/>
          <a:lstStyle/>
          <a:p>
            <a:pPr indent="0" marL="0">
              <a:buNone/>
            </a:pPr>
            <a:r>
              <a:rPr lang="en-US" sz="1500" b="1" dirty="0">
                <a:solidFill>
                  <a:schemeClr val="tx2"/>
                </a:solidFill>
              </a:rPr>
              <a:t>Ship as a library</a:t>
            </a:r>
            <a:endParaRPr lang="en-US" sz="1500" dirty="0"/>
          </a:p>
        </p:txBody>
      </p:sp>
      <p:sp>
        <p:nvSpPr>
          <p:cNvPr id="11" name="Text 9"/>
          <p:cNvSpPr txBox="1"/>
          <p:nvPr/>
        </p:nvSpPr>
        <p:spPr>
          <a:xfrm>
            <a:off x="3326816" y="2313432"/>
            <a:ext cx="2577008" cy="868680"/>
          </a:xfrm>
          <a:prstGeom prst="rect">
            <a:avLst/>
          </a:prstGeom>
          <a:noFill/>
          <a:ln/>
        </p:spPr>
        <p:txBody>
          <a:bodyPr wrap="square" lIns="0" tIns="0" rIns="0" bIns="0" rtlCol="0" anchor="t"/>
          <a:lstStyle/>
          <a:p>
            <a:pPr indent="0" marL="0">
              <a:buNone/>
            </a:pPr>
            <a:r>
              <a:rPr lang="en-US" sz="1200" dirty="0">
                <a:solidFill>
                  <a:schemeClr val="tx1"/>
                </a:solidFill>
              </a:rPr>
              <a:t>Install it in the app; release one change end to end and record every step and wait</a:t>
            </a:r>
            <a:endParaRPr lang="en-US" sz="1200" dirty="0"/>
          </a:p>
        </p:txBody>
      </p:sp>
      <p:sp>
        <p:nvSpPr>
          <p:cNvPr id="12" name="wk-2"/>
          <p:cNvSpPr/>
          <p:nvPr/>
        </p:nvSpPr>
        <p:spPr>
          <a:xfrm>
            <a:off x="6196432" y="1508760"/>
            <a:ext cx="2778176" cy="411480"/>
          </a:xfrm>
          <a:prstGeom prst="chevron">
            <a:avLst/>
          </a:prstGeom>
          <a:solidFill>
            <a:srgbClr val="368727"/>
          </a:solidFill>
          <a:ln w="12700">
            <a:solidFill>
              <a:schemeClr val="bg1"/>
            </a:solidFill>
            <a:prstDash val="solid"/>
          </a:ln>
        </p:spPr>
      </p:sp>
      <p:sp>
        <p:nvSpPr>
          <p:cNvPr id="13" name="Text 11"/>
          <p:cNvSpPr txBox="1"/>
          <p:nvPr/>
        </p:nvSpPr>
        <p:spPr>
          <a:xfrm>
            <a:off x="6425032" y="1508760"/>
            <a:ext cx="2302688" cy="411480"/>
          </a:xfrm>
          <a:prstGeom prst="rect">
            <a:avLst/>
          </a:prstGeom>
          <a:noFill/>
          <a:ln/>
        </p:spPr>
        <p:txBody>
          <a:bodyPr wrap="square" lIns="0" tIns="0" rIns="0" bIns="0" rtlCol="0" anchor="ctr"/>
          <a:lstStyle/>
          <a:p>
            <a:pPr indent="0" marL="0">
              <a:buNone/>
            </a:pPr>
            <a:r>
              <a:rPr lang="en-US" sz="1400" b="1" dirty="0">
                <a:solidFill>
                  <a:schemeClr val="bg1"/>
                </a:solidFill>
              </a:rPr>
              <a:t>Week 3</a:t>
            </a:r>
            <a:endParaRPr lang="en-US" sz="1400" dirty="0"/>
          </a:p>
        </p:txBody>
      </p:sp>
      <p:sp>
        <p:nvSpPr>
          <p:cNvPr id="14" name="Text 12"/>
          <p:cNvSpPr txBox="1"/>
          <p:nvPr/>
        </p:nvSpPr>
        <p:spPr>
          <a:xfrm>
            <a:off x="6196432" y="2011680"/>
            <a:ext cx="2668448" cy="274320"/>
          </a:xfrm>
          <a:prstGeom prst="rect">
            <a:avLst/>
          </a:prstGeom>
          <a:noFill/>
          <a:ln/>
        </p:spPr>
        <p:txBody>
          <a:bodyPr wrap="square" lIns="0" tIns="0" rIns="0" bIns="0" rtlCol="0" anchor="t"/>
          <a:lstStyle/>
          <a:p>
            <a:pPr indent="0" marL="0">
              <a:buNone/>
            </a:pPr>
            <a:r>
              <a:rPr lang="en-US" sz="1500" b="1" dirty="0">
                <a:solidFill>
                  <a:schemeClr val="tx2"/>
                </a:solidFill>
              </a:rPr>
              <a:t>Ship as a micro frontend</a:t>
            </a:r>
            <a:endParaRPr lang="en-US" sz="1500" dirty="0"/>
          </a:p>
        </p:txBody>
      </p:sp>
      <p:sp>
        <p:nvSpPr>
          <p:cNvPr id="15" name="Text 13"/>
          <p:cNvSpPr txBox="1"/>
          <p:nvPr/>
        </p:nvSpPr>
        <p:spPr>
          <a:xfrm>
            <a:off x="6196432" y="2313432"/>
            <a:ext cx="2577008" cy="868680"/>
          </a:xfrm>
          <a:prstGeom prst="rect">
            <a:avLst/>
          </a:prstGeom>
          <a:noFill/>
          <a:ln/>
        </p:spPr>
        <p:txBody>
          <a:bodyPr wrap="square" lIns="0" tIns="0" rIns="0" bIns="0" rtlCol="0" anchor="t"/>
          <a:lstStyle/>
          <a:p>
            <a:pPr indent="0" marL="0">
              <a:buNone/>
            </a:pPr>
            <a:r>
              <a:rPr lang="en-US" sz="1200" dirty="0">
                <a:solidFill>
                  <a:schemeClr val="tx1"/>
                </a:solidFill>
              </a:rPr>
              <a:t>Wrap the same library in a remote; minimal shell; deploy it alone in a lower environment</a:t>
            </a:r>
            <a:endParaRPr lang="en-US" sz="1200" dirty="0"/>
          </a:p>
        </p:txBody>
      </p:sp>
      <p:sp>
        <p:nvSpPr>
          <p:cNvPr id="16" name="wk-3"/>
          <p:cNvSpPr/>
          <p:nvPr/>
        </p:nvSpPr>
        <p:spPr>
          <a:xfrm>
            <a:off x="9066047" y="1508760"/>
            <a:ext cx="2778176" cy="411480"/>
          </a:xfrm>
          <a:prstGeom prst="chevron">
            <a:avLst/>
          </a:prstGeom>
          <a:solidFill>
            <a:schemeClr val="accent3"/>
          </a:solidFill>
          <a:ln w="12700">
            <a:solidFill>
              <a:schemeClr val="bg1"/>
            </a:solidFill>
            <a:prstDash val="solid"/>
          </a:ln>
        </p:spPr>
      </p:sp>
      <p:sp>
        <p:nvSpPr>
          <p:cNvPr id="17" name="Text 15"/>
          <p:cNvSpPr txBox="1"/>
          <p:nvPr/>
        </p:nvSpPr>
        <p:spPr>
          <a:xfrm>
            <a:off x="9294647" y="1508760"/>
            <a:ext cx="2302688" cy="411480"/>
          </a:xfrm>
          <a:prstGeom prst="rect">
            <a:avLst/>
          </a:prstGeom>
          <a:noFill/>
          <a:ln/>
        </p:spPr>
        <p:txBody>
          <a:bodyPr wrap="square" lIns="0" tIns="0" rIns="0" bIns="0" rtlCol="0" anchor="ctr"/>
          <a:lstStyle/>
          <a:p>
            <a:pPr indent="0" marL="0">
              <a:buNone/>
            </a:pPr>
            <a:r>
              <a:rPr lang="en-US" sz="1400" b="1" dirty="0">
                <a:solidFill>
                  <a:schemeClr val="bg1"/>
                </a:solidFill>
              </a:rPr>
              <a:t>Week 4</a:t>
            </a:r>
            <a:endParaRPr lang="en-US" sz="1400" dirty="0"/>
          </a:p>
        </p:txBody>
      </p:sp>
      <p:sp>
        <p:nvSpPr>
          <p:cNvPr id="18" name="Text 16"/>
          <p:cNvSpPr txBox="1"/>
          <p:nvPr/>
        </p:nvSpPr>
        <p:spPr>
          <a:xfrm>
            <a:off x="9066047" y="2011680"/>
            <a:ext cx="2668448" cy="274320"/>
          </a:xfrm>
          <a:prstGeom prst="rect">
            <a:avLst/>
          </a:prstGeom>
          <a:noFill/>
          <a:ln/>
        </p:spPr>
        <p:txBody>
          <a:bodyPr wrap="square" lIns="0" tIns="0" rIns="0" bIns="0" rtlCol="0" anchor="t"/>
          <a:lstStyle/>
          <a:p>
            <a:pPr indent="0" marL="0">
              <a:buNone/>
            </a:pPr>
            <a:r>
              <a:rPr lang="en-US" sz="1500" b="1" dirty="0">
                <a:solidFill>
                  <a:schemeClr val="tx2"/>
                </a:solidFill>
              </a:rPr>
              <a:t>Compare and recommend</a:t>
            </a:r>
            <a:endParaRPr lang="en-US" sz="1500" dirty="0"/>
          </a:p>
        </p:txBody>
      </p:sp>
      <p:sp>
        <p:nvSpPr>
          <p:cNvPr id="19" name="Text 17"/>
          <p:cNvSpPr txBox="1"/>
          <p:nvPr/>
        </p:nvSpPr>
        <p:spPr>
          <a:xfrm>
            <a:off x="9066047" y="2313432"/>
            <a:ext cx="2577008" cy="868680"/>
          </a:xfrm>
          <a:prstGeom prst="rect">
            <a:avLst/>
          </a:prstGeom>
          <a:noFill/>
          <a:ln/>
        </p:spPr>
        <p:txBody>
          <a:bodyPr wrap="square" lIns="0" tIns="0" rIns="0" bIns="0" rtlCol="0" anchor="t"/>
          <a:lstStyle/>
          <a:p>
            <a:pPr indent="0" marL="0">
              <a:buNone/>
            </a:pPr>
            <a:r>
              <a:rPr lang="en-US" sz="1200" dirty="0">
                <a:solidFill>
                  <a:schemeClr val="tx1"/>
                </a:solidFill>
              </a:rPr>
              <a:t>Fill in the scorecard and recommend a choice per domain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3337560"/>
          <a:ext cx="7680960" cy="914400"/>
        </p:xfrm>
        <a:graphic>
          <a:graphicData uri="http://schemas.openxmlformats.org/drawingml/2006/table">
            <a:tbl>
              <a:tblPr/>
              <a:tblGrid>
                <a:gridCol w="3840480"/>
                <a:gridCol w="1920240"/>
                <a:gridCol w="192024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Scorecard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0E3B1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2D6A8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 frontend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368727"/>
                    </a:solidFill>
                  </a:tcPr>
                </a:tc>
              </a:tr>
              <a:tr h="41148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Lead time for a one-line fix, commit to users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1148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Steps and hand-offs per release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1148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Setup effort (person-days)</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1148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Initial load time and bundle size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1148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Effect of a broken slice on the rest of the app</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observe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observe</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r>
              <a:tr h="411480">
                <a:tc>
                  <a:txBody>
                    <a:bodyPr/>
                    <a:lstStyle/>
                    <a:p>
                      <a:pPr indent="0" marL="0">
                        <a:buNone/>
                      </a:pPr>
                      <a:r>
                        <a:rPr lang="en-US" sz="1200" b="1" dirty="0">
                          <a:solidFill>
                            <a:srgbClr val="0E3B16"/>
                          </a:solidFill>
                          <a:latin typeface="Calibri" pitchFamily="34" charset="0"/>
                          <a:ea typeface="Calibri" pitchFamily="34" charset="-122"/>
                          <a:cs typeface="Calibri" pitchFamily="34" charset="-120"/>
                        </a:rPr>
                        <a:t>Rework to switch from library to micro frontend</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solidFill>
                      <a:srgbClr val="EDF5EA"/>
                    </a:solidFill>
                  </a:tcPr>
                </a:tc>
                <a:tc gridSpan="2">
                  <a:txBody>
                    <a:bodyPr/>
                    <a:lstStyle/>
                    <a:p>
                      <a:pPr algn="ctr" indent="0" marL="0">
                        <a:buNone/>
                      </a:pPr>
                      <a:r>
                        <a:rPr lang="en-US" sz="1200" i="1" dirty="0">
                          <a:solidFill>
                            <a:srgbClr val="5B6770"/>
                          </a:solidFill>
                          <a:latin typeface="Calibri" pitchFamily="34" charset="0"/>
                          <a:ea typeface="Calibri" pitchFamily="34" charset="-122"/>
                          <a:cs typeface="Calibri" pitchFamily="34" charset="-120"/>
                        </a:rPr>
                        <a:t>to measure: wrapper app, pipeline, config</a:t>
                      </a:r>
                      <a:endParaRPr lang="en-US" sz="1200" dirty="0">
                        <a:latin typeface="Calibri" charset="0"/>
                        <a:ea typeface="Calibri" charset="0"/>
                        <a:cs typeface="Calibri" charset="0"/>
                      </a:endParaRPr>
                    </a:p>
                  </a:txBody>
                  <a:tcPr marL="76200" marR="76200" marT="38100" marB="38100" anchor="ctr">
                    <a:lnL w="9525" cap="flat" cmpd="sng" algn="ctr">
                      <a:solidFill>
                        <a:srgbClr val="D5DDD6"/>
                      </a:solidFill>
                      <a:prstDash val="solid"/>
                      <a:round/>
                      <a:headEnd type="none" w="med" len="med"/>
                      <a:tailEnd type="none" w="med" len="med"/>
                    </a:lnL>
                    <a:lnR w="9525" cap="flat" cmpd="sng" algn="ctr">
                      <a:solidFill>
                        <a:srgbClr val="D5DDD6"/>
                      </a:solidFill>
                      <a:prstDash val="solid"/>
                      <a:round/>
                      <a:headEnd type="none" w="med" len="med"/>
                      <a:tailEnd type="none" w="med" len="med"/>
                    </a:lnR>
                    <a:lnT w="9525" cap="flat" cmpd="sng" algn="ctr">
                      <a:solidFill>
                        <a:srgbClr val="D5DDD6"/>
                      </a:solidFill>
                      <a:prstDash val="solid"/>
                      <a:round/>
                      <a:headEnd type="none" w="med" len="med"/>
                      <a:tailEnd type="none" w="med" len="med"/>
                    </a:lnT>
                    <a:lnB w="9525" cap="flat" cmpd="sng" algn="ctr">
                      <a:solidFill>
                        <a:srgbClr val="D5DDD6"/>
                      </a:solidFill>
                      <a:prstDash val="solid"/>
                      <a:round/>
                      <a:headEnd type="none" w="med" len="med"/>
                      <a:tailEnd type="none" w="med" len="med"/>
                    </a:lnB>
                  </a:tcPr>
                </a:tc>
                <a:tc hMerge="1">
                  <a:tcPr/>
                </a:tc>
              </a:tr>
            </a:tbl>
          </a:graphicData>
        </a:graphic>
      </p:graphicFrame>
      <p:sp>
        <p:nvSpPr>
          <p:cNvPr id="21" name="poc-scope"/>
          <p:cNvSpPr/>
          <p:nvPr/>
        </p:nvSpPr>
        <p:spPr>
          <a:xfrm>
            <a:off x="8366760" y="3337560"/>
            <a:ext cx="3367735" cy="2880360"/>
          </a:xfrm>
          <a:prstGeom prst="roundRect">
            <a:avLst>
              <a:gd name="adj" fmla="val 2540"/>
            </a:avLst>
          </a:prstGeom>
          <a:solidFill>
            <a:schemeClr val="bg2"/>
          </a:solidFill>
          <a:ln w="9525">
            <a:solidFill>
              <a:schemeClr val="bg2"/>
            </a:solidFill>
            <a:prstDash val="solid"/>
          </a:ln>
        </p:spPr>
      </p:sp>
      <p:sp>
        <p:nvSpPr>
          <p:cNvPr id="22" name="Text 19"/>
          <p:cNvSpPr txBox="1"/>
          <p:nvPr/>
        </p:nvSpPr>
        <p:spPr>
          <a:xfrm>
            <a:off x="8567928" y="3474720"/>
            <a:ext cx="2965399" cy="292608"/>
          </a:xfrm>
          <a:prstGeom prst="rect">
            <a:avLst/>
          </a:prstGeom>
          <a:noFill/>
          <a:ln/>
        </p:spPr>
        <p:txBody>
          <a:bodyPr wrap="square" lIns="0" tIns="0" rIns="0" bIns="0" rtlCol="0" anchor="t"/>
          <a:lstStyle/>
          <a:p>
            <a:pPr indent="0" marL="0">
              <a:buNone/>
            </a:pPr>
            <a:r>
              <a:rPr lang="en-US" sz="1500" b="1" dirty="0">
                <a:solidFill>
                  <a:schemeClr val="tx2"/>
                </a:solidFill>
              </a:rPr>
              <a:t>Scope and team</a:t>
            </a:r>
            <a:endParaRPr lang="en-US" sz="1500" dirty="0"/>
          </a:p>
        </p:txBody>
      </p:sp>
      <p:sp>
        <p:nvSpPr>
          <p:cNvPr id="23" name="Text 20"/>
          <p:cNvSpPr txBox="1"/>
          <p:nvPr/>
        </p:nvSpPr>
        <p:spPr>
          <a:xfrm>
            <a:off x="8567928" y="3840480"/>
            <a:ext cx="2965399" cy="2286000"/>
          </a:xfrm>
          <a:prstGeom prst="rect">
            <a:avLst/>
          </a:prstGeom>
          <a:noFill/>
          <a:ln/>
        </p:spPr>
        <p:txBody>
          <a:bodyPr wrap="square" lIns="0" tIns="0" rIns="0" bIns="0" rtlCol="0" anchor="t"/>
          <a:lstStyle/>
          <a:p>
            <a:pPr indent="0" marL="0">
              <a:spcAft>
                <a:spcPts val="800"/>
              </a:spcAft>
              <a:buNone/>
            </a:pPr>
            <a:r>
              <a:rPr lang="en-US" sz="1300" b="1" dirty="0">
                <a:solidFill>
                  <a:schemeClr val="accent3"/>
                </a:solidFill>
              </a:rPr>
              <a:t>In: </a:t>
            </a:r>
            <a:pPr indent="0" marL="0">
              <a:spcAft>
                <a:spcPts val="800"/>
              </a:spcAft>
              <a:buNone/>
            </a:pPr>
            <a:r>
              <a:rPr lang="en-US" sz="1300" dirty="0">
                <a:solidFill>
                  <a:schemeClr val="tx1"/>
                </a:solidFill>
              </a:rPr>
              <a:t>one account-opening step, lower environment</a:t>
            </a:r>
            <a:endParaRPr lang="en-US" sz="1300" dirty="0"/>
          </a:p>
          <a:p>
            <a:pPr indent="0" marL="0">
              <a:spcAft>
                <a:spcPts val="800"/>
              </a:spcAft>
              <a:buNone/>
            </a:pPr>
            <a:r>
              <a:rPr lang="en-US" sz="1300" b="1" dirty="0">
                <a:solidFill>
                  <a:schemeClr val="accent3"/>
                </a:solidFill>
              </a:rPr>
              <a:t>Out: </a:t>
            </a:r>
            <a:pPr indent="0" marL="0">
              <a:spcAft>
                <a:spcPts val="800"/>
              </a:spcAft>
              <a:buNone/>
            </a:pPr>
            <a:r>
              <a:rPr lang="en-US" sz="1300" dirty="0">
                <a:solidFill>
                  <a:schemeClr val="tx1"/>
                </a:solidFill>
              </a:rPr>
              <a:t>production, backend split</a:t>
            </a:r>
            <a:endParaRPr lang="en-US" sz="1300" dirty="0"/>
          </a:p>
          <a:p>
            <a:pPr indent="0" marL="0">
              <a:spcAft>
                <a:spcPts val="800"/>
              </a:spcAft>
              <a:buNone/>
            </a:pPr>
            <a:r>
              <a:rPr lang="en-US" sz="1300" b="1" dirty="0">
                <a:solidFill>
                  <a:schemeClr val="accent3"/>
                </a:solidFill>
              </a:rPr>
              <a:t>Team (proposed): </a:t>
            </a:r>
            <a:pPr indent="0" marL="0">
              <a:spcAft>
                <a:spcPts val="800"/>
              </a:spcAft>
              <a:buNone/>
            </a:pPr>
            <a:r>
              <a:rPr lang="en-US" sz="1300" dirty="0">
                <a:solidFill>
                  <a:schemeClr val="tx1"/>
                </a:solidFill>
              </a:rPr>
              <a:t>2 engineers, an architect part time, one reviewer per domain team</a:t>
            </a:r>
            <a:endParaRPr lang="en-US" sz="13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594360"/>
          </a:xfrm>
          <a:prstGeom prst="rect">
            <a:avLst/>
          </a:prstGeom>
          <a:noFill/>
          <a:ln/>
        </p:spPr>
        <p:txBody>
          <a:bodyPr wrap="square" lIns="0" tIns="0" rIns="0" bIns="0" rtlCol="0" anchor="ctr"/>
          <a:lstStyle/>
          <a:p>
            <a:pPr algn="l" indent="0" marL="0">
              <a:buNone/>
            </a:pPr>
            <a:r>
              <a:rPr lang="en-US" sz="2800" b="1" dirty="0">
                <a:solidFill>
                  <a:schemeClr val="tx2"/>
                </a:solidFill>
              </a:rPr>
              <a:t>Questions for discussion</a:t>
            </a:r>
            <a:endParaRPr lang="en-US" sz="2800" dirty="0"/>
          </a:p>
        </p:txBody>
      </p:sp>
      <p:sp>
        <p:nvSpPr>
          <p:cNvPr id="3" name="Text 1"/>
          <p:cNvSpPr txBox="1"/>
          <p:nvPr/>
        </p:nvSpPr>
        <p:spPr>
          <a:xfrm>
            <a:off x="457200" y="914400"/>
            <a:ext cx="11277295" cy="457200"/>
          </a:xfrm>
          <a:prstGeom prst="rect">
            <a:avLst/>
          </a:prstGeom>
          <a:noFill/>
          <a:ln/>
        </p:spPr>
        <p:txBody>
          <a:bodyPr wrap="square" lIns="0" tIns="0" rIns="0" bIns="0" rtlCol="0" anchor="t"/>
          <a:lstStyle/>
          <a:p>
            <a:pPr indent="0" marL="0">
              <a:buNone/>
            </a:pPr>
            <a:r>
              <a:rPr lang="en-US" sz="1600" i="1" dirty="0">
                <a:solidFill>
                  <a:schemeClr val="accent3"/>
                </a:solidFill>
              </a:rPr>
              <a:t>Answers to these decide which column on slide 7 describes us.</a:t>
            </a:r>
            <a:endParaRPr lang="en-US" sz="1600" dirty="0"/>
          </a:p>
        </p:txBody>
      </p:sp>
      <p:sp>
        <p:nvSpPr>
          <p:cNvPr id="4" name="grp-0"/>
          <p:cNvSpPr/>
          <p:nvPr/>
        </p:nvSpPr>
        <p:spPr>
          <a:xfrm>
            <a:off x="457200" y="1554480"/>
            <a:ext cx="3606698" cy="4160520"/>
          </a:xfrm>
          <a:prstGeom prst="roundRect">
            <a:avLst>
              <a:gd name="adj" fmla="val 2028"/>
            </a:avLst>
          </a:prstGeom>
          <a:solidFill>
            <a:schemeClr val="bg2"/>
          </a:solidFill>
          <a:ln w="9525">
            <a:solidFill>
              <a:schemeClr val="bg2"/>
            </a:solidFill>
            <a:prstDash val="solid"/>
          </a:ln>
        </p:spPr>
      </p:sp>
      <p:sp>
        <p:nvSpPr>
          <p:cNvPr id="5" name="icon-circle-FaSitemap"/>
          <p:cNvSpPr/>
          <p:nvPr/>
        </p:nvSpPr>
        <p:spPr>
          <a:xfrm>
            <a:off x="685800" y="1755648"/>
            <a:ext cx="502920" cy="502920"/>
          </a:xfrm>
          <a:prstGeom prst="ellipse">
            <a:avLst/>
          </a:prstGeom>
          <a:solidFill>
            <a:schemeClr val="accent1"/>
          </a:solidFill>
          <a:ln w="12700">
            <a:solidFill>
              <a:schemeClr val="accent1"/>
            </a:solidFill>
            <a:prstDash val="solid"/>
          </a:ln>
        </p:spPr>
      </p:sp>
      <p:pic>
        <p:nvPicPr>
          <p:cNvPr id="6" name="icon-FaSitemap" descr="preencoded.png">    </p:cNvPr>
          <p:cNvPicPr>
            <a:picLocks noChangeAspect="1"/>
          </p:cNvPicPr>
          <p:nvPr/>
        </p:nvPicPr>
        <p:blipFill>
          <a:blip r:embed="rId1"/>
          <a:stretch>
            <a:fillRect/>
          </a:stretch>
        </p:blipFill>
        <p:spPr>
          <a:xfrm>
            <a:off x="816559" y="1886407"/>
            <a:ext cx="241402" cy="241402"/>
          </a:xfrm>
          <a:prstGeom prst="rect">
            <a:avLst/>
          </a:prstGeom>
        </p:spPr>
      </p:pic>
      <p:sp>
        <p:nvSpPr>
          <p:cNvPr id="7" name="Text 4"/>
          <p:cNvSpPr txBox="1"/>
          <p:nvPr/>
        </p:nvSpPr>
        <p:spPr>
          <a:xfrm>
            <a:off x="1325880" y="1755648"/>
            <a:ext cx="2600858" cy="502920"/>
          </a:xfrm>
          <a:prstGeom prst="rect">
            <a:avLst/>
          </a:prstGeom>
          <a:noFill/>
          <a:ln/>
        </p:spPr>
        <p:txBody>
          <a:bodyPr wrap="square" lIns="0" tIns="0" rIns="0" bIns="0" rtlCol="0" anchor="ctr"/>
          <a:lstStyle/>
          <a:p>
            <a:pPr indent="0" marL="0">
              <a:buNone/>
            </a:pPr>
            <a:r>
              <a:rPr lang="en-US" sz="1800" b="1" dirty="0">
                <a:solidFill>
                  <a:schemeClr val="tx2"/>
                </a:solidFill>
              </a:rPr>
              <a:t>Architects</a:t>
            </a:r>
            <a:endParaRPr lang="en-US" sz="1800" dirty="0"/>
          </a:p>
        </p:txBody>
      </p:sp>
      <p:sp>
        <p:nvSpPr>
          <p:cNvPr id="8" name="Text 5"/>
          <p:cNvSpPr txBox="1"/>
          <p:nvPr/>
        </p:nvSpPr>
        <p:spPr>
          <a:xfrm>
            <a:off x="685800" y="2468880"/>
            <a:ext cx="3149498" cy="3108960"/>
          </a:xfrm>
          <a:prstGeom prst="rect">
            <a:avLst/>
          </a:prstGeom>
          <a:noFill/>
          <a:ln/>
        </p:spPr>
        <p:txBody>
          <a:bodyPr wrap="square" lIns="0" tIns="0" rIns="0" bIns="0" rtlCol="0" anchor="t"/>
          <a:lstStyle/>
          <a:p>
            <a:pPr marL="165100" indent="-165100">
              <a:spcAft>
                <a:spcPts val="1400"/>
              </a:spcAft>
              <a:buSzPct val="100000"/>
              <a:buChar char="•"/>
            </a:pPr>
            <a:r>
              <a:rPr lang="en-US" sz="1500" dirty="0">
                <a:solidFill>
                  <a:schemeClr val="tx1"/>
                </a:solidFill>
              </a:rPr>
              <a:t>Can domain APIs be released separately, and when?</a:t>
            </a:r>
            <a:endParaRPr lang="en-US" sz="1400" dirty="0"/>
          </a:p>
          <a:p>
            <a:pPr marL="165100" indent="-165100">
              <a:spcAft>
                <a:spcPts val="1400"/>
              </a:spcAft>
              <a:buSzPct val="100000"/>
              <a:buChar char="•"/>
            </a:pPr>
            <a:r>
              <a:rPr lang="en-US" sz="1500" dirty="0">
                <a:solidFill>
                  <a:schemeClr val="tx1"/>
                </a:solidFill>
              </a:rPr>
              <a:t>How fast can the app's release become with automation?</a:t>
            </a:r>
            <a:endParaRPr lang="en-US" sz="1400" dirty="0"/>
          </a:p>
          <a:p>
            <a:pPr marL="165100" indent="-165100">
              <a:spcAft>
                <a:spcPts val="1400"/>
              </a:spcAft>
              <a:buSzPct val="100000"/>
              <a:buChar char="•"/>
            </a:pPr>
            <a:r>
              <a:rPr lang="en-US" sz="1500" dirty="0">
                <a:solidFill>
                  <a:schemeClr val="tx1"/>
                </a:solidFill>
              </a:rPr>
              <a:t>One monorepo, or a package registry for slices?</a:t>
            </a:r>
            <a:endParaRPr lang="en-US" sz="1400" dirty="0"/>
          </a:p>
          <a:p>
            <a:pPr marL="165100" indent="-165100">
              <a:spcAft>
                <a:spcPts val="1400"/>
              </a:spcAft>
              <a:buSzPct val="100000"/>
              <a:buChar char="•"/>
            </a:pPr>
            <a:r>
              <a:rPr lang="en-US" sz="1500" dirty="0">
                <a:solidFill>
                  <a:schemeClr val="tx1"/>
                </a:solidFill>
              </a:rPr>
              <a:t>Which pattern for legacy pages during migration?</a:t>
            </a:r>
            <a:endParaRPr lang="en-US" sz="1400" dirty="0"/>
          </a:p>
        </p:txBody>
      </p:sp>
      <p:sp>
        <p:nvSpPr>
          <p:cNvPr id="9" name="grp-1"/>
          <p:cNvSpPr/>
          <p:nvPr/>
        </p:nvSpPr>
        <p:spPr>
          <a:xfrm>
            <a:off x="4292498" y="1554480"/>
            <a:ext cx="3606698" cy="4160520"/>
          </a:xfrm>
          <a:prstGeom prst="roundRect">
            <a:avLst>
              <a:gd name="adj" fmla="val 2028"/>
            </a:avLst>
          </a:prstGeom>
          <a:solidFill>
            <a:schemeClr val="bg2"/>
          </a:solidFill>
          <a:ln w="9525">
            <a:solidFill>
              <a:schemeClr val="bg2"/>
            </a:solidFill>
            <a:prstDash val="solid"/>
          </a:ln>
        </p:spPr>
      </p:sp>
      <p:sp>
        <p:nvSpPr>
          <p:cNvPr id="10" name="icon-circle-FaClipboardList"/>
          <p:cNvSpPr/>
          <p:nvPr/>
        </p:nvSpPr>
        <p:spPr>
          <a:xfrm>
            <a:off x="4521098" y="1755648"/>
            <a:ext cx="502920" cy="502920"/>
          </a:xfrm>
          <a:prstGeom prst="ellipse">
            <a:avLst/>
          </a:prstGeom>
          <a:solidFill>
            <a:schemeClr val="accent1"/>
          </a:solidFill>
          <a:ln w="12700">
            <a:solidFill>
              <a:schemeClr val="accent1"/>
            </a:solidFill>
            <a:prstDash val="solid"/>
          </a:ln>
        </p:spPr>
      </p:sp>
      <p:pic>
        <p:nvPicPr>
          <p:cNvPr id="11" name="icon-FaClipboardList" descr="preencoded.png">    </p:cNvPr>
          <p:cNvPicPr>
            <a:picLocks noChangeAspect="1"/>
          </p:cNvPicPr>
          <p:nvPr/>
        </p:nvPicPr>
        <p:blipFill>
          <a:blip r:embed="rId2"/>
          <a:stretch>
            <a:fillRect/>
          </a:stretch>
        </p:blipFill>
        <p:spPr>
          <a:xfrm>
            <a:off x="4651858" y="1886407"/>
            <a:ext cx="241402" cy="241402"/>
          </a:xfrm>
          <a:prstGeom prst="rect">
            <a:avLst/>
          </a:prstGeom>
        </p:spPr>
      </p:pic>
      <p:sp>
        <p:nvSpPr>
          <p:cNvPr id="12" name="Text 8"/>
          <p:cNvSpPr txBox="1"/>
          <p:nvPr/>
        </p:nvSpPr>
        <p:spPr>
          <a:xfrm>
            <a:off x="5161178" y="1755648"/>
            <a:ext cx="2600858" cy="502920"/>
          </a:xfrm>
          <a:prstGeom prst="rect">
            <a:avLst/>
          </a:prstGeom>
          <a:noFill/>
          <a:ln/>
        </p:spPr>
        <p:txBody>
          <a:bodyPr wrap="square" lIns="0" tIns="0" rIns="0" bIns="0" rtlCol="0" anchor="ctr"/>
          <a:lstStyle/>
          <a:p>
            <a:pPr indent="0" marL="0">
              <a:buNone/>
            </a:pPr>
            <a:r>
              <a:rPr lang="en-US" sz="1800" b="1" dirty="0">
                <a:solidFill>
                  <a:schemeClr val="tx2"/>
                </a:solidFill>
              </a:rPr>
              <a:t>Product</a:t>
            </a:r>
            <a:endParaRPr lang="en-US" sz="1800" dirty="0"/>
          </a:p>
        </p:txBody>
      </p:sp>
      <p:sp>
        <p:nvSpPr>
          <p:cNvPr id="13" name="Text 9"/>
          <p:cNvSpPr txBox="1"/>
          <p:nvPr/>
        </p:nvSpPr>
        <p:spPr>
          <a:xfrm>
            <a:off x="4521098" y="2468880"/>
            <a:ext cx="3149498" cy="3108960"/>
          </a:xfrm>
          <a:prstGeom prst="rect">
            <a:avLst/>
          </a:prstGeom>
          <a:noFill/>
          <a:ln/>
        </p:spPr>
        <p:txBody>
          <a:bodyPr wrap="square" lIns="0" tIns="0" rIns="0" bIns="0" rtlCol="0" anchor="t"/>
          <a:lstStyle/>
          <a:p>
            <a:pPr marL="165100" indent="-165100">
              <a:spcAft>
                <a:spcPts val="1400"/>
              </a:spcAft>
              <a:buSzPct val="100000"/>
              <a:buChar char="•"/>
            </a:pPr>
            <a:r>
              <a:rPr lang="en-US" sz="1500" dirty="0">
                <a:solidFill>
                  <a:schemeClr val="tx1"/>
                </a:solidFill>
              </a:rPr>
              <a:t>How often does each domain need to release?</a:t>
            </a:r>
            <a:endParaRPr lang="en-US" sz="1400" dirty="0"/>
          </a:p>
          <a:p>
            <a:pPr marL="165100" indent="-165100">
              <a:spcAft>
                <a:spcPts val="1400"/>
              </a:spcAft>
              <a:buSzPct val="100000"/>
              <a:buChar char="•"/>
            </a:pPr>
            <a:r>
              <a:rPr lang="en-US" sz="1500" dirty="0">
                <a:solidFill>
                  <a:schemeClr val="tx1"/>
                </a:solidFill>
              </a:rPr>
              <a:t>Is waiting for a shared release window acceptable?</a:t>
            </a:r>
            <a:endParaRPr lang="en-US" sz="1400" dirty="0"/>
          </a:p>
          <a:p>
            <a:pPr marL="165100" indent="-165100">
              <a:spcAft>
                <a:spcPts val="1400"/>
              </a:spcAft>
              <a:buSzPct val="100000"/>
              <a:buChar char="•"/>
            </a:pPr>
            <a:r>
              <a:rPr lang="en-US" sz="1500" dirty="0">
                <a:solidFill>
                  <a:schemeClr val="tx1"/>
                </a:solidFill>
              </a:rPr>
              <a:t>How important is one seamless app experience?</a:t>
            </a:r>
            <a:endParaRPr lang="en-US" sz="1400" dirty="0"/>
          </a:p>
          <a:p>
            <a:pPr marL="165100" indent="-165100">
              <a:spcAft>
                <a:spcPts val="1400"/>
              </a:spcAft>
              <a:buSzPct val="100000"/>
              <a:buChar char="•"/>
            </a:pPr>
            <a:r>
              <a:rPr lang="en-US" sz="1500" dirty="0">
                <a:solidFill>
                  <a:schemeClr val="tx1"/>
                </a:solidFill>
              </a:rPr>
              <a:t>Is account opening the right first slice?</a:t>
            </a:r>
            <a:endParaRPr lang="en-US" sz="1400" dirty="0"/>
          </a:p>
        </p:txBody>
      </p:sp>
      <p:sp>
        <p:nvSpPr>
          <p:cNvPr id="14" name="grp-2"/>
          <p:cNvSpPr/>
          <p:nvPr/>
        </p:nvSpPr>
        <p:spPr>
          <a:xfrm>
            <a:off x="8127797" y="1554480"/>
            <a:ext cx="3606698" cy="4160520"/>
          </a:xfrm>
          <a:prstGeom prst="roundRect">
            <a:avLst>
              <a:gd name="adj" fmla="val 2028"/>
            </a:avLst>
          </a:prstGeom>
          <a:solidFill>
            <a:schemeClr val="bg2"/>
          </a:solidFill>
          <a:ln w="9525">
            <a:solidFill>
              <a:schemeClr val="bg2"/>
            </a:solidFill>
            <a:prstDash val="solid"/>
          </a:ln>
        </p:spPr>
      </p:sp>
      <p:sp>
        <p:nvSpPr>
          <p:cNvPr id="15" name="icon-circle-FaBriefcase"/>
          <p:cNvSpPr/>
          <p:nvPr/>
        </p:nvSpPr>
        <p:spPr>
          <a:xfrm>
            <a:off x="8356397" y="1755648"/>
            <a:ext cx="502920" cy="502920"/>
          </a:xfrm>
          <a:prstGeom prst="ellipse">
            <a:avLst/>
          </a:prstGeom>
          <a:solidFill>
            <a:schemeClr val="accent1"/>
          </a:solidFill>
          <a:ln w="12700">
            <a:solidFill>
              <a:schemeClr val="accent1"/>
            </a:solidFill>
            <a:prstDash val="solid"/>
          </a:ln>
        </p:spPr>
      </p:sp>
      <p:pic>
        <p:nvPicPr>
          <p:cNvPr id="16" name="icon-FaBriefcase" descr="preencoded.png">    </p:cNvPr>
          <p:cNvPicPr>
            <a:picLocks noChangeAspect="1"/>
          </p:cNvPicPr>
          <p:nvPr/>
        </p:nvPicPr>
        <p:blipFill>
          <a:blip r:embed="rId3"/>
          <a:stretch>
            <a:fillRect/>
          </a:stretch>
        </p:blipFill>
        <p:spPr>
          <a:xfrm>
            <a:off x="8487156" y="1886407"/>
            <a:ext cx="241402" cy="241402"/>
          </a:xfrm>
          <a:prstGeom prst="rect">
            <a:avLst/>
          </a:prstGeom>
        </p:spPr>
      </p:pic>
      <p:sp>
        <p:nvSpPr>
          <p:cNvPr id="17" name="Text 12"/>
          <p:cNvSpPr txBox="1"/>
          <p:nvPr/>
        </p:nvSpPr>
        <p:spPr>
          <a:xfrm>
            <a:off x="8996477" y="1755648"/>
            <a:ext cx="2600858" cy="502920"/>
          </a:xfrm>
          <a:prstGeom prst="rect">
            <a:avLst/>
          </a:prstGeom>
          <a:noFill/>
          <a:ln/>
        </p:spPr>
        <p:txBody>
          <a:bodyPr wrap="square" lIns="0" tIns="0" rIns="0" bIns="0" rtlCol="0" anchor="ctr"/>
          <a:lstStyle/>
          <a:p>
            <a:pPr indent="0" marL="0">
              <a:buNone/>
            </a:pPr>
            <a:r>
              <a:rPr lang="en-US" sz="1800" b="1" dirty="0">
                <a:solidFill>
                  <a:schemeClr val="tx2"/>
                </a:solidFill>
              </a:rPr>
              <a:t>Management</a:t>
            </a:r>
            <a:endParaRPr lang="en-US" sz="1800" dirty="0"/>
          </a:p>
        </p:txBody>
      </p:sp>
      <p:sp>
        <p:nvSpPr>
          <p:cNvPr id="18" name="Text 13"/>
          <p:cNvSpPr txBox="1"/>
          <p:nvPr/>
        </p:nvSpPr>
        <p:spPr>
          <a:xfrm>
            <a:off x="8356397" y="2468880"/>
            <a:ext cx="3149498" cy="3108960"/>
          </a:xfrm>
          <a:prstGeom prst="rect">
            <a:avLst/>
          </a:prstGeom>
          <a:noFill/>
          <a:ln/>
        </p:spPr>
        <p:txBody>
          <a:bodyPr wrap="square" lIns="0" tIns="0" rIns="0" bIns="0" rtlCol="0" anchor="t"/>
          <a:lstStyle/>
          <a:p>
            <a:pPr marL="165100" indent="-165100">
              <a:spcAft>
                <a:spcPts val="1400"/>
              </a:spcAft>
              <a:buSzPct val="100000"/>
              <a:buChar char="•"/>
            </a:pPr>
            <a:r>
              <a:rPr lang="en-US" sz="1500" dirty="0">
                <a:solidFill>
                  <a:schemeClr val="tx1"/>
                </a:solidFill>
              </a:rPr>
              <a:t>Do teams take full ownership of their slice?</a:t>
            </a:r>
            <a:endParaRPr lang="en-US" sz="1400" dirty="0"/>
          </a:p>
          <a:p>
            <a:pPr marL="165100" indent="-165100">
              <a:spcAft>
                <a:spcPts val="1400"/>
              </a:spcAft>
              <a:buSzPct val="100000"/>
              <a:buChar char="•"/>
            </a:pPr>
            <a:r>
              <a:rPr lang="en-US" sz="1500" dirty="0">
                <a:solidFill>
                  <a:schemeClr val="tx1"/>
                </a:solidFill>
              </a:rPr>
              <a:t>Is there capacity for a small platform group?</a:t>
            </a:r>
            <a:endParaRPr lang="en-US" sz="1400" dirty="0"/>
          </a:p>
          <a:p>
            <a:pPr marL="165100" indent="-165100">
              <a:spcAft>
                <a:spcPts val="1400"/>
              </a:spcAft>
              <a:buSzPct val="100000"/>
              <a:buChar char="•"/>
            </a:pPr>
            <a:r>
              <a:rPr lang="en-US" sz="1500" dirty="0">
                <a:solidFill>
                  <a:schemeClr val="tx1"/>
                </a:solidFill>
              </a:rPr>
              <a:t>Can teams agree to upgrade Angular together?</a:t>
            </a:r>
            <a:endParaRPr lang="en-US" sz="1400" dirty="0"/>
          </a:p>
          <a:p>
            <a:pPr marL="165100" indent="-165100">
              <a:spcAft>
                <a:spcPts val="1400"/>
              </a:spcAft>
              <a:buSzPct val="100000"/>
              <a:buChar char="•"/>
            </a:pPr>
            <a:r>
              <a:rPr lang="en-US" sz="1500" dirty="0">
                <a:solidFill>
                  <a:schemeClr val="tx1"/>
                </a:solidFill>
              </a:rPr>
              <a:t>Approve the 4-week proof of concept?</a:t>
            </a:r>
            <a:endParaRPr lang="en-US" sz="1400" dirty="0"/>
          </a:p>
        </p:txBody>
      </p:sp>
      <p:sp>
        <p:nvSpPr>
          <p:cNvPr id="19" name="ask"/>
          <p:cNvSpPr/>
          <p:nvPr/>
        </p:nvSpPr>
        <p:spPr>
          <a:xfrm>
            <a:off x="457200" y="5897880"/>
            <a:ext cx="11277295" cy="548640"/>
          </a:xfrm>
          <a:prstGeom prst="roundRect">
            <a:avLst>
              <a:gd name="adj" fmla="val 13333"/>
            </a:avLst>
          </a:prstGeom>
          <a:solidFill>
            <a:schemeClr val="tx2"/>
          </a:solidFill>
          <a:ln w="9525">
            <a:solidFill>
              <a:schemeClr val="tx2"/>
            </a:solidFill>
            <a:prstDash val="solid"/>
          </a:ln>
        </p:spPr>
      </p:sp>
      <p:sp>
        <p:nvSpPr>
          <p:cNvPr id="20" name="Text 15"/>
          <p:cNvSpPr txBox="1"/>
          <p:nvPr/>
        </p:nvSpPr>
        <p:spPr>
          <a:xfrm>
            <a:off x="685800" y="5897880"/>
            <a:ext cx="10820095" cy="548640"/>
          </a:xfrm>
          <a:prstGeom prst="rect">
            <a:avLst/>
          </a:prstGeom>
          <a:noFill/>
          <a:ln/>
        </p:spPr>
        <p:txBody>
          <a:bodyPr wrap="square" lIns="0" tIns="0" rIns="0" bIns="0" rtlCol="0" anchor="ctr"/>
          <a:lstStyle/>
          <a:p>
            <a:pPr indent="0" marL="0">
              <a:buNone/>
            </a:pPr>
            <a:r>
              <a:rPr lang="en-US" sz="1500" b="1" dirty="0">
                <a:solidFill>
                  <a:schemeClr val="accent2"/>
                </a:solidFill>
              </a:rPr>
              <a:t>Ask:  </a:t>
            </a:r>
            <a:pPr indent="0" marL="0">
              <a:buNone/>
            </a:pPr>
            <a:r>
              <a:rPr lang="en-US" sz="1500" dirty="0">
                <a:solidFill>
                  <a:schemeClr val="bg1"/>
                </a:solidFill>
              </a:rPr>
              <a:t>approve a 4-week proof of concept that builds one slice and ships it both ways.</a:t>
            </a:r>
            <a:endParaRPr lang="en-US" sz="1500" dirty="0"/>
          </a:p>
        </p:txBody>
      </p:sp>
      <p:sp>
        <p:nvSpPr>
          <p:cNvPr id="25" name="Slide Number Placeholder 0"/>
          <p:cNvSpPr>
            <a:spLocks noGrp="1"/>
          </p:cNvSpPr>
          <p:nvPr>
            <p:ph type="sldNum" sz="quarter" idx="4294967295"/>
          </p:nvPr>
        </p:nvSpPr>
        <p:spPr>
          <a:xfrm>
            <a:off x="11368735" y="647395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orest">
  <a:themeElements>
    <a:clrScheme name="Forest">
      <a:dk1>
        <a:srgbClr val="1C2B1E"/>
      </a:dk1>
      <a:lt1>
        <a:srgbClr val="FFFFFF"/>
      </a:lt1>
      <a:dk2>
        <a:srgbClr val="0E3B16"/>
      </a:dk2>
      <a:lt2>
        <a:srgbClr val="EDF5EA"/>
      </a:lt2>
      <a:accent1>
        <a:srgbClr val="368727"/>
      </a:accent1>
      <a:accent2>
        <a:srgbClr val="7AB800"/>
      </a:accent2>
      <a:accent3>
        <a:srgbClr val="1F5C26"/>
      </a:accent3>
      <a:accent4>
        <a:srgbClr val="D98E04"/>
      </a:accent4>
      <a:accent5>
        <a:srgbClr val="5B6770"/>
      </a:accent5>
      <a:accent6>
        <a:srgbClr val="CFE6C6"/>
      </a:accent6>
      <a:hlink>
        <a:srgbClr val="368727"/>
      </a:hlink>
      <a:folHlink>
        <a:srgbClr val="1F5C26"/>
      </a:folHlink>
    </a:clrScheme>
    <a:fontScheme name="For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Decoupling the app by domain: libraries or micro frontends</dc:title>
  <dc:subject>PptxGenJS Presentation</dc:subject>
  <dc:creator>Siva</dc:creator>
  <cp:lastModifiedBy>Siva</cp:lastModifiedBy>
  <cp:revision>1</cp:revision>
  <dcterms:created xsi:type="dcterms:W3CDTF">2026-10-06T12:14:41Z</dcterms:created>
  <dcterms:modified xsi:type="dcterms:W3CDTF">2026-10-06T12:14:41Z</dcterms:modified>
</cp:coreProperties>
</file>