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we modernize the application one page at a time. We analyze the legacy JSP page and its backend logic in the Spring Boot monolith, rebuild it as an Angular component with the logic behind a REST API, and put each page behind its own feature flag so users can be switched over and the legacy page retired. About 45% is done. The rest is a long list, and the app carries 42k+ Sonar issues.
NEXT: three tracks, each closing a gap in how we work today.
1. Prioritize by usage: today the order isn't driven by data. Datadog shows which legacy screens users use most; we rank by usage, impact and effort, and review low-use screens for retirement.
2. AI modernization loop: today each page is done by hand. A repeatable AI loop drafts the spec and generates the component, API and tests; developers review, and the flag stays off until the new page matches legacy.
3. Sonar debt: classify the 42k issues, fix security first, bulk-fix repeat patterns, skip screens we're about to rewrite, and gate new code.
Asks: Datadog tracking, AI tooling approval, team capacity, and Product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Application modernization: how we work today, and what changes next</a:t>
            </a:r>
            <a:endParaRPr lang="en-US" sz="2800" dirty="0"/>
          </a:p>
        </p:txBody>
      </p:sp>
      <p:sp>
        <p:nvSpPr>
          <p:cNvPr id="3" name="pill-TODAY"/>
          <p:cNvSpPr/>
          <p:nvPr/>
        </p:nvSpPr>
        <p:spPr>
          <a:xfrm>
            <a:off x="457200" y="914400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Lift and shift, page by page, behind feature flags</a:t>
            </a:r>
            <a:endParaRPr lang="en-US" sz="1500" dirty="0"/>
          </a:p>
        </p:txBody>
      </p:sp>
      <p:sp>
        <p:nvSpPr>
          <p:cNvPr id="6" name="today-flow"/>
          <p:cNvSpPr/>
          <p:nvPr/>
        </p:nvSpPr>
        <p:spPr>
          <a:xfrm>
            <a:off x="457200" y="1280160"/>
            <a:ext cx="8641080" cy="1261872"/>
          </a:xfrm>
          <a:prstGeom prst="roundRect">
            <a:avLst>
              <a:gd name="adj" fmla="val 57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-circle-FaFileCode"/>
          <p:cNvSpPr/>
          <p:nvPr/>
        </p:nvSpPr>
        <p:spPr>
          <a:xfrm>
            <a:off x="1092708" y="1399032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con-FaFile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" y="1517904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94360" y="192024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Legacy JSP page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762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Spring Boot monolith</a:t>
            </a:r>
            <a:endParaRPr lang="en-US" sz="1100" dirty="0"/>
          </a:p>
        </p:txBody>
      </p:sp>
      <p:sp>
        <p:nvSpPr>
          <p:cNvPr id="11" name="flow-arrow-0"/>
          <p:cNvSpPr/>
          <p:nvPr/>
        </p:nvSpPr>
        <p:spPr>
          <a:xfrm>
            <a:off x="2084832" y="1545336"/>
            <a:ext cx="20116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icon-circle-FaSearch"/>
          <p:cNvSpPr/>
          <p:nvPr/>
        </p:nvSpPr>
        <p:spPr>
          <a:xfrm>
            <a:off x="2820924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-FaSearc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796" y="151790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322576" y="192024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Analyze the code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322576" y="21762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page and backend logic</a:t>
            </a:r>
            <a:endParaRPr lang="en-US" sz="1100" dirty="0"/>
          </a:p>
        </p:txBody>
      </p:sp>
      <p:sp>
        <p:nvSpPr>
          <p:cNvPr id="16" name="flow-arrow-1"/>
          <p:cNvSpPr/>
          <p:nvPr/>
        </p:nvSpPr>
        <p:spPr>
          <a:xfrm>
            <a:off x="3813048" y="1545336"/>
            <a:ext cx="20116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icon-circle-FaCode"/>
          <p:cNvSpPr/>
          <p:nvPr/>
        </p:nvSpPr>
        <p:spPr>
          <a:xfrm>
            <a:off x="4549140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on-FaCo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012" y="151790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50792" y="192024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Rebuild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4050792" y="21762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Angular UI + REST API</a:t>
            </a:r>
            <a:endParaRPr lang="en-US" sz="1100" dirty="0"/>
          </a:p>
        </p:txBody>
      </p:sp>
      <p:sp>
        <p:nvSpPr>
          <p:cNvPr id="21" name="flow-arrow-2"/>
          <p:cNvSpPr/>
          <p:nvPr/>
        </p:nvSpPr>
        <p:spPr>
          <a:xfrm>
            <a:off x="5541264" y="1545336"/>
            <a:ext cx="20116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icon-circle-FaToggleOn"/>
          <p:cNvSpPr/>
          <p:nvPr/>
        </p:nvSpPr>
        <p:spPr>
          <a:xfrm>
            <a:off x="6277356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-FaToggle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228" y="151790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79008" y="192024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Feature flag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779008" y="21762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one per page</a:t>
            </a:r>
            <a:endParaRPr lang="en-US" sz="1100" dirty="0"/>
          </a:p>
        </p:txBody>
      </p:sp>
      <p:sp>
        <p:nvSpPr>
          <p:cNvPr id="26" name="flow-arrow-3"/>
          <p:cNvSpPr/>
          <p:nvPr/>
        </p:nvSpPr>
        <p:spPr>
          <a:xfrm>
            <a:off x="7269480" y="1545336"/>
            <a:ext cx="201168" cy="18288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icon-circle-FaUserCheck"/>
          <p:cNvSpPr/>
          <p:nvPr/>
        </p:nvSpPr>
        <p:spPr>
          <a:xfrm>
            <a:off x="800557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con-FaUser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444" y="151790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507224" y="1920240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Switch users over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7507224" y="217627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legacy page retired</a:t>
            </a:r>
            <a:endParaRPr lang="en-US" sz="1100" dirty="0"/>
          </a:p>
        </p:txBody>
      </p:sp>
      <p:sp>
        <p:nvSpPr>
          <p:cNvPr id="31" name="status"/>
          <p:cNvSpPr/>
          <p:nvPr/>
        </p:nvSpPr>
        <p:spPr>
          <a:xfrm>
            <a:off x="9326880" y="1280160"/>
            <a:ext cx="2407615" cy="1261872"/>
          </a:xfrm>
          <a:prstGeom prst="roundRect">
            <a:avLst>
              <a:gd name="adj" fmla="val 57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9528048" y="1399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45%</a:t>
            </a:r>
            <a:endParaRPr lang="en-US" sz="2600" dirty="0"/>
          </a:p>
        </p:txBody>
      </p:sp>
      <p:sp>
        <p:nvSpPr>
          <p:cNvPr id="33" name="Text 26"/>
          <p:cNvSpPr txBox="1"/>
          <p:nvPr/>
        </p:nvSpPr>
        <p:spPr>
          <a:xfrm>
            <a:off x="10497312" y="1399032"/>
            <a:ext cx="1127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of features on Angular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528048" y="194767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42k+</a:t>
            </a:r>
            <a:endParaRPr lang="en-US" sz="2600" dirty="0"/>
          </a:p>
        </p:txBody>
      </p:sp>
      <p:sp>
        <p:nvSpPr>
          <p:cNvPr id="35" name="Text 28"/>
          <p:cNvSpPr txBox="1"/>
          <p:nvPr/>
        </p:nvSpPr>
        <p:spPr>
          <a:xfrm>
            <a:off x="10497312" y="1947672"/>
            <a:ext cx="1127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open Sonar issues</a:t>
            </a:r>
            <a:endParaRPr lang="en-US" sz="1200" dirty="0"/>
          </a:p>
        </p:txBody>
      </p:sp>
      <p:sp>
        <p:nvSpPr>
          <p:cNvPr id="36" name="pill-NEXT"/>
          <p:cNvSpPr/>
          <p:nvPr/>
        </p:nvSpPr>
        <p:spPr>
          <a:xfrm>
            <a:off x="457200" y="2724912"/>
            <a:ext cx="7772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457200" y="27249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NEXT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1371600" y="272491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Three tracks to finish faster and cleaner, each closing a gap in today's approach</a:t>
            </a:r>
            <a:endParaRPr lang="en-US" sz="1500" dirty="0"/>
          </a:p>
        </p:txBody>
      </p:sp>
      <p:sp>
        <p:nvSpPr>
          <p:cNvPr id="39" name="track-0"/>
          <p:cNvSpPr/>
          <p:nvPr/>
        </p:nvSpPr>
        <p:spPr>
          <a:xfrm>
            <a:off x="457200" y="3090672"/>
            <a:ext cx="360669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icon-circle-FaChartBar"/>
          <p:cNvSpPr/>
          <p:nvPr/>
        </p:nvSpPr>
        <p:spPr>
          <a:xfrm>
            <a:off x="640080" y="3246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icon-FaChartBar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97" y="3360237"/>
            <a:ext cx="210678" cy="21067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188720" y="3246120"/>
            <a:ext cx="27380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Prioritize by usage</a:t>
            </a:r>
            <a:endParaRPr lang="en-US" sz="1700" dirty="0"/>
          </a:p>
        </p:txBody>
      </p:sp>
      <p:sp>
        <p:nvSpPr>
          <p:cNvPr id="43" name="Text 35"/>
          <p:cNvSpPr txBox="1"/>
          <p:nvPr/>
        </p:nvSpPr>
        <p:spPr>
          <a:xfrm>
            <a:off x="640080" y="377647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Gap today: </a:t>
            </a:r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Order isn't driven by usage data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640080" y="411480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Datadog shows which legacy screens users use most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Rank by usage, business impact, and effort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Review low-use screens for retirement</a:t>
            </a:r>
            <a:endParaRPr lang="en-US" sz="1300" dirty="0"/>
          </a:p>
        </p:txBody>
      </p:sp>
      <p:sp>
        <p:nvSpPr>
          <p:cNvPr id="45" name="outcome-0"/>
          <p:cNvSpPr/>
          <p:nvPr/>
        </p:nvSpPr>
        <p:spPr>
          <a:xfrm>
            <a:off x="566928" y="5056632"/>
            <a:ext cx="3387242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685800" y="505663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ranked backlog Product agrees to</a:t>
            </a:r>
            <a:endParaRPr lang="en-US" sz="1200" dirty="0"/>
          </a:p>
        </p:txBody>
      </p:sp>
      <p:sp>
        <p:nvSpPr>
          <p:cNvPr id="47" name="track-1"/>
          <p:cNvSpPr/>
          <p:nvPr/>
        </p:nvSpPr>
        <p:spPr>
          <a:xfrm>
            <a:off x="4292498" y="3090672"/>
            <a:ext cx="360669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icon-circle-FaSyncAlt"/>
          <p:cNvSpPr/>
          <p:nvPr/>
        </p:nvSpPr>
        <p:spPr>
          <a:xfrm>
            <a:off x="4475378" y="3246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9" name="icon-FaSyncAl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9496" y="3360237"/>
            <a:ext cx="210678" cy="210678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5024018" y="3246120"/>
            <a:ext cx="27380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AI modernization loop</a:t>
            </a:r>
            <a:endParaRPr lang="en-US" sz="1700" dirty="0"/>
          </a:p>
        </p:txBody>
      </p:sp>
      <p:sp>
        <p:nvSpPr>
          <p:cNvPr id="51" name="Text 42"/>
          <p:cNvSpPr txBox="1"/>
          <p:nvPr/>
        </p:nvSpPr>
        <p:spPr>
          <a:xfrm>
            <a:off x="4475378" y="377647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Gap today: </a:t>
            </a:r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Every page is rebuilt by hand</a:t>
            </a:r>
            <a:endParaRPr lang="en-US" sz="1200" dirty="0"/>
          </a:p>
        </p:txBody>
      </p:sp>
      <p:sp>
        <p:nvSpPr>
          <p:cNvPr id="52" name="Text 43"/>
          <p:cNvSpPr txBox="1"/>
          <p:nvPr/>
        </p:nvSpPr>
        <p:spPr>
          <a:xfrm>
            <a:off x="4475378" y="411480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AI reads the JSP and backend logic, drafts the spec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Generates the Angular component, API, and tests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Developers review; flag stays off until parity</a:t>
            </a:r>
            <a:endParaRPr lang="en-US" sz="1300" dirty="0"/>
          </a:p>
        </p:txBody>
      </p:sp>
      <p:sp>
        <p:nvSpPr>
          <p:cNvPr id="53" name="outcome-1"/>
          <p:cNvSpPr/>
          <p:nvPr/>
        </p:nvSpPr>
        <p:spPr>
          <a:xfrm>
            <a:off x="4402226" y="5056632"/>
            <a:ext cx="3387242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4521098" y="505663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More screens per sprint</a:t>
            </a:r>
            <a:endParaRPr lang="en-US" sz="1200" dirty="0"/>
          </a:p>
        </p:txBody>
      </p:sp>
      <p:sp>
        <p:nvSpPr>
          <p:cNvPr id="55" name="track-2"/>
          <p:cNvSpPr/>
          <p:nvPr/>
        </p:nvSpPr>
        <p:spPr>
          <a:xfrm>
            <a:off x="8127797" y="3090672"/>
            <a:ext cx="3606698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6" name="icon-circle-FaShieldAlt"/>
          <p:cNvSpPr/>
          <p:nvPr/>
        </p:nvSpPr>
        <p:spPr>
          <a:xfrm>
            <a:off x="8310677" y="3246120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7" name="icon-FaShieldAl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4794" y="3360237"/>
            <a:ext cx="210678" cy="210678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859317" y="3246120"/>
            <a:ext cx="27380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Pay down Sonar debt</a:t>
            </a:r>
            <a:endParaRPr lang="en-US" sz="1700" dirty="0"/>
          </a:p>
        </p:txBody>
      </p:sp>
      <p:sp>
        <p:nvSpPr>
          <p:cNvPr id="59" name="Text 49"/>
          <p:cNvSpPr txBox="1"/>
          <p:nvPr/>
        </p:nvSpPr>
        <p:spPr>
          <a:xfrm>
            <a:off x="8310677" y="3776472"/>
            <a:ext cx="32409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Gap today: </a:t>
            </a:r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42k+ issues slow builds and add risk</a:t>
            </a:r>
            <a:endParaRPr lang="en-US" sz="1200" dirty="0"/>
          </a:p>
        </p:txBody>
      </p:sp>
      <p:sp>
        <p:nvSpPr>
          <p:cNvPr id="60" name="Text 50"/>
          <p:cNvSpPr txBox="1"/>
          <p:nvPr/>
        </p:nvSpPr>
        <p:spPr>
          <a:xfrm>
            <a:off x="8310677" y="4114800"/>
            <a:ext cx="32409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Classify by severity, type, and module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Security first; repeat patterns fixed in bulk</a:t>
            </a:r>
            <a:endParaRPr lang="en-US" sz="13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Skip screens due for rewrite; gate new code</a:t>
            </a:r>
            <a:endParaRPr lang="en-US" sz="1300" dirty="0"/>
          </a:p>
        </p:txBody>
      </p:sp>
      <p:sp>
        <p:nvSpPr>
          <p:cNvPr id="61" name="outcome-2"/>
          <p:cNvSpPr/>
          <p:nvPr/>
        </p:nvSpPr>
        <p:spPr>
          <a:xfrm>
            <a:off x="8237525" y="5056632"/>
            <a:ext cx="3387242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Text 52"/>
          <p:cNvSpPr txBox="1"/>
          <p:nvPr/>
        </p:nvSpPr>
        <p:spPr>
          <a:xfrm>
            <a:off x="8356397" y="5056632"/>
            <a:ext cx="31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Outcome: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Issue count falls every sprint</a:t>
            </a:r>
            <a:endParaRPr lang="en-US" sz="1200" dirty="0"/>
          </a:p>
        </p:txBody>
      </p:sp>
      <p:sp>
        <p:nvSpPr>
          <p:cNvPr id="63" name="measures"/>
          <p:cNvSpPr/>
          <p:nvPr/>
        </p:nvSpPr>
        <p:spPr>
          <a:xfrm>
            <a:off x="457200" y="5696712"/>
            <a:ext cx="6583680" cy="749808"/>
          </a:xfrm>
          <a:prstGeom prst="roundRect">
            <a:avLst>
              <a:gd name="adj" fmla="val 97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Text 54"/>
          <p:cNvSpPr txBox="1"/>
          <p:nvPr/>
        </p:nvSpPr>
        <p:spPr>
          <a:xfrm>
            <a:off x="658368" y="578815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How we report progress</a:t>
            </a:r>
            <a:endParaRPr lang="en-US" sz="1300" dirty="0"/>
          </a:p>
        </p:txBody>
      </p:sp>
      <p:sp>
        <p:nvSpPr>
          <p:cNvPr id="65" name="m-dot-0"/>
          <p:cNvSpPr/>
          <p:nvPr/>
        </p:nvSpPr>
        <p:spPr>
          <a:xfrm>
            <a:off x="658368" y="610819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6" name="Text 56"/>
          <p:cNvSpPr txBox="1"/>
          <p:nvPr/>
        </p:nvSpPr>
        <p:spPr>
          <a:xfrm>
            <a:off x="822960" y="606247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Share of user traffic on Angular screens</a:t>
            </a:r>
            <a:endParaRPr lang="en-US" sz="1100" dirty="0"/>
          </a:p>
        </p:txBody>
      </p:sp>
      <p:sp>
        <p:nvSpPr>
          <p:cNvPr id="67" name="m-dot-1"/>
          <p:cNvSpPr/>
          <p:nvPr/>
        </p:nvSpPr>
        <p:spPr>
          <a:xfrm>
            <a:off x="3749040" y="6108192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3913632" y="6062472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Legacy screens retired</a:t>
            </a:r>
            <a:endParaRPr lang="en-US" sz="1100" dirty="0"/>
          </a:p>
        </p:txBody>
      </p:sp>
      <p:sp>
        <p:nvSpPr>
          <p:cNvPr id="69" name="m-dot-2"/>
          <p:cNvSpPr/>
          <p:nvPr/>
        </p:nvSpPr>
        <p:spPr>
          <a:xfrm>
            <a:off x="658368" y="630936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0" name="Text 60"/>
          <p:cNvSpPr txBox="1"/>
          <p:nvPr/>
        </p:nvSpPr>
        <p:spPr>
          <a:xfrm>
            <a:off x="822960" y="626364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 Sonar issues, security first</a:t>
            </a:r>
            <a:endParaRPr lang="en-US" sz="1100" dirty="0"/>
          </a:p>
        </p:txBody>
      </p:sp>
      <p:sp>
        <p:nvSpPr>
          <p:cNvPr id="71" name="m-dot-3"/>
          <p:cNvSpPr/>
          <p:nvPr/>
        </p:nvSpPr>
        <p:spPr>
          <a:xfrm>
            <a:off x="3749040" y="630936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2" name="Text 62"/>
          <p:cNvSpPr txBox="1"/>
          <p:nvPr/>
        </p:nvSpPr>
        <p:spPr>
          <a:xfrm>
            <a:off x="3913632" y="6263640"/>
            <a:ext cx="2907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Time to modernize one screen</a:t>
            </a:r>
            <a:endParaRPr lang="en-US" sz="1100" dirty="0"/>
          </a:p>
        </p:txBody>
      </p:sp>
      <p:sp>
        <p:nvSpPr>
          <p:cNvPr id="73" name="asks"/>
          <p:cNvSpPr/>
          <p:nvPr/>
        </p:nvSpPr>
        <p:spPr>
          <a:xfrm>
            <a:off x="7269480" y="5696712"/>
            <a:ext cx="4465015" cy="749808"/>
          </a:xfrm>
          <a:prstGeom prst="roundRect">
            <a:avLst>
              <a:gd name="adj" fmla="val 97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4" name="Text 64"/>
          <p:cNvSpPr txBox="1"/>
          <p:nvPr/>
        </p:nvSpPr>
        <p:spPr>
          <a:xfrm>
            <a:off x="7470648" y="5788152"/>
            <a:ext cx="4099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Asks</a:t>
            </a:r>
            <a:endParaRPr lang="en-US" sz="1300" dirty="0"/>
          </a:p>
        </p:txBody>
      </p:sp>
      <p:sp>
        <p:nvSpPr>
          <p:cNvPr id="75" name="Text 65"/>
          <p:cNvSpPr txBox="1"/>
          <p:nvPr/>
        </p:nvSpPr>
        <p:spPr>
          <a:xfrm>
            <a:off x="7470648" y="6025896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Datadog screen-level tracking  |  AI tooling approval  |  Team capacity for Sonar  |  Product sign-off on priorities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delity Green">
  <a:themeElements>
    <a:clrScheme name="Fidelity Green">
      <a:dk1>
        <a:srgbClr val="1C2B1E"/>
      </a:dk1>
      <a:lt1>
        <a:srgbClr val="FFFFFF"/>
      </a:lt1>
      <a:dk2>
        <a:srgbClr val="0E3B16"/>
      </a:dk2>
      <a:lt2>
        <a:srgbClr val="EDF5EA"/>
      </a:lt2>
      <a:accent1>
        <a:srgbClr val="368727"/>
      </a:accent1>
      <a:accent2>
        <a:srgbClr val="7AB800"/>
      </a:accent2>
      <a:accent3>
        <a:srgbClr val="1F5C26"/>
      </a:accent3>
      <a:accent4>
        <a:srgbClr val="D98E04"/>
      </a:accent4>
      <a:accent5>
        <a:srgbClr val="5B6770"/>
      </a:accent5>
      <a:accent6>
        <a:srgbClr val="CFE6C6"/>
      </a:accent6>
      <a:hlink>
        <a:srgbClr val="368727"/>
      </a:hlink>
      <a:folHlink>
        <a:srgbClr val="1F5C26"/>
      </a:folHlink>
    </a:clrScheme>
    <a:fontScheme name="Fidelity Gree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Fidelity Charitable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modernization: today and next</dc:title>
  <dc:subject>PptxGenJS Presentation</dc:subject>
  <dc:creator>Siva</dc:creator>
  <cp:lastModifiedBy>Siva</cp:lastModifiedBy>
  <cp:revision>1</cp:revision>
  <dcterms:created xsi:type="dcterms:W3CDTF">2026-10-05T00:47:28Z</dcterms:created>
  <dcterms:modified xsi:type="dcterms:W3CDTF">2026-10-05T00:47:28Z</dcterms:modified>
</cp:coreProperties>
</file>